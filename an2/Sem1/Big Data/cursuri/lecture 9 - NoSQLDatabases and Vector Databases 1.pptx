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4"/>
  </p:sldMasterIdLst>
  <p:notesMasterIdLst>
    <p:notesMasterId r:id="rId55"/>
  </p:notesMasterIdLst>
  <p:handoutMasterIdLst>
    <p:handoutMasterId r:id="rId56"/>
  </p:handoutMasterIdLst>
  <p:sldIdLst>
    <p:sldId id="265" r:id="rId5"/>
    <p:sldId id="266" r:id="rId6"/>
    <p:sldId id="267" r:id="rId7"/>
    <p:sldId id="268" r:id="rId8"/>
    <p:sldId id="305" r:id="rId9"/>
    <p:sldId id="269" r:id="rId10"/>
    <p:sldId id="270" r:id="rId11"/>
    <p:sldId id="271" r:id="rId12"/>
    <p:sldId id="272" r:id="rId13"/>
    <p:sldId id="273" r:id="rId14"/>
    <p:sldId id="274" r:id="rId15"/>
    <p:sldId id="275" r:id="rId16"/>
    <p:sldId id="303" r:id="rId17"/>
    <p:sldId id="276" r:id="rId18"/>
    <p:sldId id="304"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2" r:id="rId42"/>
    <p:sldId id="307" r:id="rId43"/>
    <p:sldId id="308" r:id="rId44"/>
    <p:sldId id="309" r:id="rId45"/>
    <p:sldId id="310" r:id="rId46"/>
    <p:sldId id="321" r:id="rId47"/>
    <p:sldId id="322" r:id="rId48"/>
    <p:sldId id="323" r:id="rId49"/>
    <p:sldId id="324" r:id="rId50"/>
    <p:sldId id="325" r:id="rId51"/>
    <p:sldId id="300" r:id="rId52"/>
    <p:sldId id="301" r:id="rId53"/>
    <p:sldId id="306"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83" d="100"/>
          <a:sy n="83" d="100"/>
        </p:scale>
        <p:origin x="686" y="7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6" d="100"/>
          <a:sy n="76" d="100"/>
        </p:scale>
        <p:origin x="24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58A34-83F4-4B2E-BC5A-DE51EE8822F9}" type="datetimeFigureOut">
              <a:rPr lang="en-US" smtClean="0"/>
              <a:t>11/28/2025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8FE58C-C1A6-4C4C-90C2-B7F5B0504B2D}" type="slidenum">
              <a:rPr lang="en-US" smtClean="0"/>
              <a:t>‹#›</a:t>
            </a:fld>
            <a:endParaRPr lang="en-US"/>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E1917-0BAF-4687-978A-82FFF05559C3}"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E1E9A-E921-4174-A0FC-51868D7AC568}" type="slidenum">
              <a:rPr lang="en-US" smtClean="0"/>
              <a:t>‹#›</a:t>
            </a:fld>
            <a:endParaRPr lang="en-US"/>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4EAB7D7-3608-4730-B2E2-670834DF882C}" type="datetimeFigureOut">
              <a:rPr lang="en-US" smtClean="0"/>
              <a:t>11/27/2025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r>
              <a:rPr lang="en-US"/>
              <a:t>Add a footer</a:t>
            </a:r>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1B7BAC7-FE87-40F6-AA24-4F4685D1B022}"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a:p>
        </p:txBody>
      </p:sp>
    </p:spTree>
    <p:extLst>
      <p:ext uri="{BB962C8B-B14F-4D97-AF65-F5344CB8AC3E}">
        <p14:creationId xmlns:p14="http://schemas.microsoft.com/office/powerpoint/2010/main" val="6216011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11/27/2025</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92287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EAB7D7-3608-4730-B2E2-670834DF882C}" type="datetimeFigureOut">
              <a:rPr lang="en-US" smtClean="0"/>
              <a:t>11/27/2025</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54214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EAB7D7-3608-4730-B2E2-670834DF882C}" type="datetimeFigureOut">
              <a:rPr lang="en-US" smtClean="0"/>
              <a:t>11/27/2025</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64058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EAB7D7-3608-4730-B2E2-670834DF882C}" type="datetimeFigureOut">
              <a:rPr lang="en-US" smtClean="0"/>
              <a:t>11/27/2025</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009078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EAB7D7-3608-4730-B2E2-670834DF882C}" type="datetimeFigureOut">
              <a:rPr lang="en-US" smtClean="0"/>
              <a:t>11/27/2025</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90063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AB7D7-3608-4730-B2E2-670834DF882C}" type="datetimeFigureOut">
              <a:rPr lang="en-US" smtClean="0"/>
              <a:t>11/27/2025</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12303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11/27/2025</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248490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11/27/2025</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48480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11/27/2025</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550364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11/27/2025</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14540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11/27/2025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41388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4EAB7D7-3608-4730-B2E2-670834DF882C}" type="datetimeFigureOut">
              <a:rPr lang="en-US" smtClean="0"/>
              <a:pPr/>
              <a:t>11/27/2025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1B7BAC7-FE87-40F6-AA24-4F4685D1B022}" type="slidenum">
              <a:rPr lang="en-US" smtClean="0"/>
              <a:pPr/>
              <a:t>‹#›</a:t>
            </a:fld>
            <a:endParaRPr lang="en-US"/>
          </a:p>
        </p:txBody>
      </p:sp>
    </p:spTree>
    <p:extLst>
      <p:ext uri="{BB962C8B-B14F-4D97-AF65-F5344CB8AC3E}">
        <p14:creationId xmlns:p14="http://schemas.microsoft.com/office/powerpoint/2010/main" val="35404351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464" userDrawn="1">
          <p15:clr>
            <a:srgbClr val="F26B43"/>
          </p15:clr>
        </p15:guide>
        <p15:guide id="4" pos="7152" userDrawn="1">
          <p15:clr>
            <a:srgbClr val="F26B43"/>
          </p15:clr>
        </p15:guide>
        <p15:guide id="5" pos="984" userDrawn="1">
          <p15:clr>
            <a:srgbClr val="F26B43"/>
          </p15:clr>
        </p15:guide>
        <p15:guide id="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ongodb.com/" TargetMode="External"/><Relationship Id="rId2" Type="http://schemas.openxmlformats.org/officeDocument/2006/relationships/hyperlink" Target="https://www.mongodb.com/try/download/communit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s://www.mongodb.com/cloud/atlas" TargetMode="External"/><Relationship Id="rId3" Type="http://schemas.openxmlformats.org/officeDocument/2006/relationships/hyperlink" Target="https://www.json.org/" TargetMode="External"/><Relationship Id="rId7" Type="http://schemas.openxmlformats.org/officeDocument/2006/relationships/hyperlink" Target="https://www.upwork.com/hiring/data/sql-vs-nosql-databases-whats-the-difference/" TargetMode="External"/><Relationship Id="rId2" Type="http://schemas.openxmlformats.org/officeDocument/2006/relationships/hyperlink" Target="http://www.mongodb.com/" TargetMode="External"/><Relationship Id="rId1" Type="http://schemas.openxmlformats.org/officeDocument/2006/relationships/slideLayout" Target="../slideLayouts/slideLayout2.xml"/><Relationship Id="rId6" Type="http://schemas.openxmlformats.org/officeDocument/2006/relationships/hyperlink" Target="https://www.mongodb.com/mongodb-architecture" TargetMode="External"/><Relationship Id="rId5" Type="http://schemas.openxmlformats.org/officeDocument/2006/relationships/hyperlink" Target="https://docs.mongodb.com/manual/tutorial/model-referenced-one-to-many-relationships-between-documents/" TargetMode="External"/><Relationship Id="rId4" Type="http://schemas.openxmlformats.org/officeDocument/2006/relationships/hyperlink" Target="https://docs.mongodb.com/manual/tutorial/model-embedded-one-to-many-relationships-between-documents/"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www.dailydoseofds.com/a-crash-course-on-building-rag-systems-part-2-with-implementations/" TargetMode="External"/><Relationship Id="rId3" Type="http://schemas.openxmlformats.org/officeDocument/2006/relationships/hyperlink" Target="https://www.mongodb.com/json-and-bson" TargetMode="External"/><Relationship Id="rId7" Type="http://schemas.openxmlformats.org/officeDocument/2006/relationships/hyperlink" Target="https://www.mongodb.com/docs/manual/core/security-oidc/" TargetMode="External"/><Relationship Id="rId2" Type="http://schemas.openxmlformats.org/officeDocument/2006/relationships/hyperlink" Target="https://docs.mongodb.com/manual/core/authentication/" TargetMode="External"/><Relationship Id="rId1" Type="http://schemas.openxmlformats.org/officeDocument/2006/relationships/slideLayout" Target="../slideLayouts/slideLayout2.xml"/><Relationship Id="rId6" Type="http://schemas.openxmlformats.org/officeDocument/2006/relationships/hyperlink" Target="https://www.mongodb.com/pricing" TargetMode="External"/><Relationship Id="rId5" Type="http://schemas.openxmlformats.org/officeDocument/2006/relationships/hyperlink" Target="https://www.mongodb.com/nosql-explained/examples" TargetMode="External"/><Relationship Id="rId4" Type="http://schemas.openxmlformats.org/officeDocument/2006/relationships/hyperlink" Target="https://docs.mongodb.com/mongodb-shell/"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www.mongodb.com/docs/atlas/atlas-vector-search/tutorials/vector-search-quick-start/#std-label-vector-search-quickstart-sample-data" TargetMode="External"/><Relationship Id="rId2" Type="http://schemas.openxmlformats.org/officeDocument/2006/relationships/hyperlink" Target="https://www.mongodb.com/resources/solutions/use-cases/webinar-comparing-postgre-sql-vs-mongodb-which-is-better-for-ai-workloads" TargetMode="External"/><Relationship Id="rId1" Type="http://schemas.openxmlformats.org/officeDocument/2006/relationships/slideLayout" Target="../slideLayouts/slideLayout2.xml"/><Relationship Id="rId5" Type="http://schemas.openxmlformats.org/officeDocument/2006/relationships/hyperlink" Target="https://www.mongodb.com/docs/atlas/atlas-vector-search/create-embeddings/?tck=mongodb_ai_chatbot" TargetMode="External"/><Relationship Id="rId4" Type="http://schemas.openxmlformats.org/officeDocument/2006/relationships/hyperlink" Target="https://www.mongodb.com/docs/atlas/atlas-vector-search/vector-search-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NoSQL Databases and Vector Search</a:t>
            </a:r>
          </a:p>
        </p:txBody>
      </p:sp>
      <p:sp>
        <p:nvSpPr>
          <p:cNvPr id="3" name="Subtitle 2"/>
          <p:cNvSpPr>
            <a:spLocks noGrp="1"/>
          </p:cNvSpPr>
          <p:nvPr>
            <p:ph type="subTitle" idx="1"/>
          </p:nvPr>
        </p:nvSpPr>
        <p:spPr/>
        <p:txBody>
          <a:bodyPr/>
          <a:lstStyle/>
          <a:p>
            <a:r>
              <a:rPr lang="en-US" dirty="0"/>
              <a:t>Course 9</a:t>
            </a:r>
          </a:p>
        </p:txBody>
      </p:sp>
    </p:spTree>
    <p:extLst>
      <p:ext uri="{BB962C8B-B14F-4D97-AF65-F5344CB8AC3E}">
        <p14:creationId xmlns:p14="http://schemas.microsoft.com/office/powerpoint/2010/main" val="92307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1D4D-77CF-45E6-8B19-D2AD05166186}"/>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5C0DA139-1CD4-4716-A303-ACB9582AC8AC}"/>
              </a:ext>
            </a:extLst>
          </p:cNvPr>
          <p:cNvSpPr>
            <a:spLocks noGrp="1"/>
          </p:cNvSpPr>
          <p:nvPr>
            <p:ph idx="1"/>
          </p:nvPr>
        </p:nvSpPr>
        <p:spPr/>
        <p:txBody>
          <a:bodyPr/>
          <a:lstStyle/>
          <a:p>
            <a:r>
              <a:rPr lang="en-US" dirty="0"/>
              <a:t>NoSQL Databases</a:t>
            </a:r>
          </a:p>
          <a:p>
            <a:r>
              <a:rPr lang="en-US" dirty="0"/>
              <a:t>NoSQL Data Models</a:t>
            </a:r>
          </a:p>
          <a:p>
            <a:pPr lvl="1"/>
            <a:r>
              <a:rPr lang="en-US" dirty="0"/>
              <a:t>Key-value</a:t>
            </a:r>
          </a:p>
          <a:p>
            <a:pPr lvl="1"/>
            <a:r>
              <a:rPr lang="en-US" dirty="0"/>
              <a:t>Document</a:t>
            </a:r>
          </a:p>
          <a:p>
            <a:pPr lvl="1"/>
            <a:r>
              <a:rPr lang="en-US" dirty="0"/>
              <a:t>Wide-column store (column-family)</a:t>
            </a:r>
          </a:p>
          <a:p>
            <a:pPr lvl="1"/>
            <a:r>
              <a:rPr lang="en-US" dirty="0"/>
              <a:t>Graph</a:t>
            </a:r>
          </a:p>
          <a:p>
            <a:r>
              <a:rPr lang="en-US" dirty="0"/>
              <a:t>NoSQL Implementations: MongoDB</a:t>
            </a:r>
          </a:p>
          <a:p>
            <a:r>
              <a:rPr lang="en-US" dirty="0"/>
              <a:t>MongoDB Atlas </a:t>
            </a:r>
            <a:r>
              <a:rPr lang="en-US"/>
              <a:t>Vector Search</a:t>
            </a:r>
            <a:endParaRPr lang="en-US" dirty="0"/>
          </a:p>
        </p:txBody>
      </p:sp>
    </p:spTree>
    <p:extLst>
      <p:ext uri="{BB962C8B-B14F-4D97-AF65-F5344CB8AC3E}">
        <p14:creationId xmlns:p14="http://schemas.microsoft.com/office/powerpoint/2010/main" val="496469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EE60B-E263-4B85-8A7F-2D205801C595}"/>
              </a:ext>
            </a:extLst>
          </p:cNvPr>
          <p:cNvSpPr>
            <a:spLocks noGrp="1"/>
          </p:cNvSpPr>
          <p:nvPr>
            <p:ph type="title"/>
          </p:nvPr>
        </p:nvSpPr>
        <p:spPr/>
        <p:txBody>
          <a:bodyPr>
            <a:normAutofit/>
          </a:bodyPr>
          <a:lstStyle/>
          <a:p>
            <a:r>
              <a:rPr lang="en-US" dirty="0"/>
              <a:t>NoSQL Databases</a:t>
            </a:r>
          </a:p>
        </p:txBody>
      </p:sp>
      <p:sp>
        <p:nvSpPr>
          <p:cNvPr id="3" name="Content Placeholder 2">
            <a:extLst>
              <a:ext uri="{FF2B5EF4-FFF2-40B4-BE49-F238E27FC236}">
                <a16:creationId xmlns:a16="http://schemas.microsoft.com/office/drawing/2014/main" id="{86CCF990-5E5B-4CB8-8F12-44EF7CDF501A}"/>
              </a:ext>
            </a:extLst>
          </p:cNvPr>
          <p:cNvSpPr>
            <a:spLocks noGrp="1"/>
          </p:cNvSpPr>
          <p:nvPr>
            <p:ph idx="1"/>
          </p:nvPr>
        </p:nvSpPr>
        <p:spPr>
          <a:xfrm>
            <a:off x="1143000" y="2057399"/>
            <a:ext cx="9872871" cy="4568687"/>
          </a:xfrm>
        </p:spPr>
        <p:txBody>
          <a:bodyPr>
            <a:normAutofit/>
          </a:bodyPr>
          <a:lstStyle/>
          <a:p>
            <a:r>
              <a:rPr lang="en-US" dirty="0"/>
              <a:t>The </a:t>
            </a:r>
            <a:r>
              <a:rPr lang="en-US" b="1" dirty="0"/>
              <a:t>relational model </a:t>
            </a:r>
            <a:r>
              <a:rPr lang="en-US" dirty="0"/>
              <a:t>has the following </a:t>
            </a:r>
            <a:r>
              <a:rPr lang="en-US" b="1" dirty="0"/>
              <a:t>drawbacks</a:t>
            </a:r>
            <a:r>
              <a:rPr lang="en-US" dirty="0"/>
              <a:t>:</a:t>
            </a:r>
          </a:p>
          <a:p>
            <a:pPr lvl="1"/>
            <a:r>
              <a:rPr lang="en-US" sz="1800" dirty="0"/>
              <a:t>It is </a:t>
            </a:r>
            <a:r>
              <a:rPr lang="en-US" sz="1800" b="1" dirty="0"/>
              <a:t>not designed</a:t>
            </a:r>
            <a:r>
              <a:rPr lang="en-US" sz="1800" dirty="0"/>
              <a:t> to offer </a:t>
            </a:r>
            <a:r>
              <a:rPr lang="en-US" sz="1800" b="1" dirty="0"/>
              <a:t>horizontal scalability</a:t>
            </a:r>
          </a:p>
          <a:p>
            <a:pPr lvl="1"/>
            <a:r>
              <a:rPr lang="en-US" sz="1800" b="1" dirty="0"/>
              <a:t>Impedance mismatch </a:t>
            </a:r>
            <a:r>
              <a:rPr lang="en-US" sz="1800" dirty="0"/>
              <a:t>or the difference between the </a:t>
            </a:r>
            <a:r>
              <a:rPr lang="en-US" sz="1800" b="1" dirty="0"/>
              <a:t>in-memory structures </a:t>
            </a:r>
            <a:r>
              <a:rPr lang="en-US" sz="1800" dirty="0"/>
              <a:t>used by programmers in their applications and </a:t>
            </a:r>
            <a:r>
              <a:rPr lang="en-US" sz="1800" b="1" dirty="0"/>
              <a:t>the relational model</a:t>
            </a:r>
          </a:p>
          <a:p>
            <a:pPr lvl="1"/>
            <a:r>
              <a:rPr lang="en-US" sz="1800" b="1" dirty="0"/>
              <a:t>Rigid</a:t>
            </a:r>
            <a:r>
              <a:rPr lang="en-US" sz="1800" dirty="0"/>
              <a:t> schema </a:t>
            </a:r>
          </a:p>
          <a:p>
            <a:r>
              <a:rPr lang="en-US" b="1" dirty="0"/>
              <a:t>NoSQL (Not only SQL) databases </a:t>
            </a:r>
            <a:r>
              <a:rPr lang="en-US" dirty="0"/>
              <a:t>are designed to </a:t>
            </a:r>
            <a:r>
              <a:rPr lang="en-US" b="1" dirty="0"/>
              <a:t>solve</a:t>
            </a:r>
            <a:r>
              <a:rPr lang="en-US" dirty="0"/>
              <a:t> the drawbacks listed above </a:t>
            </a:r>
          </a:p>
          <a:p>
            <a:r>
              <a:rPr lang="en-US" dirty="0"/>
              <a:t>While there is a huge diversity of NoSQL databases, they have some things in </a:t>
            </a:r>
            <a:r>
              <a:rPr lang="en-US" b="1" dirty="0"/>
              <a:t>common</a:t>
            </a:r>
            <a:r>
              <a:rPr lang="en-US" dirty="0"/>
              <a:t>:</a:t>
            </a:r>
          </a:p>
          <a:p>
            <a:pPr lvl="1"/>
            <a:r>
              <a:rPr lang="en-US" sz="1800" b="1" dirty="0"/>
              <a:t>Horizontal scalability </a:t>
            </a:r>
            <a:r>
              <a:rPr lang="en-US" sz="1800" dirty="0"/>
              <a:t>(NoSQL databases are designed to run in a distributed environment)</a:t>
            </a:r>
          </a:p>
          <a:p>
            <a:pPr lvl="1"/>
            <a:r>
              <a:rPr lang="en-US" sz="1800" b="1" dirty="0"/>
              <a:t>Flexible schema</a:t>
            </a:r>
          </a:p>
          <a:p>
            <a:pPr lvl="1"/>
            <a:r>
              <a:rPr lang="en-US" sz="1800" b="1" dirty="0"/>
              <a:t>Open source </a:t>
            </a:r>
            <a:r>
              <a:rPr lang="en-US" sz="1800" dirty="0"/>
              <a:t>(generally, NoSQL databases are </a:t>
            </a:r>
            <a:r>
              <a:rPr lang="en-US" sz="1800" i="1" dirty="0"/>
              <a:t>open source</a:t>
            </a:r>
            <a:r>
              <a:rPr lang="en-US" sz="1800" dirty="0"/>
              <a:t>)</a:t>
            </a:r>
          </a:p>
          <a:p>
            <a:pPr lvl="1"/>
            <a:endParaRPr lang="en-US" dirty="0"/>
          </a:p>
        </p:txBody>
      </p:sp>
    </p:spTree>
    <p:extLst>
      <p:ext uri="{BB962C8B-B14F-4D97-AF65-F5344CB8AC3E}">
        <p14:creationId xmlns:p14="http://schemas.microsoft.com/office/powerpoint/2010/main" val="20118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6258-B252-4F68-838C-16543174A9C3}"/>
              </a:ext>
            </a:extLst>
          </p:cNvPr>
          <p:cNvSpPr>
            <a:spLocks noGrp="1"/>
          </p:cNvSpPr>
          <p:nvPr>
            <p:ph type="title"/>
          </p:nvPr>
        </p:nvSpPr>
        <p:spPr/>
        <p:txBody>
          <a:bodyPr/>
          <a:lstStyle/>
          <a:p>
            <a:r>
              <a:rPr lang="en-US" dirty="0"/>
              <a:t>NoSQL Data Models</a:t>
            </a:r>
          </a:p>
        </p:txBody>
      </p:sp>
      <p:sp>
        <p:nvSpPr>
          <p:cNvPr id="3" name="Content Placeholder 2">
            <a:extLst>
              <a:ext uri="{FF2B5EF4-FFF2-40B4-BE49-F238E27FC236}">
                <a16:creationId xmlns:a16="http://schemas.microsoft.com/office/drawing/2014/main" id="{7065F8BA-DF1C-4C22-91BC-F546E63235FA}"/>
              </a:ext>
            </a:extLst>
          </p:cNvPr>
          <p:cNvSpPr>
            <a:spLocks noGrp="1"/>
          </p:cNvSpPr>
          <p:nvPr>
            <p:ph idx="1"/>
          </p:nvPr>
        </p:nvSpPr>
        <p:spPr/>
        <p:txBody>
          <a:bodyPr>
            <a:normAutofit/>
          </a:bodyPr>
          <a:lstStyle/>
          <a:p>
            <a:r>
              <a:rPr lang="en-US" dirty="0"/>
              <a:t>NoSQL databases are relatively new, they are very different from one another and they evolve very fast (there are significant differences between versions)</a:t>
            </a:r>
          </a:p>
          <a:p>
            <a:r>
              <a:rPr lang="en-US" dirty="0"/>
              <a:t>NoSQL implementations are specialized in solving specific problems and for this reason, you have to pay attention when you make your choice</a:t>
            </a:r>
          </a:p>
          <a:p>
            <a:pPr lvl="1"/>
            <a:endParaRPr lang="en-US" dirty="0"/>
          </a:p>
          <a:p>
            <a:pPr lvl="1"/>
            <a:endParaRPr lang="en-US" dirty="0"/>
          </a:p>
        </p:txBody>
      </p:sp>
    </p:spTree>
    <p:extLst>
      <p:ext uri="{BB962C8B-B14F-4D97-AF65-F5344CB8AC3E}">
        <p14:creationId xmlns:p14="http://schemas.microsoft.com/office/powerpoint/2010/main" val="100282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848C5-B75C-5F65-906E-B31DE4D23165}"/>
              </a:ext>
            </a:extLst>
          </p:cNvPr>
          <p:cNvSpPr>
            <a:spLocks noGrp="1"/>
          </p:cNvSpPr>
          <p:nvPr>
            <p:ph type="title"/>
          </p:nvPr>
        </p:nvSpPr>
        <p:spPr/>
        <p:txBody>
          <a:bodyPr/>
          <a:lstStyle/>
          <a:p>
            <a:r>
              <a:rPr lang="en-US" dirty="0"/>
              <a:t>NoSQL Data Models</a:t>
            </a:r>
            <a:endParaRPr lang="ro-RO" dirty="0"/>
          </a:p>
        </p:txBody>
      </p:sp>
      <p:sp>
        <p:nvSpPr>
          <p:cNvPr id="3" name="Content Placeholder 2">
            <a:extLst>
              <a:ext uri="{FF2B5EF4-FFF2-40B4-BE49-F238E27FC236}">
                <a16:creationId xmlns:a16="http://schemas.microsoft.com/office/drawing/2014/main" id="{45CD9BC8-3D5C-537B-AA8F-A831E6EC5B8E}"/>
              </a:ext>
            </a:extLst>
          </p:cNvPr>
          <p:cNvSpPr>
            <a:spLocks noGrp="1"/>
          </p:cNvSpPr>
          <p:nvPr>
            <p:ph idx="1"/>
          </p:nvPr>
        </p:nvSpPr>
        <p:spPr/>
        <p:txBody>
          <a:bodyPr/>
          <a:lstStyle/>
          <a:p>
            <a:pPr>
              <a:lnSpc>
                <a:spcPct val="150000"/>
              </a:lnSpc>
            </a:pPr>
            <a:r>
              <a:rPr lang="en-US" sz="2400" dirty="0"/>
              <a:t>There are </a:t>
            </a:r>
            <a:r>
              <a:rPr lang="en-US" sz="2400" b="1" dirty="0"/>
              <a:t>four</a:t>
            </a:r>
            <a:r>
              <a:rPr lang="en-US" sz="2400" dirty="0"/>
              <a:t> main NoSQL </a:t>
            </a:r>
            <a:r>
              <a:rPr lang="en-US" sz="2400" b="1" dirty="0"/>
              <a:t>data models</a:t>
            </a:r>
            <a:r>
              <a:rPr lang="en-US" sz="2400" dirty="0"/>
              <a:t>:</a:t>
            </a:r>
          </a:p>
          <a:p>
            <a:pPr lvl="1">
              <a:lnSpc>
                <a:spcPct val="150000"/>
              </a:lnSpc>
            </a:pPr>
            <a:r>
              <a:rPr lang="en-US" sz="2000" dirty="0"/>
              <a:t>The </a:t>
            </a:r>
            <a:r>
              <a:rPr lang="en-US" sz="2000" b="1" dirty="0"/>
              <a:t>key-value</a:t>
            </a:r>
            <a:r>
              <a:rPr lang="en-US" sz="2000" dirty="0"/>
              <a:t> data model (collections of key-value pairs)</a:t>
            </a:r>
          </a:p>
          <a:p>
            <a:pPr lvl="1">
              <a:lnSpc>
                <a:spcPct val="150000"/>
              </a:lnSpc>
            </a:pPr>
            <a:r>
              <a:rPr lang="en-US" sz="2000" dirty="0"/>
              <a:t>The </a:t>
            </a:r>
            <a:r>
              <a:rPr lang="en-US" sz="2000" b="1" dirty="0"/>
              <a:t>wide-column store/column-family </a:t>
            </a:r>
            <a:r>
              <a:rPr lang="en-US" sz="2000" dirty="0"/>
              <a:t>data model</a:t>
            </a:r>
          </a:p>
          <a:p>
            <a:pPr lvl="1">
              <a:lnSpc>
                <a:spcPct val="150000"/>
              </a:lnSpc>
            </a:pPr>
            <a:r>
              <a:rPr lang="en-US" sz="2000" dirty="0"/>
              <a:t>The </a:t>
            </a:r>
            <a:r>
              <a:rPr lang="en-US" sz="2000" b="1" dirty="0"/>
              <a:t>graph</a:t>
            </a:r>
            <a:r>
              <a:rPr lang="en-US" sz="2000" dirty="0"/>
              <a:t> data model (graph)</a:t>
            </a:r>
          </a:p>
          <a:p>
            <a:pPr lvl="1">
              <a:lnSpc>
                <a:spcPct val="150000"/>
              </a:lnSpc>
            </a:pPr>
            <a:r>
              <a:rPr lang="en-US" sz="2000" dirty="0"/>
              <a:t>The </a:t>
            </a:r>
            <a:r>
              <a:rPr lang="en-US" sz="2000" b="1" dirty="0"/>
              <a:t>document </a:t>
            </a:r>
            <a:r>
              <a:rPr lang="en-US" sz="2000" dirty="0"/>
              <a:t>data model (collections of documents)</a:t>
            </a:r>
          </a:p>
          <a:p>
            <a:endParaRPr lang="ro-RO" dirty="0"/>
          </a:p>
        </p:txBody>
      </p:sp>
    </p:spTree>
    <p:extLst>
      <p:ext uri="{BB962C8B-B14F-4D97-AF65-F5344CB8AC3E}">
        <p14:creationId xmlns:p14="http://schemas.microsoft.com/office/powerpoint/2010/main" val="118940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2687-DAC2-41EC-A1BD-72978752E15E}"/>
              </a:ext>
            </a:extLst>
          </p:cNvPr>
          <p:cNvSpPr>
            <a:spLocks noGrp="1"/>
          </p:cNvSpPr>
          <p:nvPr>
            <p:ph type="title"/>
          </p:nvPr>
        </p:nvSpPr>
        <p:spPr/>
        <p:txBody>
          <a:bodyPr/>
          <a:lstStyle/>
          <a:p>
            <a:r>
              <a:rPr lang="en-US" dirty="0"/>
              <a:t>Key-value data model</a:t>
            </a:r>
          </a:p>
        </p:txBody>
      </p:sp>
      <p:sp>
        <p:nvSpPr>
          <p:cNvPr id="3" name="Content Placeholder 2">
            <a:extLst>
              <a:ext uri="{FF2B5EF4-FFF2-40B4-BE49-F238E27FC236}">
                <a16:creationId xmlns:a16="http://schemas.microsoft.com/office/drawing/2014/main" id="{F08C898E-73B4-418F-922E-6F86408DAF29}"/>
              </a:ext>
            </a:extLst>
          </p:cNvPr>
          <p:cNvSpPr>
            <a:spLocks noGrp="1"/>
          </p:cNvSpPr>
          <p:nvPr>
            <p:ph idx="1"/>
          </p:nvPr>
        </p:nvSpPr>
        <p:spPr>
          <a:xfrm>
            <a:off x="1143000" y="2057399"/>
            <a:ext cx="9872871" cy="4648201"/>
          </a:xfrm>
        </p:spPr>
        <p:txBody>
          <a:bodyPr>
            <a:normAutofit/>
          </a:bodyPr>
          <a:lstStyle/>
          <a:p>
            <a:r>
              <a:rPr lang="en-US" dirty="0"/>
              <a:t>It is the most basic NoSQL data model</a:t>
            </a:r>
          </a:p>
          <a:p>
            <a:r>
              <a:rPr lang="en-US" dirty="0"/>
              <a:t>Data is stored as key-value pairs</a:t>
            </a:r>
          </a:p>
          <a:p>
            <a:r>
              <a:rPr lang="en-US" dirty="0"/>
              <a:t>The </a:t>
            </a:r>
            <a:r>
              <a:rPr lang="en-US" b="1" dirty="0"/>
              <a:t>key part </a:t>
            </a:r>
            <a:r>
              <a:rPr lang="en-US" dirty="0"/>
              <a:t>of the key-value pair is also a </a:t>
            </a:r>
            <a:r>
              <a:rPr lang="en-US" i="1" dirty="0"/>
              <a:t>unique identifier </a:t>
            </a:r>
            <a:r>
              <a:rPr lang="en-US" dirty="0"/>
              <a:t>and it is used for data access</a:t>
            </a:r>
          </a:p>
          <a:p>
            <a:r>
              <a:rPr lang="en-US" dirty="0"/>
              <a:t>The </a:t>
            </a:r>
            <a:r>
              <a:rPr lang="en-US" b="1" dirty="0"/>
              <a:t>value part </a:t>
            </a:r>
            <a:r>
              <a:rPr lang="en-US" dirty="0"/>
              <a:t>of the key-value pair is usually opaque at the database level</a:t>
            </a:r>
          </a:p>
          <a:p>
            <a:r>
              <a:rPr lang="en-US" dirty="0"/>
              <a:t>The value part can contain complex structures, but these structures are not visible at the database level </a:t>
            </a:r>
          </a:p>
          <a:p>
            <a:r>
              <a:rPr lang="en-US" dirty="0"/>
              <a:t>The following operations are available: insert a new value for a key, return the value for a given key and delete a key-value pair (these operations are fast)</a:t>
            </a:r>
          </a:p>
          <a:p>
            <a:r>
              <a:rPr lang="en-US" dirty="0"/>
              <a:t>It allows horizontal scalability and high availability</a:t>
            </a:r>
          </a:p>
          <a:p>
            <a:r>
              <a:rPr lang="en-US" dirty="0"/>
              <a:t>Key-value implementations: </a:t>
            </a:r>
            <a:r>
              <a:rPr lang="en-US" dirty="0" err="1"/>
              <a:t>Riak</a:t>
            </a:r>
            <a:r>
              <a:rPr lang="en-US" dirty="0"/>
              <a:t>, Redis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58756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87AC-CA90-4ADB-9DD8-35C871418698}"/>
              </a:ext>
            </a:extLst>
          </p:cNvPr>
          <p:cNvSpPr>
            <a:spLocks noGrp="1"/>
          </p:cNvSpPr>
          <p:nvPr>
            <p:ph type="title"/>
          </p:nvPr>
        </p:nvSpPr>
        <p:spPr/>
        <p:txBody>
          <a:bodyPr/>
          <a:lstStyle/>
          <a:p>
            <a:r>
              <a:rPr lang="en-US" dirty="0"/>
              <a:t>Wide-column store data model (column-family)</a:t>
            </a:r>
          </a:p>
        </p:txBody>
      </p:sp>
      <p:sp>
        <p:nvSpPr>
          <p:cNvPr id="3" name="Content Placeholder 2">
            <a:extLst>
              <a:ext uri="{FF2B5EF4-FFF2-40B4-BE49-F238E27FC236}">
                <a16:creationId xmlns:a16="http://schemas.microsoft.com/office/drawing/2014/main" id="{C30C03BC-6F35-4039-9B3C-02EC2881C2EA}"/>
              </a:ext>
            </a:extLst>
          </p:cNvPr>
          <p:cNvSpPr>
            <a:spLocks noGrp="1"/>
          </p:cNvSpPr>
          <p:nvPr>
            <p:ph idx="1"/>
          </p:nvPr>
        </p:nvSpPr>
        <p:spPr/>
        <p:txBody>
          <a:bodyPr>
            <a:normAutofit/>
          </a:bodyPr>
          <a:lstStyle/>
          <a:p>
            <a:r>
              <a:rPr lang="en-US" dirty="0"/>
              <a:t>It is based on the multi-dimensional map data structure</a:t>
            </a:r>
          </a:p>
          <a:p>
            <a:r>
              <a:rPr lang="en-US" dirty="0"/>
              <a:t>In this context, a column is in fact a key-value pair in which the key is the name of the column and the value is the actual value for the column</a:t>
            </a:r>
          </a:p>
          <a:p>
            <a:r>
              <a:rPr lang="en-US" dirty="0"/>
              <a:t>The value part can store complex structures as well (like arrays or objects)</a:t>
            </a:r>
          </a:p>
          <a:p>
            <a:r>
              <a:rPr lang="en-US" dirty="0"/>
              <a:t>A column-family is a group of columns that contain related data (similar to a relational table)</a:t>
            </a:r>
          </a:p>
          <a:p>
            <a:r>
              <a:rPr lang="en-US" dirty="0"/>
              <a:t>A column family resembles a relational table, but it has a flexible schema and does not store NULL values if there is no value assigned to a specific column</a:t>
            </a:r>
          </a:p>
          <a:p>
            <a:r>
              <a:rPr lang="en-US" dirty="0"/>
              <a:t>Wide-column store (column-family) implementations: Apache Cassandra, Apache HBase, Bigtable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04498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33BE-2A28-4160-9D6D-731479C6DDAC}"/>
              </a:ext>
            </a:extLst>
          </p:cNvPr>
          <p:cNvSpPr>
            <a:spLocks noGrp="1"/>
          </p:cNvSpPr>
          <p:nvPr>
            <p:ph type="title"/>
          </p:nvPr>
        </p:nvSpPr>
        <p:spPr/>
        <p:txBody>
          <a:bodyPr/>
          <a:lstStyle/>
          <a:p>
            <a:r>
              <a:rPr lang="en-US" dirty="0"/>
              <a:t>Graph data model</a:t>
            </a:r>
          </a:p>
        </p:txBody>
      </p:sp>
      <p:sp>
        <p:nvSpPr>
          <p:cNvPr id="3" name="Content Placeholder 2">
            <a:extLst>
              <a:ext uri="{FF2B5EF4-FFF2-40B4-BE49-F238E27FC236}">
                <a16:creationId xmlns:a16="http://schemas.microsoft.com/office/drawing/2014/main" id="{7ABEBE09-870B-4ABE-BBF9-F5AAC62B40B1}"/>
              </a:ext>
            </a:extLst>
          </p:cNvPr>
          <p:cNvSpPr>
            <a:spLocks noGrp="1"/>
          </p:cNvSpPr>
          <p:nvPr>
            <p:ph idx="1"/>
          </p:nvPr>
        </p:nvSpPr>
        <p:spPr>
          <a:xfrm>
            <a:off x="1143000" y="2057399"/>
            <a:ext cx="9872871" cy="4568687"/>
          </a:xfrm>
        </p:spPr>
        <p:txBody>
          <a:bodyPr/>
          <a:lstStyle/>
          <a:p>
            <a:r>
              <a:rPr lang="en-US" dirty="0"/>
              <a:t>It is based on the graph structure</a:t>
            </a:r>
          </a:p>
          <a:p>
            <a:r>
              <a:rPr lang="en-US" dirty="0"/>
              <a:t>Data is stored as nodes and edges between nodes, with each node or edge having properties attached to it</a:t>
            </a:r>
          </a:p>
          <a:p>
            <a:r>
              <a:rPr lang="en-US" dirty="0"/>
              <a:t>Nodes represent objects or entities, while edges represent relationships between objects or entities </a:t>
            </a:r>
          </a:p>
          <a:p>
            <a:r>
              <a:rPr lang="en-US" dirty="0"/>
              <a:t>In contrast to other NoSQL data models, the horizontal scalability is problematic in this case </a:t>
            </a:r>
          </a:p>
          <a:p>
            <a:r>
              <a:rPr lang="en-US" dirty="0"/>
              <a:t>It is best suited to store data that is highly interconnected</a:t>
            </a:r>
          </a:p>
          <a:p>
            <a:r>
              <a:rPr lang="en-US" dirty="0"/>
              <a:t>It also offers great flexibility in interpreting relationships between entities </a:t>
            </a:r>
          </a:p>
          <a:p>
            <a:r>
              <a:rPr lang="en-US" dirty="0"/>
              <a:t>Graph implementations: Neo4J, </a:t>
            </a:r>
            <a:r>
              <a:rPr lang="en-US" dirty="0" err="1"/>
              <a:t>Memgraph</a:t>
            </a:r>
            <a:r>
              <a:rPr lang="en-US" dirty="0"/>
              <a:t>, </a:t>
            </a:r>
            <a:r>
              <a:rPr lang="en-US" dirty="0" err="1"/>
              <a:t>GraphDB</a:t>
            </a:r>
            <a:r>
              <a:rPr lang="en-US" dirty="0"/>
              <a:t> </a:t>
            </a:r>
          </a:p>
        </p:txBody>
      </p:sp>
    </p:spTree>
    <p:extLst>
      <p:ext uri="{BB962C8B-B14F-4D97-AF65-F5344CB8AC3E}">
        <p14:creationId xmlns:p14="http://schemas.microsoft.com/office/powerpoint/2010/main" val="1693377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415AB-34F8-4B2B-B0B4-8A6D133F6923}"/>
              </a:ext>
            </a:extLst>
          </p:cNvPr>
          <p:cNvSpPr>
            <a:spLocks noGrp="1"/>
          </p:cNvSpPr>
          <p:nvPr>
            <p:ph type="title"/>
          </p:nvPr>
        </p:nvSpPr>
        <p:spPr/>
        <p:txBody>
          <a:bodyPr/>
          <a:lstStyle/>
          <a:p>
            <a:r>
              <a:rPr lang="en-US" dirty="0"/>
              <a:t>Document data model</a:t>
            </a:r>
          </a:p>
        </p:txBody>
      </p:sp>
      <p:sp>
        <p:nvSpPr>
          <p:cNvPr id="3" name="Content Placeholder 2">
            <a:extLst>
              <a:ext uri="{FF2B5EF4-FFF2-40B4-BE49-F238E27FC236}">
                <a16:creationId xmlns:a16="http://schemas.microsoft.com/office/drawing/2014/main" id="{09203E92-0F86-49A5-97F8-D3A3FCAAFC75}"/>
              </a:ext>
            </a:extLst>
          </p:cNvPr>
          <p:cNvSpPr>
            <a:spLocks noGrp="1"/>
          </p:cNvSpPr>
          <p:nvPr>
            <p:ph idx="1"/>
          </p:nvPr>
        </p:nvSpPr>
        <p:spPr>
          <a:xfrm>
            <a:off x="1143000" y="2057400"/>
            <a:ext cx="9872871" cy="4515678"/>
          </a:xfrm>
        </p:spPr>
        <p:txBody>
          <a:bodyPr>
            <a:normAutofit/>
          </a:bodyPr>
          <a:lstStyle/>
          <a:p>
            <a:r>
              <a:rPr lang="en-US" dirty="0"/>
              <a:t>Its base structure is the document</a:t>
            </a:r>
          </a:p>
          <a:p>
            <a:r>
              <a:rPr lang="en-US" dirty="0"/>
              <a:t>Each document has a unique identifier (which corresponds to the key part of a key-value pair) and a value (which corresponds to the value part of a key-value pair)</a:t>
            </a:r>
          </a:p>
          <a:p>
            <a:r>
              <a:rPr lang="en-US" dirty="0"/>
              <a:t>The most popular format is JSON (JavaScript Object Notation)</a:t>
            </a:r>
          </a:p>
          <a:p>
            <a:r>
              <a:rPr lang="en-US" dirty="0"/>
              <a:t>A JSON document is a collection of key-value pairs, and the value part can be a complex structure (like a collection of values or a collection of key-value pairs)</a:t>
            </a:r>
          </a:p>
          <a:p>
            <a:r>
              <a:rPr lang="en-US" dirty="0"/>
              <a:t>Other document formats are XML and YAML</a:t>
            </a:r>
          </a:p>
          <a:p>
            <a:r>
              <a:rPr lang="en-US" dirty="0"/>
              <a:t>It allows very expressive query languages</a:t>
            </a:r>
          </a:p>
          <a:p>
            <a:r>
              <a:rPr lang="en-US" dirty="0"/>
              <a:t>The structure of the value part is visible at the database level</a:t>
            </a:r>
          </a:p>
          <a:p>
            <a:r>
              <a:rPr lang="en-US" dirty="0"/>
              <a:t>Document implementations: MongoDB, CouchDB, Couchbase</a:t>
            </a:r>
          </a:p>
          <a:p>
            <a:endParaRPr lang="en-US" dirty="0"/>
          </a:p>
          <a:p>
            <a:endParaRPr lang="en-US" dirty="0"/>
          </a:p>
        </p:txBody>
      </p:sp>
    </p:spTree>
    <p:extLst>
      <p:ext uri="{BB962C8B-B14F-4D97-AF65-F5344CB8AC3E}">
        <p14:creationId xmlns:p14="http://schemas.microsoft.com/office/powerpoint/2010/main" val="205787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FE24-DE68-48EC-B2C7-9D5387834658}"/>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C4A83873-7F48-4F16-9C06-80287C5D4723}"/>
              </a:ext>
            </a:extLst>
          </p:cNvPr>
          <p:cNvSpPr>
            <a:spLocks noGrp="1"/>
          </p:cNvSpPr>
          <p:nvPr>
            <p:ph idx="1"/>
          </p:nvPr>
        </p:nvSpPr>
        <p:spPr/>
        <p:txBody>
          <a:bodyPr>
            <a:normAutofit/>
          </a:bodyPr>
          <a:lstStyle/>
          <a:p>
            <a:r>
              <a:rPr lang="en-US" dirty="0"/>
              <a:t>MongoDB is a distributed, open source NoSQL implementation based on the  document data model</a:t>
            </a:r>
          </a:p>
          <a:p>
            <a:r>
              <a:rPr lang="en-US" dirty="0"/>
              <a:t>MongoDB offers horizontal scalability (automatic </a:t>
            </a:r>
            <a:r>
              <a:rPr lang="en-US" dirty="0" err="1"/>
              <a:t>sharding</a:t>
            </a:r>
            <a:r>
              <a:rPr lang="en-US" dirty="0"/>
              <a:t>) and high availability (data replication)</a:t>
            </a:r>
          </a:p>
          <a:p>
            <a:r>
              <a:rPr lang="en-US" dirty="0"/>
              <a:t>Data is stored in a format similar to JSON, called BSON (Binary JSON)</a:t>
            </a:r>
          </a:p>
          <a:p>
            <a:r>
              <a:rPr lang="en-US" dirty="0"/>
              <a:t>BSON extends JSON and offers ordered fields and additional data types</a:t>
            </a:r>
          </a:p>
          <a:p>
            <a:r>
              <a:rPr lang="en-US" dirty="0"/>
              <a:t>JSON is a data-interchange text format that is human and machine-readable</a:t>
            </a:r>
          </a:p>
          <a:p>
            <a:r>
              <a:rPr lang="en-US" dirty="0"/>
              <a:t>There are two structures on which JSON is built: the object (a collection of key-value pairs) and the array (a list of values)</a:t>
            </a:r>
          </a:p>
          <a:p>
            <a:endParaRPr lang="en-US" dirty="0"/>
          </a:p>
          <a:p>
            <a:endParaRPr lang="en-US" dirty="0"/>
          </a:p>
          <a:p>
            <a:endParaRPr lang="en-US" dirty="0"/>
          </a:p>
        </p:txBody>
      </p:sp>
    </p:spTree>
    <p:extLst>
      <p:ext uri="{BB962C8B-B14F-4D97-AF65-F5344CB8AC3E}">
        <p14:creationId xmlns:p14="http://schemas.microsoft.com/office/powerpoint/2010/main" val="77641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5F4D-D0D9-4877-B8BC-44D5D3DCD299}"/>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953C869E-AEF4-4C31-9C67-DCFD7C165612}"/>
              </a:ext>
            </a:extLst>
          </p:cNvPr>
          <p:cNvSpPr>
            <a:spLocks noGrp="1"/>
          </p:cNvSpPr>
          <p:nvPr>
            <p:ph idx="1"/>
          </p:nvPr>
        </p:nvSpPr>
        <p:spPr>
          <a:xfrm>
            <a:off x="1143000" y="2057400"/>
            <a:ext cx="9872871" cy="4800600"/>
          </a:xfrm>
        </p:spPr>
        <p:txBody>
          <a:bodyPr>
            <a:normAutofit lnSpcReduction="10000"/>
          </a:bodyPr>
          <a:lstStyle/>
          <a:p>
            <a:r>
              <a:rPr lang="ro-RO" dirty="0"/>
              <a:t>JSON</a:t>
            </a:r>
            <a:r>
              <a:rPr lang="en-US" dirty="0"/>
              <a:t> document example</a:t>
            </a:r>
            <a:r>
              <a:rPr lang="ro-RO" dirty="0"/>
              <a:t>:</a:t>
            </a:r>
            <a:r>
              <a:rPr lang="en-US" dirty="0"/>
              <a:t> </a:t>
            </a:r>
            <a:endParaRPr lang="ro-RO" dirty="0"/>
          </a:p>
          <a:p>
            <a:pPr marL="45720" indent="0">
              <a:buNone/>
            </a:pPr>
            <a:r>
              <a:rPr lang="en-US" dirty="0"/>
              <a:t>	</a:t>
            </a:r>
            <a:r>
              <a:rPr lang="en-US" dirty="0">
                <a:latin typeface="Consolas" panose="020B0609020204030204" pitchFamily="49" charset="0"/>
              </a:rPr>
              <a:t>{</a:t>
            </a:r>
          </a:p>
          <a:p>
            <a:pPr marL="45720" indent="0">
              <a:buNone/>
            </a:pPr>
            <a:r>
              <a:rPr lang="en-US" dirty="0">
                <a:latin typeface="Consolas" panose="020B0609020204030204" pitchFamily="49" charset="0"/>
              </a:rPr>
              <a:t>	 "</a:t>
            </a:r>
            <a:r>
              <a:rPr lang="en-US" dirty="0" err="1">
                <a:latin typeface="Consolas" panose="020B0609020204030204" pitchFamily="49" charset="0"/>
              </a:rPr>
              <a:t>firstname</a:t>
            </a:r>
            <a:r>
              <a:rPr lang="en-US" dirty="0">
                <a:latin typeface="Consolas" panose="020B0609020204030204" pitchFamily="49" charset="0"/>
              </a:rPr>
              <a:t>" : "Rose",</a:t>
            </a:r>
          </a:p>
          <a:p>
            <a:pPr marL="45720" indent="0">
              <a:buNone/>
            </a:pPr>
            <a:r>
              <a:rPr lang="en-US" dirty="0">
                <a:latin typeface="Consolas" panose="020B0609020204030204" pitchFamily="49" charset="0"/>
              </a:rPr>
              <a:t>	 "</a:t>
            </a:r>
            <a:r>
              <a:rPr lang="en-US" dirty="0" err="1">
                <a:latin typeface="Consolas" panose="020B0609020204030204" pitchFamily="49" charset="0"/>
              </a:rPr>
              <a:t>lastname</a:t>
            </a:r>
            <a:r>
              <a:rPr lang="en-US" dirty="0">
                <a:latin typeface="Consolas" panose="020B0609020204030204" pitchFamily="49" charset="0"/>
              </a:rPr>
              <a:t>" : "Jackson",</a:t>
            </a:r>
          </a:p>
          <a:p>
            <a:pPr marL="45720" indent="0">
              <a:buNone/>
            </a:pPr>
            <a:r>
              <a:rPr lang="en-US" dirty="0">
                <a:latin typeface="Consolas" panose="020B0609020204030204" pitchFamily="49" charset="0"/>
              </a:rPr>
              <a:t>	 "email" : ["rosej@gmail.com"  , "rosejackson@yahoo.com"],</a:t>
            </a:r>
          </a:p>
          <a:p>
            <a:pPr marL="45720" indent="0">
              <a:buNone/>
            </a:pPr>
            <a:r>
              <a:rPr lang="en-US" dirty="0">
                <a:latin typeface="Consolas" panose="020B0609020204030204" pitchFamily="49" charset="0"/>
              </a:rPr>
              <a:t>	 "address" : </a:t>
            </a:r>
          </a:p>
          <a:p>
            <a:pPr marL="45720" indent="0">
              <a:buNone/>
            </a:pPr>
            <a:r>
              <a:rPr lang="en-US" dirty="0">
                <a:latin typeface="Consolas" panose="020B0609020204030204" pitchFamily="49" charset="0"/>
              </a:rPr>
              <a:t>		{"street" : "Alameda Street",</a:t>
            </a:r>
          </a:p>
          <a:p>
            <a:pPr marL="45720" indent="0">
              <a:buNone/>
            </a:pPr>
            <a:r>
              <a:rPr lang="en-US" dirty="0">
                <a:latin typeface="Consolas" panose="020B0609020204030204" pitchFamily="49" charset="0"/>
              </a:rPr>
              <a:t>		 "number" : 1,</a:t>
            </a:r>
          </a:p>
          <a:p>
            <a:pPr marL="45720" indent="0">
              <a:buNone/>
            </a:pPr>
            <a:r>
              <a:rPr lang="en-US" dirty="0">
                <a:latin typeface="Consolas" panose="020B0609020204030204" pitchFamily="49" charset="0"/>
              </a:rPr>
              <a:t>		 "city" : "Los Angeles" </a:t>
            </a:r>
          </a:p>
          <a:p>
            <a:pPr marL="45720" indent="0">
              <a:buNone/>
            </a:pPr>
            <a:r>
              <a:rPr lang="en-US" dirty="0">
                <a:latin typeface="Consolas" panose="020B0609020204030204" pitchFamily="49" charset="0"/>
              </a:rPr>
              <a:t>		 }</a:t>
            </a:r>
          </a:p>
          <a:p>
            <a:pPr marL="45720" indent="0">
              <a:buNone/>
            </a:pP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275818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F653-1CC1-4354-A574-AA1BAFBE48D3}"/>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796FB47F-BDE7-45A5-8AB6-65A70B4CD5F6}"/>
              </a:ext>
            </a:extLst>
          </p:cNvPr>
          <p:cNvSpPr>
            <a:spLocks noGrp="1"/>
          </p:cNvSpPr>
          <p:nvPr>
            <p:ph idx="1"/>
          </p:nvPr>
        </p:nvSpPr>
        <p:spPr>
          <a:xfrm>
            <a:off x="1143000" y="2057399"/>
            <a:ext cx="9872871" cy="4436165"/>
          </a:xfrm>
        </p:spPr>
        <p:txBody>
          <a:bodyPr>
            <a:normAutofit/>
          </a:bodyPr>
          <a:lstStyle/>
          <a:p>
            <a:r>
              <a:rPr lang="en-US" dirty="0"/>
              <a:t>MongoDB query language is a very expressive query language based on </a:t>
            </a:r>
            <a:r>
              <a:rPr lang="en-US" b="1" dirty="0"/>
              <a:t>JavaScript</a:t>
            </a:r>
            <a:r>
              <a:rPr lang="en-US" dirty="0"/>
              <a:t> (it has a large number of operators)</a:t>
            </a:r>
          </a:p>
          <a:p>
            <a:r>
              <a:rPr lang="en-US" dirty="0"/>
              <a:t>MongoDB is </a:t>
            </a:r>
            <a:r>
              <a:rPr lang="en-US" b="1" dirty="0"/>
              <a:t>case sensitive</a:t>
            </a:r>
          </a:p>
          <a:p>
            <a:r>
              <a:rPr lang="en-US" dirty="0"/>
              <a:t>The most important tool used to interact with the MongoDB database server is </a:t>
            </a:r>
            <a:r>
              <a:rPr lang="en-US" b="1" dirty="0" err="1"/>
              <a:t>mongosh</a:t>
            </a:r>
            <a:r>
              <a:rPr lang="en-US" b="1" dirty="0"/>
              <a:t> </a:t>
            </a:r>
            <a:r>
              <a:rPr lang="en-US" dirty="0"/>
              <a:t>(an interactive JavaScript interpreter)</a:t>
            </a:r>
            <a:endParaRPr lang="ro-RO" dirty="0"/>
          </a:p>
          <a:p>
            <a:r>
              <a:rPr lang="en-US" b="1" dirty="0"/>
              <a:t>MongoDB Compass </a:t>
            </a:r>
            <a:r>
              <a:rPr lang="en-US" dirty="0"/>
              <a:t>is a graphical user interface for MongoDB </a:t>
            </a:r>
          </a:p>
          <a:p>
            <a:r>
              <a:rPr lang="en-US" dirty="0"/>
              <a:t>MongoDB offers five client authentication mechanisms, but authentication is not enabled by default (you have to enable it)</a:t>
            </a:r>
          </a:p>
          <a:p>
            <a:r>
              <a:rPr lang="en-US" dirty="0"/>
              <a:t>The authentication mechanisms supported are: SCRAM (default), X.509 Certificate Authentication, LDAP proxy authentication, Kerberos authentication and OpenID Connect authentication</a:t>
            </a:r>
          </a:p>
        </p:txBody>
      </p:sp>
    </p:spTree>
    <p:extLst>
      <p:ext uri="{BB962C8B-B14F-4D97-AF65-F5344CB8AC3E}">
        <p14:creationId xmlns:p14="http://schemas.microsoft.com/office/powerpoint/2010/main" val="57150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68E6-2300-457B-B92E-B0578FBEB16F}"/>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F3BABAF7-F26B-443C-9AD7-13F964DFA4FA}"/>
              </a:ext>
            </a:extLst>
          </p:cNvPr>
          <p:cNvSpPr>
            <a:spLocks noGrp="1"/>
          </p:cNvSpPr>
          <p:nvPr>
            <p:ph idx="1"/>
          </p:nvPr>
        </p:nvSpPr>
        <p:spPr>
          <a:xfrm>
            <a:off x="1261872" y="1828800"/>
            <a:ext cx="8595360" cy="4863548"/>
          </a:xfrm>
        </p:spPr>
        <p:txBody>
          <a:bodyPr/>
          <a:lstStyle/>
          <a:p>
            <a:r>
              <a:rPr lang="en-US" b="1" dirty="0"/>
              <a:t>MongoDB</a:t>
            </a:r>
            <a:r>
              <a:rPr lang="en-US" dirty="0"/>
              <a:t> is also available as </a:t>
            </a:r>
            <a:r>
              <a:rPr lang="en-US" b="1" dirty="0"/>
              <a:t>DBaaS</a:t>
            </a:r>
            <a:r>
              <a:rPr lang="en-US" dirty="0"/>
              <a:t> (Database-as-a-Service)</a:t>
            </a:r>
            <a:endParaRPr lang="ro-RO" dirty="0"/>
          </a:p>
          <a:p>
            <a:r>
              <a:rPr lang="ro-RO" dirty="0"/>
              <a:t>The </a:t>
            </a:r>
            <a:r>
              <a:rPr lang="ro-RO" b="1" dirty="0"/>
              <a:t>MongoDB DBaaS </a:t>
            </a:r>
            <a:r>
              <a:rPr lang="ro-RO" dirty="0"/>
              <a:t>is called</a:t>
            </a:r>
            <a:r>
              <a:rPr lang="en-US" dirty="0"/>
              <a:t> </a:t>
            </a:r>
            <a:r>
              <a:rPr lang="en-US" b="1" dirty="0"/>
              <a:t>MongoDB Atlas</a:t>
            </a:r>
          </a:p>
          <a:p>
            <a:r>
              <a:rPr lang="ro-RO" dirty="0"/>
              <a:t>F</a:t>
            </a:r>
            <a:r>
              <a:rPr lang="en-US" dirty="0" err="1"/>
              <a:t>ully</a:t>
            </a:r>
            <a:r>
              <a:rPr lang="en-US" dirty="0"/>
              <a:t> managed MongoDB instances can be deployed across </a:t>
            </a:r>
            <a:r>
              <a:rPr lang="en-US" b="1" dirty="0"/>
              <a:t>Azure</a:t>
            </a:r>
            <a:r>
              <a:rPr lang="en-US" dirty="0"/>
              <a:t>, </a:t>
            </a:r>
            <a:r>
              <a:rPr lang="en-US" b="1" dirty="0"/>
              <a:t>Google Cloud </a:t>
            </a:r>
            <a:r>
              <a:rPr lang="en-US" dirty="0"/>
              <a:t>and </a:t>
            </a:r>
            <a:r>
              <a:rPr lang="en-US" b="1" dirty="0"/>
              <a:t>AWS </a:t>
            </a:r>
            <a:r>
              <a:rPr lang="ro-RO" dirty="0"/>
              <a:t>w</a:t>
            </a:r>
            <a:r>
              <a:rPr lang="en-US" dirty="0" err="1"/>
              <a:t>ith</a:t>
            </a:r>
            <a:r>
              <a:rPr lang="en-US" dirty="0"/>
              <a:t> </a:t>
            </a:r>
            <a:r>
              <a:rPr lang="en-US" b="1" dirty="0"/>
              <a:t>MongoDB Atlas</a:t>
            </a:r>
            <a:r>
              <a:rPr lang="en-US" dirty="0"/>
              <a:t> </a:t>
            </a:r>
          </a:p>
          <a:p>
            <a:r>
              <a:rPr lang="ro-RO" b="1" dirty="0"/>
              <a:t>MongoDB Atlas </a:t>
            </a:r>
            <a:r>
              <a:rPr lang="ro-RO" dirty="0"/>
              <a:t>offers a free cloud database, with the following characteristics:</a:t>
            </a:r>
          </a:p>
          <a:p>
            <a:pPr lvl="1"/>
            <a:r>
              <a:rPr lang="en-US" sz="1700" dirty="0"/>
              <a:t>Shared RAM</a:t>
            </a:r>
            <a:endParaRPr lang="ro-RO" sz="1700" dirty="0"/>
          </a:p>
          <a:p>
            <a:pPr lvl="1"/>
            <a:r>
              <a:rPr lang="en-US" sz="1700" dirty="0"/>
              <a:t>512 MB </a:t>
            </a:r>
            <a:r>
              <a:rPr lang="ro-RO" sz="1700" dirty="0"/>
              <a:t>s</a:t>
            </a:r>
            <a:r>
              <a:rPr lang="en-US" sz="1700" dirty="0" err="1"/>
              <a:t>torage</a:t>
            </a:r>
            <a:r>
              <a:rPr lang="ro-RO" sz="1700" dirty="0"/>
              <a:t> </a:t>
            </a:r>
          </a:p>
          <a:p>
            <a:pPr lvl="1"/>
            <a:r>
              <a:rPr lang="en-US" sz="1700" dirty="0"/>
              <a:t>Highly available replica set</a:t>
            </a:r>
            <a:endParaRPr lang="ro-RO" sz="1700" dirty="0"/>
          </a:p>
          <a:p>
            <a:pPr lvl="1"/>
            <a:r>
              <a:rPr lang="ro-RO" sz="1700" dirty="0"/>
              <a:t>E</a:t>
            </a:r>
            <a:r>
              <a:rPr lang="en-US" sz="1700" dirty="0" err="1"/>
              <a:t>nd</a:t>
            </a:r>
            <a:r>
              <a:rPr lang="en-US" sz="1700" dirty="0"/>
              <a:t>-to-end encryption</a:t>
            </a:r>
            <a:endParaRPr lang="ro-RO" sz="1700" dirty="0"/>
          </a:p>
          <a:p>
            <a:pPr lvl="1"/>
            <a:r>
              <a:rPr lang="ro-RO" sz="1700" dirty="0"/>
              <a:t>A</a:t>
            </a:r>
            <a:r>
              <a:rPr lang="en-US" sz="1700" dirty="0" err="1"/>
              <a:t>utomated</a:t>
            </a:r>
            <a:r>
              <a:rPr lang="en-US" sz="1700" dirty="0"/>
              <a:t> patches</a:t>
            </a:r>
            <a:endParaRPr lang="ro-RO" sz="1700" dirty="0"/>
          </a:p>
          <a:p>
            <a:pPr lvl="1"/>
            <a:r>
              <a:rPr lang="en-US" sz="1700" dirty="0"/>
              <a:t>REST API</a:t>
            </a:r>
          </a:p>
        </p:txBody>
      </p:sp>
    </p:spTree>
    <p:extLst>
      <p:ext uri="{BB962C8B-B14F-4D97-AF65-F5344CB8AC3E}">
        <p14:creationId xmlns:p14="http://schemas.microsoft.com/office/powerpoint/2010/main" val="96419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1430-9CB3-41A9-8DFF-3B3DE450B56F}"/>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C23E65B3-D2F7-43AB-A6EB-4E94CA5BB939}"/>
              </a:ext>
            </a:extLst>
          </p:cNvPr>
          <p:cNvSpPr>
            <a:spLocks noGrp="1"/>
          </p:cNvSpPr>
          <p:nvPr>
            <p:ph idx="1"/>
          </p:nvPr>
        </p:nvSpPr>
        <p:spPr>
          <a:xfrm>
            <a:off x="1143000" y="2057399"/>
            <a:ext cx="9872871" cy="4449417"/>
          </a:xfrm>
        </p:spPr>
        <p:txBody>
          <a:bodyPr/>
          <a:lstStyle/>
          <a:p>
            <a:r>
              <a:rPr lang="en-US" dirty="0"/>
              <a:t>MongoDB can be installed on:</a:t>
            </a:r>
          </a:p>
          <a:p>
            <a:pPr lvl="1"/>
            <a:r>
              <a:rPr lang="en-US" dirty="0"/>
              <a:t>Windows</a:t>
            </a:r>
          </a:p>
          <a:p>
            <a:pPr lvl="1"/>
            <a:r>
              <a:rPr lang="en-US" dirty="0"/>
              <a:t>Linux</a:t>
            </a:r>
          </a:p>
          <a:p>
            <a:pPr lvl="1"/>
            <a:r>
              <a:rPr lang="en-US" dirty="0"/>
              <a:t>macOS</a:t>
            </a:r>
          </a:p>
          <a:p>
            <a:r>
              <a:rPr lang="en-US" dirty="0"/>
              <a:t>The current stable release is MongoDB 8.</a:t>
            </a:r>
            <a:r>
              <a:rPr lang="ro-RO" dirty="0"/>
              <a:t>2</a:t>
            </a:r>
            <a:r>
              <a:rPr lang="en-US" dirty="0"/>
              <a:t>.</a:t>
            </a:r>
            <a:r>
              <a:rPr lang="ro-RO" dirty="0"/>
              <a:t>2</a:t>
            </a:r>
            <a:r>
              <a:rPr lang="en-US" dirty="0"/>
              <a:t>:</a:t>
            </a:r>
          </a:p>
          <a:p>
            <a:pPr marL="45720" indent="0">
              <a:buNone/>
            </a:pPr>
            <a:r>
              <a:rPr lang="en-US" dirty="0"/>
              <a:t>	</a:t>
            </a:r>
            <a:r>
              <a:rPr lang="en-US" dirty="0">
                <a:hlinkClick r:id="rId2"/>
              </a:rPr>
              <a:t>https://www.mongodb.com/try/download/community</a:t>
            </a:r>
            <a:endParaRPr lang="en-US" dirty="0"/>
          </a:p>
          <a:p>
            <a:pPr marL="45720" indent="0">
              <a:buNone/>
            </a:pPr>
            <a:r>
              <a:rPr lang="en-US" dirty="0"/>
              <a:t>MongoDB, Inc. offers free online courses:</a:t>
            </a:r>
          </a:p>
          <a:p>
            <a:pPr marL="45720" indent="0">
              <a:buNone/>
            </a:pPr>
            <a:r>
              <a:rPr lang="en-US" dirty="0"/>
              <a:t>	</a:t>
            </a:r>
            <a:r>
              <a:rPr lang="ro-RO" dirty="0">
                <a:hlinkClick r:id="rId3"/>
              </a:rPr>
              <a:t>https://learn.mongodb.com/</a:t>
            </a:r>
            <a:endParaRPr lang="en-US" dirty="0"/>
          </a:p>
          <a:p>
            <a:pPr marL="45720" indent="0">
              <a:buNone/>
            </a:pPr>
            <a:endParaRPr lang="en-US" dirty="0"/>
          </a:p>
          <a:p>
            <a:endParaRPr lang="en-US" dirty="0"/>
          </a:p>
          <a:p>
            <a:endParaRPr lang="en-US" dirty="0"/>
          </a:p>
        </p:txBody>
      </p:sp>
    </p:spTree>
    <p:extLst>
      <p:ext uri="{BB962C8B-B14F-4D97-AF65-F5344CB8AC3E}">
        <p14:creationId xmlns:p14="http://schemas.microsoft.com/office/powerpoint/2010/main" val="265556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10DA-D1A7-43B5-8E91-A33978268C6F}"/>
              </a:ext>
            </a:extLst>
          </p:cNvPr>
          <p:cNvSpPr>
            <a:spLocks noGrp="1"/>
          </p:cNvSpPr>
          <p:nvPr>
            <p:ph type="title"/>
          </p:nvPr>
        </p:nvSpPr>
        <p:spPr/>
        <p:txBody>
          <a:bodyPr/>
          <a:lstStyle/>
          <a:p>
            <a:r>
              <a:rPr lang="en-US" dirty="0"/>
              <a:t>NoSQL Implementations: MongoDB</a:t>
            </a:r>
            <a:endParaRPr lang="ro-RO" dirty="0"/>
          </a:p>
        </p:txBody>
      </p:sp>
      <p:sp>
        <p:nvSpPr>
          <p:cNvPr id="3" name="Content Placeholder 2">
            <a:extLst>
              <a:ext uri="{FF2B5EF4-FFF2-40B4-BE49-F238E27FC236}">
                <a16:creationId xmlns:a16="http://schemas.microsoft.com/office/drawing/2014/main" id="{232AFD5C-81C5-4396-AA53-E16759986AB2}"/>
              </a:ext>
            </a:extLst>
          </p:cNvPr>
          <p:cNvSpPr>
            <a:spLocks noGrp="1"/>
          </p:cNvSpPr>
          <p:nvPr>
            <p:ph idx="1"/>
          </p:nvPr>
        </p:nvSpPr>
        <p:spPr/>
        <p:txBody>
          <a:bodyPr/>
          <a:lstStyle/>
          <a:p>
            <a:r>
              <a:rPr lang="en-US" dirty="0"/>
              <a:t>If MongoDB was installed as a </a:t>
            </a:r>
            <a:r>
              <a:rPr lang="en-US" b="1" dirty="0"/>
              <a:t>service</a:t>
            </a:r>
            <a:r>
              <a:rPr lang="en-US" dirty="0"/>
              <a:t>, the </a:t>
            </a:r>
            <a:r>
              <a:rPr lang="en-US" i="1" dirty="0" err="1"/>
              <a:t>mongod</a:t>
            </a:r>
            <a:r>
              <a:rPr lang="en-US" dirty="0"/>
              <a:t> instance is already running, so you just have to connect to it using </a:t>
            </a:r>
            <a:r>
              <a:rPr lang="en-US" b="1" dirty="0" err="1"/>
              <a:t>mongosh</a:t>
            </a:r>
            <a:r>
              <a:rPr lang="en-US" b="1" dirty="0"/>
              <a:t> </a:t>
            </a:r>
            <a:r>
              <a:rPr lang="en-US" dirty="0"/>
              <a:t>or </a:t>
            </a:r>
            <a:r>
              <a:rPr lang="en-US" b="1" dirty="0"/>
              <a:t>MongoDB Compass:</a:t>
            </a:r>
          </a:p>
          <a:p>
            <a:endParaRPr lang="ro-RO" dirty="0"/>
          </a:p>
        </p:txBody>
      </p:sp>
      <p:pic>
        <p:nvPicPr>
          <p:cNvPr id="5" name="Picture 4">
            <a:extLst>
              <a:ext uri="{FF2B5EF4-FFF2-40B4-BE49-F238E27FC236}">
                <a16:creationId xmlns:a16="http://schemas.microsoft.com/office/drawing/2014/main" id="{91CDB7B6-4AE6-FB7A-49D4-938E271A1E37}"/>
              </a:ext>
            </a:extLst>
          </p:cNvPr>
          <p:cNvPicPr>
            <a:picLocks noChangeAspect="1"/>
          </p:cNvPicPr>
          <p:nvPr/>
        </p:nvPicPr>
        <p:blipFill>
          <a:blip r:embed="rId2"/>
          <a:stretch>
            <a:fillRect/>
          </a:stretch>
        </p:blipFill>
        <p:spPr>
          <a:xfrm>
            <a:off x="2830704" y="2629823"/>
            <a:ext cx="5228074" cy="4073824"/>
          </a:xfrm>
          <a:prstGeom prst="rect">
            <a:avLst/>
          </a:prstGeom>
        </p:spPr>
      </p:pic>
    </p:spTree>
    <p:extLst>
      <p:ext uri="{BB962C8B-B14F-4D97-AF65-F5344CB8AC3E}">
        <p14:creationId xmlns:p14="http://schemas.microsoft.com/office/powerpoint/2010/main" val="203003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FB8E-FAC6-4772-878E-5F3A15A525C3}"/>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67823966-3FEB-432C-99F0-E236F5D1C078}"/>
              </a:ext>
            </a:extLst>
          </p:cNvPr>
          <p:cNvSpPr>
            <a:spLocks noGrp="1"/>
          </p:cNvSpPr>
          <p:nvPr>
            <p:ph idx="1"/>
          </p:nvPr>
        </p:nvSpPr>
        <p:spPr>
          <a:xfrm>
            <a:off x="1261871" y="1828800"/>
            <a:ext cx="9815703" cy="4351337"/>
          </a:xfrm>
        </p:spPr>
        <p:txBody>
          <a:bodyPr/>
          <a:lstStyle/>
          <a:p>
            <a:r>
              <a:rPr lang="en-US" dirty="0"/>
              <a:t>To connect to the MongoDB database server from </a:t>
            </a:r>
            <a:r>
              <a:rPr lang="en-US" b="1" dirty="0" err="1"/>
              <a:t>mongosh</a:t>
            </a:r>
            <a:r>
              <a:rPr lang="en-US" dirty="0"/>
              <a:t>, having </a:t>
            </a:r>
            <a:r>
              <a:rPr lang="en-US" b="1" dirty="0" err="1"/>
              <a:t>mongosh</a:t>
            </a:r>
            <a:r>
              <a:rPr lang="en-US" dirty="0"/>
              <a:t> installed, just open a new Command Prompt window, write </a:t>
            </a:r>
            <a:r>
              <a:rPr lang="en-US" b="1" dirty="0" err="1"/>
              <a:t>mongosh</a:t>
            </a:r>
            <a:r>
              <a:rPr lang="en-US" dirty="0"/>
              <a:t> and press Enter:</a:t>
            </a:r>
          </a:p>
        </p:txBody>
      </p:sp>
      <p:pic>
        <p:nvPicPr>
          <p:cNvPr id="6" name="Picture 5">
            <a:extLst>
              <a:ext uri="{FF2B5EF4-FFF2-40B4-BE49-F238E27FC236}">
                <a16:creationId xmlns:a16="http://schemas.microsoft.com/office/drawing/2014/main" id="{D643F41E-F87B-A0AD-B675-C6B94792212D}"/>
              </a:ext>
            </a:extLst>
          </p:cNvPr>
          <p:cNvPicPr>
            <a:picLocks noChangeAspect="1"/>
          </p:cNvPicPr>
          <p:nvPr/>
        </p:nvPicPr>
        <p:blipFill>
          <a:blip r:embed="rId2"/>
          <a:stretch>
            <a:fillRect/>
          </a:stretch>
        </p:blipFill>
        <p:spPr>
          <a:xfrm>
            <a:off x="2409719" y="2653665"/>
            <a:ext cx="6662843" cy="3838575"/>
          </a:xfrm>
          <a:prstGeom prst="rect">
            <a:avLst/>
          </a:prstGeom>
        </p:spPr>
      </p:pic>
    </p:spTree>
    <p:extLst>
      <p:ext uri="{BB962C8B-B14F-4D97-AF65-F5344CB8AC3E}">
        <p14:creationId xmlns:p14="http://schemas.microsoft.com/office/powerpoint/2010/main" val="121897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3B05-15E0-4128-AF72-97AAB35CE0E8}"/>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9D104844-4E09-4C45-ACB2-107780618069}"/>
              </a:ext>
            </a:extLst>
          </p:cNvPr>
          <p:cNvSpPr>
            <a:spLocks noGrp="1"/>
          </p:cNvSpPr>
          <p:nvPr>
            <p:ph idx="1"/>
          </p:nvPr>
        </p:nvSpPr>
        <p:spPr>
          <a:xfrm>
            <a:off x="1143000" y="2057399"/>
            <a:ext cx="10054883" cy="4555435"/>
          </a:xfrm>
        </p:spPr>
        <p:txBody>
          <a:bodyPr/>
          <a:lstStyle/>
          <a:p>
            <a:r>
              <a:rPr lang="en-US" dirty="0"/>
              <a:t>To display all databases stored on the MongoDB database server, you must write </a:t>
            </a:r>
            <a:r>
              <a:rPr lang="en-US" b="1" dirty="0"/>
              <a:t>show </a:t>
            </a:r>
            <a:r>
              <a:rPr lang="en-US" b="1" dirty="0" err="1"/>
              <a:t>dbs</a:t>
            </a:r>
            <a:r>
              <a:rPr lang="en-US" dirty="0"/>
              <a:t> in </a:t>
            </a:r>
            <a:r>
              <a:rPr lang="en-US" dirty="0" err="1"/>
              <a:t>mongosh</a:t>
            </a:r>
            <a:r>
              <a:rPr lang="en-US" dirty="0"/>
              <a:t> and press Enter:</a:t>
            </a:r>
          </a:p>
          <a:p>
            <a:endParaRPr lang="en-US" dirty="0"/>
          </a:p>
          <a:p>
            <a:endParaRPr lang="en-US" dirty="0"/>
          </a:p>
          <a:p>
            <a:endParaRPr lang="en-US" dirty="0"/>
          </a:p>
          <a:p>
            <a:endParaRPr lang="en-US" dirty="0"/>
          </a:p>
          <a:p>
            <a:r>
              <a:rPr lang="en-US" dirty="0"/>
              <a:t>To connect to a specific database, execute the following command:</a:t>
            </a:r>
          </a:p>
          <a:p>
            <a:pPr marL="45720" indent="0">
              <a:buNone/>
            </a:pPr>
            <a:r>
              <a:rPr lang="en-US" b="1" dirty="0"/>
              <a:t>	use</a:t>
            </a:r>
            <a:r>
              <a:rPr lang="en-US" dirty="0"/>
              <a:t> </a:t>
            </a:r>
            <a:r>
              <a:rPr lang="en-US" dirty="0" err="1"/>
              <a:t>database_name</a:t>
            </a:r>
            <a:endParaRPr lang="en-US" dirty="0"/>
          </a:p>
          <a:p>
            <a:r>
              <a:rPr lang="en-US" dirty="0"/>
              <a:t>By default, you are connected to a database called “test”</a:t>
            </a:r>
          </a:p>
          <a:p>
            <a:endParaRPr lang="en-US" dirty="0"/>
          </a:p>
        </p:txBody>
      </p:sp>
      <p:pic>
        <p:nvPicPr>
          <p:cNvPr id="5" name="Picture 4">
            <a:extLst>
              <a:ext uri="{FF2B5EF4-FFF2-40B4-BE49-F238E27FC236}">
                <a16:creationId xmlns:a16="http://schemas.microsoft.com/office/drawing/2014/main" id="{8D3C141E-385A-4511-9CE0-767151758DED}"/>
              </a:ext>
            </a:extLst>
          </p:cNvPr>
          <p:cNvPicPr>
            <a:picLocks noChangeAspect="1"/>
          </p:cNvPicPr>
          <p:nvPr/>
        </p:nvPicPr>
        <p:blipFill>
          <a:blip r:embed="rId2"/>
          <a:stretch>
            <a:fillRect/>
          </a:stretch>
        </p:blipFill>
        <p:spPr>
          <a:xfrm>
            <a:off x="1516013" y="2886075"/>
            <a:ext cx="2577685" cy="1698590"/>
          </a:xfrm>
          <a:prstGeom prst="rect">
            <a:avLst/>
          </a:prstGeom>
        </p:spPr>
      </p:pic>
    </p:spTree>
    <p:extLst>
      <p:ext uri="{BB962C8B-B14F-4D97-AF65-F5344CB8AC3E}">
        <p14:creationId xmlns:p14="http://schemas.microsoft.com/office/powerpoint/2010/main" val="3897464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7DD9E-D0AA-41DE-AEE1-07009AB9BC81}"/>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9E27A799-D48F-42FF-AE32-3905C04D14F3}"/>
              </a:ext>
            </a:extLst>
          </p:cNvPr>
          <p:cNvSpPr>
            <a:spLocks noGrp="1"/>
          </p:cNvSpPr>
          <p:nvPr>
            <p:ph idx="1"/>
          </p:nvPr>
        </p:nvSpPr>
        <p:spPr>
          <a:xfrm>
            <a:off x="1261872" y="1828800"/>
            <a:ext cx="9596628" cy="4351337"/>
          </a:xfrm>
        </p:spPr>
        <p:txBody>
          <a:bodyPr/>
          <a:lstStyle/>
          <a:p>
            <a:r>
              <a:rPr lang="en-US" dirty="0"/>
              <a:t>To display all collections from the current database, write </a:t>
            </a:r>
            <a:r>
              <a:rPr lang="en-US" b="1" dirty="0"/>
              <a:t>show collections</a:t>
            </a:r>
            <a:r>
              <a:rPr lang="en-US" dirty="0"/>
              <a:t> in </a:t>
            </a:r>
            <a:r>
              <a:rPr lang="en-US" dirty="0" err="1"/>
              <a:t>mongosh</a:t>
            </a:r>
            <a:r>
              <a:rPr lang="en-US" b="1" dirty="0"/>
              <a:t> </a:t>
            </a:r>
            <a:r>
              <a:rPr lang="en-US" dirty="0"/>
              <a:t>and press Enter:</a:t>
            </a:r>
          </a:p>
          <a:p>
            <a:endParaRPr lang="en-US" dirty="0"/>
          </a:p>
          <a:p>
            <a:endParaRPr lang="en-US" dirty="0"/>
          </a:p>
          <a:p>
            <a:r>
              <a:rPr lang="en-US" dirty="0"/>
              <a:t>A collection of documents is similar to a relational table, but it has a flexible schema </a:t>
            </a:r>
          </a:p>
          <a:p>
            <a:r>
              <a:rPr lang="en-US" dirty="0"/>
              <a:t>A document is similar to a row from a relational table, but it has a rich structure (it allows complex structures like embedded documents or arrays to be stored as values for keys)</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128CBC37-EDED-4126-8972-CCE99FD5C634}"/>
              </a:ext>
            </a:extLst>
          </p:cNvPr>
          <p:cNvPicPr>
            <a:picLocks noChangeAspect="1"/>
          </p:cNvPicPr>
          <p:nvPr/>
        </p:nvPicPr>
        <p:blipFill>
          <a:blip r:embed="rId2"/>
          <a:stretch>
            <a:fillRect/>
          </a:stretch>
        </p:blipFill>
        <p:spPr>
          <a:xfrm>
            <a:off x="1572453" y="2544417"/>
            <a:ext cx="2743646" cy="781878"/>
          </a:xfrm>
          <a:prstGeom prst="rect">
            <a:avLst/>
          </a:prstGeom>
        </p:spPr>
      </p:pic>
    </p:spTree>
    <p:extLst>
      <p:ext uri="{BB962C8B-B14F-4D97-AF65-F5344CB8AC3E}">
        <p14:creationId xmlns:p14="http://schemas.microsoft.com/office/powerpoint/2010/main" val="2059417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E556-182F-402B-AEF2-7666574A3A85}"/>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A5F7F5AC-201C-4486-B66F-A7CFFA797BE8}"/>
              </a:ext>
            </a:extLst>
          </p:cNvPr>
          <p:cNvSpPr>
            <a:spLocks noGrp="1"/>
          </p:cNvSpPr>
          <p:nvPr>
            <p:ph idx="1"/>
          </p:nvPr>
        </p:nvSpPr>
        <p:spPr/>
        <p:txBody>
          <a:bodyPr/>
          <a:lstStyle/>
          <a:p>
            <a:r>
              <a:rPr lang="en-US" dirty="0"/>
              <a:t>Problem at hand:</a:t>
            </a:r>
          </a:p>
          <a:p>
            <a:r>
              <a:rPr lang="en-US" dirty="0"/>
              <a:t>Create a database for a web application that belongs to the blog category. This database stores data about users and their posts. Each user has a username, a password and an email address. Each post has a title, a body, a publish date, an author and a list of comments. Each comment has an author, a body and a publish date. One user can have many posts, but each post belongs to a single user (author). A comment belongs to a single user (author), but a user can have many comments. A post can have many comments, but a comment belongs to a single post. </a:t>
            </a:r>
          </a:p>
        </p:txBody>
      </p:sp>
    </p:spTree>
    <p:extLst>
      <p:ext uri="{BB962C8B-B14F-4D97-AF65-F5344CB8AC3E}">
        <p14:creationId xmlns:p14="http://schemas.microsoft.com/office/powerpoint/2010/main" val="764711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245A2-00E0-4894-9316-AE9CDC60AB03}"/>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E4532D14-5356-4C77-9D22-8BE48C843247}"/>
              </a:ext>
            </a:extLst>
          </p:cNvPr>
          <p:cNvSpPr>
            <a:spLocks noGrp="1"/>
          </p:cNvSpPr>
          <p:nvPr>
            <p:ph idx="1"/>
          </p:nvPr>
        </p:nvSpPr>
        <p:spPr/>
        <p:txBody>
          <a:bodyPr/>
          <a:lstStyle/>
          <a:p>
            <a:r>
              <a:rPr lang="en-US" dirty="0"/>
              <a:t>Solution – Microsoft SQL Server</a:t>
            </a:r>
          </a:p>
        </p:txBody>
      </p:sp>
      <p:pic>
        <p:nvPicPr>
          <p:cNvPr id="4" name="Picture 3">
            <a:extLst>
              <a:ext uri="{FF2B5EF4-FFF2-40B4-BE49-F238E27FC236}">
                <a16:creationId xmlns:a16="http://schemas.microsoft.com/office/drawing/2014/main" id="{4F8EE026-82DF-407F-A7D7-883BE1474432}"/>
              </a:ext>
            </a:extLst>
          </p:cNvPr>
          <p:cNvPicPr>
            <a:picLocks noChangeAspect="1"/>
          </p:cNvPicPr>
          <p:nvPr/>
        </p:nvPicPr>
        <p:blipFill>
          <a:blip r:embed="rId2"/>
          <a:stretch>
            <a:fillRect/>
          </a:stretch>
        </p:blipFill>
        <p:spPr>
          <a:xfrm>
            <a:off x="1287999" y="2597688"/>
            <a:ext cx="4467225" cy="3829050"/>
          </a:xfrm>
          <a:prstGeom prst="rect">
            <a:avLst/>
          </a:prstGeom>
        </p:spPr>
      </p:pic>
    </p:spTree>
    <p:extLst>
      <p:ext uri="{BB962C8B-B14F-4D97-AF65-F5344CB8AC3E}">
        <p14:creationId xmlns:p14="http://schemas.microsoft.com/office/powerpoint/2010/main" val="249361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C4F1-4FC1-4F7C-9D75-457A2F7B4B1C}"/>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C4BC4CC9-BA46-4567-ABCE-3E479405BF8A}"/>
              </a:ext>
            </a:extLst>
          </p:cNvPr>
          <p:cNvSpPr>
            <a:spLocks noGrp="1"/>
          </p:cNvSpPr>
          <p:nvPr>
            <p:ph idx="1"/>
          </p:nvPr>
        </p:nvSpPr>
        <p:spPr>
          <a:xfrm>
            <a:off x="1143000" y="2057400"/>
            <a:ext cx="10078375" cy="4502426"/>
          </a:xfrm>
        </p:spPr>
        <p:txBody>
          <a:bodyPr/>
          <a:lstStyle/>
          <a:p>
            <a:r>
              <a:rPr lang="en-US" dirty="0"/>
              <a:t>The relational version of the database contains three tables: </a:t>
            </a:r>
            <a:r>
              <a:rPr lang="en-US" b="1" dirty="0"/>
              <a:t>Users</a:t>
            </a:r>
            <a:r>
              <a:rPr lang="en-US" dirty="0"/>
              <a:t>, </a:t>
            </a:r>
            <a:r>
              <a:rPr lang="en-US" b="1" dirty="0"/>
              <a:t>Posts</a:t>
            </a:r>
            <a:r>
              <a:rPr lang="en-US" dirty="0"/>
              <a:t> and </a:t>
            </a:r>
            <a:r>
              <a:rPr lang="en-US" b="1" dirty="0"/>
              <a:t>Comments</a:t>
            </a:r>
          </a:p>
          <a:p>
            <a:r>
              <a:rPr lang="en-US" dirty="0"/>
              <a:t>There is a </a:t>
            </a:r>
            <a:r>
              <a:rPr lang="en-US" b="1" dirty="0"/>
              <a:t>one to many </a:t>
            </a:r>
            <a:r>
              <a:rPr lang="en-US" dirty="0"/>
              <a:t>relationship between </a:t>
            </a:r>
            <a:r>
              <a:rPr lang="en-US" b="1" dirty="0"/>
              <a:t>Users</a:t>
            </a:r>
            <a:r>
              <a:rPr lang="en-US" dirty="0"/>
              <a:t> and </a:t>
            </a:r>
            <a:r>
              <a:rPr lang="en-US" b="1" dirty="0"/>
              <a:t>Posts</a:t>
            </a:r>
            <a:r>
              <a:rPr lang="en-US" dirty="0"/>
              <a:t> (one user can have many posts, but one post belongs to a single user)</a:t>
            </a:r>
          </a:p>
          <a:p>
            <a:r>
              <a:rPr lang="en-US" dirty="0"/>
              <a:t>There is a </a:t>
            </a:r>
            <a:r>
              <a:rPr lang="en-US" b="1" dirty="0"/>
              <a:t>one to many </a:t>
            </a:r>
            <a:r>
              <a:rPr lang="en-US" dirty="0"/>
              <a:t>relationship between </a:t>
            </a:r>
            <a:r>
              <a:rPr lang="en-US" b="1" dirty="0"/>
              <a:t>Users</a:t>
            </a:r>
            <a:r>
              <a:rPr lang="en-US" dirty="0"/>
              <a:t> and </a:t>
            </a:r>
            <a:r>
              <a:rPr lang="en-US" b="1" dirty="0"/>
              <a:t>Comments</a:t>
            </a:r>
            <a:r>
              <a:rPr lang="en-US" dirty="0"/>
              <a:t> (one user can have many comments, but one comment belongs to a single user)</a:t>
            </a:r>
          </a:p>
          <a:p>
            <a:r>
              <a:rPr lang="en-US" dirty="0"/>
              <a:t>There is a </a:t>
            </a:r>
            <a:r>
              <a:rPr lang="en-US" b="1" dirty="0"/>
              <a:t>one to many </a:t>
            </a:r>
            <a:r>
              <a:rPr lang="en-US" dirty="0"/>
              <a:t>relationship between </a:t>
            </a:r>
            <a:r>
              <a:rPr lang="en-US" b="1" dirty="0"/>
              <a:t>Posts</a:t>
            </a:r>
            <a:r>
              <a:rPr lang="en-US" dirty="0"/>
              <a:t> and </a:t>
            </a:r>
            <a:r>
              <a:rPr lang="en-US" b="1" dirty="0"/>
              <a:t>Comments </a:t>
            </a:r>
            <a:r>
              <a:rPr lang="en-US" dirty="0"/>
              <a:t>(one post can have many comments, but one comment belongs to a single post)</a:t>
            </a:r>
          </a:p>
          <a:p>
            <a:r>
              <a:rPr lang="en-US" dirty="0"/>
              <a:t>There is also a </a:t>
            </a:r>
            <a:r>
              <a:rPr lang="en-US" b="1" dirty="0"/>
              <a:t>unique constraint </a:t>
            </a:r>
            <a:r>
              <a:rPr lang="en-US" dirty="0"/>
              <a:t>defined on the column “username”, because generally, the username is unique</a:t>
            </a:r>
          </a:p>
        </p:txBody>
      </p:sp>
    </p:spTree>
    <p:extLst>
      <p:ext uri="{BB962C8B-B14F-4D97-AF65-F5344CB8AC3E}">
        <p14:creationId xmlns:p14="http://schemas.microsoft.com/office/powerpoint/2010/main" val="2592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189B-E3E3-4C05-8B07-6394C07F39E2}"/>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E7EB9AA4-D7A1-4057-83A8-B9104B67B60A}"/>
              </a:ext>
            </a:extLst>
          </p:cNvPr>
          <p:cNvSpPr>
            <a:spLocks noGrp="1"/>
          </p:cNvSpPr>
          <p:nvPr>
            <p:ph idx="1"/>
          </p:nvPr>
        </p:nvSpPr>
        <p:spPr>
          <a:xfrm>
            <a:off x="1143000" y="2057400"/>
            <a:ext cx="9872871" cy="4800600"/>
          </a:xfrm>
        </p:spPr>
        <p:txBody>
          <a:bodyPr>
            <a:normAutofit fontScale="92500" lnSpcReduction="10000"/>
          </a:bodyPr>
          <a:lstStyle/>
          <a:p>
            <a:r>
              <a:rPr lang="en-US" dirty="0"/>
              <a:t>The SQL script used to generate </a:t>
            </a:r>
            <a:r>
              <a:rPr lang="ro-RO" dirty="0"/>
              <a:t>the database and its</a:t>
            </a:r>
            <a:r>
              <a:rPr lang="en-US" dirty="0"/>
              <a:t> tables:</a:t>
            </a:r>
          </a:p>
          <a:p>
            <a:pPr marL="45720" indent="0">
              <a:buNone/>
            </a:pPr>
            <a:r>
              <a:rPr lang="en-US" dirty="0"/>
              <a:t>	</a:t>
            </a:r>
            <a:r>
              <a:rPr lang="en-US" dirty="0">
                <a:latin typeface="Consolas" panose="020B0609020204030204" pitchFamily="49" charset="0"/>
              </a:rPr>
              <a:t>CREATE DATABASE Blog;</a:t>
            </a:r>
          </a:p>
          <a:p>
            <a:pPr marL="45720" indent="0">
              <a:buNone/>
            </a:pPr>
            <a:r>
              <a:rPr lang="en-US" dirty="0">
                <a:latin typeface="Consolas" panose="020B0609020204030204" pitchFamily="49" charset="0"/>
              </a:rPr>
              <a:t>	GO</a:t>
            </a:r>
          </a:p>
          <a:p>
            <a:pPr marL="45720" indent="0">
              <a:buNone/>
            </a:pPr>
            <a:r>
              <a:rPr lang="en-US" dirty="0">
                <a:latin typeface="Consolas" panose="020B0609020204030204" pitchFamily="49" charset="0"/>
              </a:rPr>
              <a:t>	USE Blog;</a:t>
            </a:r>
          </a:p>
          <a:p>
            <a:pPr marL="45720" indent="0">
              <a:buNone/>
            </a:pPr>
            <a:r>
              <a:rPr lang="en-US" dirty="0">
                <a:latin typeface="Consolas" panose="020B0609020204030204" pitchFamily="49" charset="0"/>
              </a:rPr>
              <a:t>	--Table Users</a:t>
            </a:r>
          </a:p>
          <a:p>
            <a:pPr marL="45720" indent="0">
              <a:buNone/>
            </a:pPr>
            <a:r>
              <a:rPr lang="en-US" dirty="0">
                <a:latin typeface="Consolas" panose="020B0609020204030204" pitchFamily="49" charset="0"/>
              </a:rPr>
              <a:t>	CREATE TABLE Users</a:t>
            </a:r>
          </a:p>
          <a:p>
            <a:pPr marL="45720" indent="0">
              <a:buNone/>
            </a:pPr>
            <a:r>
              <a:rPr lang="en-US" dirty="0">
                <a:latin typeface="Consolas" panose="020B0609020204030204" pitchFamily="49" charset="0"/>
              </a:rPr>
              <a:t>	(</a:t>
            </a:r>
            <a:r>
              <a:rPr lang="en-US" dirty="0" err="1">
                <a:latin typeface="Consolas" panose="020B0609020204030204" pitchFamily="49" charset="0"/>
              </a:rPr>
              <a:t>user_id</a:t>
            </a:r>
            <a:r>
              <a:rPr lang="en-US" dirty="0">
                <a:latin typeface="Consolas" panose="020B0609020204030204" pitchFamily="49" charset="0"/>
              </a:rPr>
              <a:t> INT PRIMARY KEY IDENTITY,</a:t>
            </a:r>
          </a:p>
          <a:p>
            <a:pPr marL="45720" indent="0">
              <a:buNone/>
            </a:pPr>
            <a:r>
              <a:rPr lang="en-US" dirty="0">
                <a:latin typeface="Consolas" panose="020B0609020204030204" pitchFamily="49" charset="0"/>
              </a:rPr>
              <a:t>	username VARCHAR(100) UNIQUE,</a:t>
            </a:r>
          </a:p>
          <a:p>
            <a:pPr marL="45720" indent="0">
              <a:buNone/>
            </a:pPr>
            <a:r>
              <a:rPr lang="en-US" dirty="0">
                <a:latin typeface="Consolas" panose="020B0609020204030204" pitchFamily="49" charset="0"/>
              </a:rPr>
              <a:t>	password VARCHAR(50),</a:t>
            </a:r>
          </a:p>
          <a:p>
            <a:pPr marL="45720" indent="0">
              <a:buNone/>
            </a:pPr>
            <a:r>
              <a:rPr lang="en-US" dirty="0">
                <a:latin typeface="Consolas" panose="020B0609020204030204" pitchFamily="49" charset="0"/>
              </a:rPr>
              <a:t>	email VARCHAR(100)</a:t>
            </a:r>
          </a:p>
          <a:p>
            <a:pPr marL="45720" indent="0">
              <a:buNone/>
            </a:pP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213794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C7CB-DD60-4903-99CD-307200691341}"/>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B13C7756-3514-48BA-9AC3-29B2F36B134A}"/>
              </a:ext>
            </a:extLst>
          </p:cNvPr>
          <p:cNvSpPr>
            <a:spLocks noGrp="1"/>
          </p:cNvSpPr>
          <p:nvPr>
            <p:ph idx="1"/>
          </p:nvPr>
        </p:nvSpPr>
        <p:spPr>
          <a:xfrm>
            <a:off x="1143000" y="2057399"/>
            <a:ext cx="9872871" cy="4542183"/>
          </a:xfrm>
        </p:spPr>
        <p:txBody>
          <a:bodyPr/>
          <a:lstStyle/>
          <a:p>
            <a:pPr marL="45720" indent="0">
              <a:buNone/>
            </a:pPr>
            <a:r>
              <a:rPr lang="en-US" dirty="0"/>
              <a:t>	</a:t>
            </a:r>
            <a:r>
              <a:rPr lang="en-US" dirty="0">
                <a:latin typeface="Consolas" panose="020B0609020204030204" pitchFamily="49" charset="0"/>
              </a:rPr>
              <a:t>--Table Posts</a:t>
            </a:r>
          </a:p>
          <a:p>
            <a:pPr marL="45720" indent="0">
              <a:buNone/>
            </a:pPr>
            <a:r>
              <a:rPr lang="en-US" dirty="0">
                <a:latin typeface="Consolas" panose="020B0609020204030204" pitchFamily="49" charset="0"/>
              </a:rPr>
              <a:t>	CREATE TABLE Posts</a:t>
            </a:r>
          </a:p>
          <a:p>
            <a:pPr marL="45720" indent="0">
              <a:buNone/>
            </a:pPr>
            <a:r>
              <a:rPr lang="en-US" dirty="0">
                <a:latin typeface="Consolas" panose="020B0609020204030204" pitchFamily="49" charset="0"/>
              </a:rPr>
              <a:t>	(</a:t>
            </a:r>
            <a:r>
              <a:rPr lang="en-US" dirty="0" err="1">
                <a:latin typeface="Consolas" panose="020B0609020204030204" pitchFamily="49" charset="0"/>
              </a:rPr>
              <a:t>post_id</a:t>
            </a:r>
            <a:r>
              <a:rPr lang="en-US" dirty="0">
                <a:latin typeface="Consolas" panose="020B0609020204030204" pitchFamily="49" charset="0"/>
              </a:rPr>
              <a:t> INT PRIMARY KEY IDENTITY,</a:t>
            </a:r>
          </a:p>
          <a:p>
            <a:pPr marL="45720" indent="0">
              <a:buNone/>
            </a:pPr>
            <a:r>
              <a:rPr lang="en-US" dirty="0">
                <a:latin typeface="Consolas" panose="020B0609020204030204" pitchFamily="49" charset="0"/>
              </a:rPr>
              <a:t>	title VARCHAR(200),</a:t>
            </a:r>
          </a:p>
          <a:p>
            <a:pPr marL="45720" indent="0">
              <a:buNone/>
            </a:pPr>
            <a:r>
              <a:rPr lang="en-US" dirty="0">
                <a:latin typeface="Consolas" panose="020B0609020204030204" pitchFamily="49" charset="0"/>
              </a:rPr>
              <a:t>	body VARCHAR(MAX),</a:t>
            </a:r>
          </a:p>
          <a:p>
            <a:pPr marL="45720" indent="0">
              <a:buNone/>
            </a:pPr>
            <a:r>
              <a:rPr lang="en-US" dirty="0">
                <a:latin typeface="Consolas" panose="020B0609020204030204" pitchFamily="49" charset="0"/>
              </a:rPr>
              <a:t>	</a:t>
            </a:r>
            <a:r>
              <a:rPr lang="en-US" dirty="0" err="1">
                <a:latin typeface="Consolas" panose="020B0609020204030204" pitchFamily="49" charset="0"/>
              </a:rPr>
              <a:t>author_id</a:t>
            </a:r>
            <a:r>
              <a:rPr lang="en-US" dirty="0">
                <a:latin typeface="Consolas" panose="020B0609020204030204" pitchFamily="49" charset="0"/>
              </a:rPr>
              <a:t> INT FOREIGN KEY REFERENCES Users(</a:t>
            </a:r>
            <a:r>
              <a:rPr lang="en-US" dirty="0" err="1">
                <a:latin typeface="Consolas" panose="020B0609020204030204" pitchFamily="49" charset="0"/>
              </a:rPr>
              <a:t>user_id</a:t>
            </a:r>
            <a:r>
              <a:rPr lang="en-US" dirty="0">
                <a:latin typeface="Consolas" panose="020B0609020204030204" pitchFamily="49" charset="0"/>
              </a:rPr>
              <a:t>),</a:t>
            </a:r>
          </a:p>
          <a:p>
            <a:pPr marL="45720" indent="0">
              <a:buNone/>
            </a:pPr>
            <a:r>
              <a:rPr lang="en-US" dirty="0">
                <a:latin typeface="Consolas" panose="020B0609020204030204" pitchFamily="49" charset="0"/>
              </a:rPr>
              <a:t>	</a:t>
            </a:r>
            <a:r>
              <a:rPr lang="en-US" dirty="0" err="1">
                <a:latin typeface="Consolas" panose="020B0609020204030204" pitchFamily="49" charset="0"/>
              </a:rPr>
              <a:t>publish_date</a:t>
            </a:r>
            <a:r>
              <a:rPr lang="en-US" dirty="0">
                <a:latin typeface="Consolas" panose="020B0609020204030204" pitchFamily="49" charset="0"/>
              </a:rPr>
              <a:t> DATETIME</a:t>
            </a:r>
          </a:p>
          <a:p>
            <a:pPr marL="45720" indent="0">
              <a:buNone/>
            </a:pP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182140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CE88-9889-484B-B6A9-9CED29F11D3C}"/>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8D1DCB58-1439-4FE3-989D-F8703DFABEF7}"/>
              </a:ext>
            </a:extLst>
          </p:cNvPr>
          <p:cNvSpPr>
            <a:spLocks noGrp="1"/>
          </p:cNvSpPr>
          <p:nvPr>
            <p:ph idx="1"/>
          </p:nvPr>
        </p:nvSpPr>
        <p:spPr>
          <a:xfrm>
            <a:off x="1143000" y="2057399"/>
            <a:ext cx="9872871" cy="4449417"/>
          </a:xfrm>
        </p:spPr>
        <p:txBody>
          <a:bodyPr/>
          <a:lstStyle/>
          <a:p>
            <a:pPr marL="45720" indent="0">
              <a:buNone/>
            </a:pPr>
            <a:r>
              <a:rPr lang="en-US" dirty="0"/>
              <a:t>	</a:t>
            </a:r>
            <a:r>
              <a:rPr lang="en-US" dirty="0">
                <a:latin typeface="Consolas" panose="020B0609020204030204" pitchFamily="49" charset="0"/>
              </a:rPr>
              <a:t>--Table Comments</a:t>
            </a:r>
          </a:p>
          <a:p>
            <a:pPr marL="45720" indent="0">
              <a:buNone/>
            </a:pPr>
            <a:r>
              <a:rPr lang="en-US" dirty="0">
                <a:latin typeface="Consolas" panose="020B0609020204030204" pitchFamily="49" charset="0"/>
              </a:rPr>
              <a:t>	CREATE TABLE Comments</a:t>
            </a:r>
          </a:p>
          <a:p>
            <a:pPr marL="45720" indent="0">
              <a:buNone/>
            </a:pPr>
            <a:r>
              <a:rPr lang="en-US" dirty="0">
                <a:latin typeface="Consolas" panose="020B0609020204030204" pitchFamily="49" charset="0"/>
              </a:rPr>
              <a:t>	(</a:t>
            </a:r>
            <a:r>
              <a:rPr lang="en-US" dirty="0" err="1">
                <a:latin typeface="Consolas" panose="020B0609020204030204" pitchFamily="49" charset="0"/>
              </a:rPr>
              <a:t>comment_id</a:t>
            </a:r>
            <a:r>
              <a:rPr lang="en-US" dirty="0">
                <a:latin typeface="Consolas" panose="020B0609020204030204" pitchFamily="49" charset="0"/>
              </a:rPr>
              <a:t> INT PRIMARY KEY IDENTITY,</a:t>
            </a:r>
          </a:p>
          <a:p>
            <a:pPr marL="45720" indent="0">
              <a:buNone/>
            </a:pPr>
            <a:r>
              <a:rPr lang="en-US" dirty="0">
                <a:latin typeface="Consolas" panose="020B0609020204030204" pitchFamily="49" charset="0"/>
              </a:rPr>
              <a:t>	body VARCHAR(1000),</a:t>
            </a:r>
          </a:p>
          <a:p>
            <a:pPr marL="45720" indent="0">
              <a:buNone/>
            </a:pPr>
            <a:r>
              <a:rPr lang="en-US" dirty="0">
                <a:latin typeface="Consolas" panose="020B0609020204030204" pitchFamily="49" charset="0"/>
              </a:rPr>
              <a:t>	</a:t>
            </a:r>
            <a:r>
              <a:rPr lang="en-US" dirty="0" err="1">
                <a:latin typeface="Consolas" panose="020B0609020204030204" pitchFamily="49" charset="0"/>
              </a:rPr>
              <a:t>publish_date</a:t>
            </a:r>
            <a:r>
              <a:rPr lang="en-US" dirty="0">
                <a:latin typeface="Consolas" panose="020B0609020204030204" pitchFamily="49" charset="0"/>
              </a:rPr>
              <a:t> DATETIME,</a:t>
            </a:r>
          </a:p>
          <a:p>
            <a:pPr marL="45720" indent="0">
              <a:buNone/>
            </a:pPr>
            <a:r>
              <a:rPr lang="en-US" dirty="0">
                <a:latin typeface="Consolas" panose="020B0609020204030204" pitchFamily="49" charset="0"/>
              </a:rPr>
              <a:t>	</a:t>
            </a:r>
            <a:r>
              <a:rPr lang="en-US" dirty="0" err="1">
                <a:latin typeface="Consolas" panose="020B0609020204030204" pitchFamily="49" charset="0"/>
              </a:rPr>
              <a:t>author_id</a:t>
            </a:r>
            <a:r>
              <a:rPr lang="en-US" dirty="0">
                <a:latin typeface="Consolas" panose="020B0609020204030204" pitchFamily="49" charset="0"/>
              </a:rPr>
              <a:t> INT FOREIGN KEY REFERENCES Users(</a:t>
            </a:r>
            <a:r>
              <a:rPr lang="en-US" dirty="0" err="1">
                <a:latin typeface="Consolas" panose="020B0609020204030204" pitchFamily="49" charset="0"/>
              </a:rPr>
              <a:t>user_id</a:t>
            </a:r>
            <a:r>
              <a:rPr lang="en-US" dirty="0">
                <a:latin typeface="Consolas" panose="020B0609020204030204" pitchFamily="49" charset="0"/>
              </a:rPr>
              <a:t>),</a:t>
            </a:r>
          </a:p>
          <a:p>
            <a:pPr marL="45720" indent="0">
              <a:buNone/>
            </a:pPr>
            <a:r>
              <a:rPr lang="en-US" dirty="0">
                <a:latin typeface="Consolas" panose="020B0609020204030204" pitchFamily="49" charset="0"/>
              </a:rPr>
              <a:t>	</a:t>
            </a:r>
            <a:r>
              <a:rPr lang="en-US" dirty="0" err="1">
                <a:latin typeface="Consolas" panose="020B0609020204030204" pitchFamily="49" charset="0"/>
              </a:rPr>
              <a:t>post_id</a:t>
            </a:r>
            <a:r>
              <a:rPr lang="en-US" dirty="0">
                <a:latin typeface="Consolas" panose="020B0609020204030204" pitchFamily="49" charset="0"/>
              </a:rPr>
              <a:t> INT FOREIGN KEY REFERENCES Posts(</a:t>
            </a:r>
            <a:r>
              <a:rPr lang="en-US" dirty="0" err="1">
                <a:latin typeface="Consolas" panose="020B0609020204030204" pitchFamily="49" charset="0"/>
              </a:rPr>
              <a:t>post_id</a:t>
            </a:r>
            <a:r>
              <a:rPr lang="en-US" dirty="0">
                <a:latin typeface="Consolas" panose="020B0609020204030204" pitchFamily="49" charset="0"/>
              </a:rPr>
              <a:t>)</a:t>
            </a:r>
          </a:p>
          <a:p>
            <a:pPr marL="45720" indent="0">
              <a:buNone/>
            </a:pPr>
            <a:r>
              <a:rPr lang="en-US" dirty="0">
                <a:latin typeface="Consolas" panose="020B0609020204030204" pitchFamily="49" charset="0"/>
              </a:rPr>
              <a:t>	);</a:t>
            </a:r>
          </a:p>
          <a:p>
            <a:pPr marL="45720" indent="0">
              <a:buNone/>
            </a:pPr>
            <a:endParaRPr lang="en-US" dirty="0"/>
          </a:p>
        </p:txBody>
      </p:sp>
    </p:spTree>
    <p:extLst>
      <p:ext uri="{BB962C8B-B14F-4D97-AF65-F5344CB8AC3E}">
        <p14:creationId xmlns:p14="http://schemas.microsoft.com/office/powerpoint/2010/main" val="3862638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61F48-71AA-472D-95DC-A3C429F97155}"/>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C71BF188-4CE7-41B2-8E93-2F76E929B72D}"/>
              </a:ext>
            </a:extLst>
          </p:cNvPr>
          <p:cNvSpPr>
            <a:spLocks noGrp="1"/>
          </p:cNvSpPr>
          <p:nvPr>
            <p:ph idx="1"/>
          </p:nvPr>
        </p:nvSpPr>
        <p:spPr>
          <a:xfrm>
            <a:off x="1143000" y="1855305"/>
            <a:ext cx="9872871" cy="4784034"/>
          </a:xfrm>
        </p:spPr>
        <p:txBody>
          <a:bodyPr>
            <a:normAutofit/>
          </a:bodyPr>
          <a:lstStyle/>
          <a:p>
            <a:r>
              <a:rPr lang="en-US" dirty="0"/>
              <a:t>Solution – MongoDB</a:t>
            </a:r>
          </a:p>
          <a:p>
            <a:r>
              <a:rPr lang="en-US" dirty="0"/>
              <a:t>In MongoDB, a collection has a flexible schema (you don’t have to define the schema when you create a collection)</a:t>
            </a:r>
          </a:p>
          <a:p>
            <a:r>
              <a:rPr lang="en-US" dirty="0"/>
              <a:t>Documents that belong to the same collection can have different schemas (collections do not enforce document structure)</a:t>
            </a:r>
          </a:p>
          <a:p>
            <a:r>
              <a:rPr lang="en-US" dirty="0"/>
              <a:t>MongoDB is a NoSQL implementation, so there is </a:t>
            </a:r>
            <a:r>
              <a:rPr lang="en-US" b="1" dirty="0"/>
              <a:t>no need </a:t>
            </a:r>
            <a:r>
              <a:rPr lang="en-US" dirty="0"/>
              <a:t>for normalization </a:t>
            </a:r>
          </a:p>
          <a:p>
            <a:r>
              <a:rPr lang="en-US" dirty="0"/>
              <a:t>The things you have to think about are the data access pattern and the most frequent queries</a:t>
            </a:r>
          </a:p>
          <a:p>
            <a:r>
              <a:rPr lang="en-US" dirty="0"/>
              <a:t>In MongoDB, a </a:t>
            </a:r>
            <a:r>
              <a:rPr lang="en-US" b="1" dirty="0"/>
              <a:t>one to many </a:t>
            </a:r>
            <a:r>
              <a:rPr lang="en-US" dirty="0"/>
              <a:t>relationship can be modeled in more than one way: </a:t>
            </a:r>
          </a:p>
          <a:p>
            <a:pPr lvl="1"/>
            <a:r>
              <a:rPr lang="en-US" dirty="0"/>
              <a:t>A single collection is created and the documents that belong to the </a:t>
            </a:r>
            <a:r>
              <a:rPr lang="en-US" b="1" dirty="0"/>
              <a:t>many</a:t>
            </a:r>
            <a:r>
              <a:rPr lang="en-US" dirty="0"/>
              <a:t> side of the relationship are embedded in the document that belongs to the </a:t>
            </a:r>
            <a:r>
              <a:rPr lang="en-US" b="1" dirty="0"/>
              <a:t>one</a:t>
            </a:r>
            <a:r>
              <a:rPr lang="en-US" dirty="0"/>
              <a:t> side of the relationship</a:t>
            </a:r>
          </a:p>
          <a:p>
            <a:pPr lvl="1"/>
            <a:r>
              <a:rPr lang="en-US" dirty="0"/>
              <a:t>Two collections are created and each document stored in the collection that belongs to the </a:t>
            </a:r>
            <a:r>
              <a:rPr lang="en-US" b="1" dirty="0"/>
              <a:t>many</a:t>
            </a:r>
            <a:r>
              <a:rPr lang="en-US" dirty="0"/>
              <a:t> side of the relationship contains a reference to a document stored in the collection that belongs to the </a:t>
            </a:r>
            <a:r>
              <a:rPr lang="en-US" b="1" dirty="0"/>
              <a:t>one</a:t>
            </a:r>
            <a:r>
              <a:rPr lang="en-US" dirty="0"/>
              <a:t> side of the relationship (and that field contains the value of the “_id” field)</a:t>
            </a:r>
          </a:p>
        </p:txBody>
      </p:sp>
    </p:spTree>
    <p:extLst>
      <p:ext uri="{BB962C8B-B14F-4D97-AF65-F5344CB8AC3E}">
        <p14:creationId xmlns:p14="http://schemas.microsoft.com/office/powerpoint/2010/main" val="19882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0E8BE-D00F-4DB2-9B5B-0612DB860E2A}"/>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2EAC2910-7648-44CB-BFA9-12B893731CFF}"/>
              </a:ext>
            </a:extLst>
          </p:cNvPr>
          <p:cNvSpPr>
            <a:spLocks noGrp="1"/>
          </p:cNvSpPr>
          <p:nvPr>
            <p:ph idx="1"/>
          </p:nvPr>
        </p:nvSpPr>
        <p:spPr>
          <a:xfrm>
            <a:off x="1143000" y="1842053"/>
            <a:ext cx="9872871" cy="4850296"/>
          </a:xfrm>
        </p:spPr>
        <p:txBody>
          <a:bodyPr>
            <a:normAutofit/>
          </a:bodyPr>
          <a:lstStyle/>
          <a:p>
            <a:r>
              <a:rPr lang="en-US" dirty="0"/>
              <a:t>The “_id” field is the unique identifier that corresponds to each document stored in a collection in MongoDB</a:t>
            </a:r>
          </a:p>
          <a:p>
            <a:r>
              <a:rPr lang="en-US" dirty="0"/>
              <a:t>There are three one to many relationships in our application’s case:</a:t>
            </a:r>
          </a:p>
          <a:p>
            <a:pPr lvl="1"/>
            <a:r>
              <a:rPr lang="en-US" dirty="0"/>
              <a:t>A one to many relationship between Users and Posts</a:t>
            </a:r>
          </a:p>
          <a:p>
            <a:pPr lvl="1"/>
            <a:r>
              <a:rPr lang="en-US" dirty="0"/>
              <a:t>A one to many relationship between Users and Comments</a:t>
            </a:r>
          </a:p>
          <a:p>
            <a:pPr lvl="1"/>
            <a:r>
              <a:rPr lang="en-US" dirty="0"/>
              <a:t>A one to many relationship between Posts and Comments</a:t>
            </a:r>
          </a:p>
          <a:p>
            <a:r>
              <a:rPr lang="en-US" dirty="0"/>
              <a:t>Again, in our application’s case, the portions of data that are accessed together are:</a:t>
            </a:r>
          </a:p>
          <a:p>
            <a:pPr lvl="1"/>
            <a:r>
              <a:rPr lang="en-US" dirty="0"/>
              <a:t>A post and all its comments</a:t>
            </a:r>
          </a:p>
          <a:p>
            <a:pPr lvl="1"/>
            <a:r>
              <a:rPr lang="en-US" dirty="0"/>
              <a:t>All posts written by a user</a:t>
            </a:r>
          </a:p>
          <a:p>
            <a:r>
              <a:rPr lang="en-US" dirty="0"/>
              <a:t>For each post and each comment, only the username is required</a:t>
            </a:r>
          </a:p>
          <a:p>
            <a:r>
              <a:rPr lang="en-US" dirty="0"/>
              <a:t>In this case, the database will contain two collections:</a:t>
            </a:r>
          </a:p>
          <a:p>
            <a:pPr lvl="1"/>
            <a:r>
              <a:rPr lang="en-US" b="1" dirty="0"/>
              <a:t>users</a:t>
            </a:r>
            <a:r>
              <a:rPr lang="en-US" dirty="0"/>
              <a:t> collection</a:t>
            </a:r>
          </a:p>
          <a:p>
            <a:pPr lvl="1"/>
            <a:r>
              <a:rPr lang="en-US" b="1" dirty="0"/>
              <a:t>posts</a:t>
            </a:r>
            <a:r>
              <a:rPr lang="en-US" dirty="0"/>
              <a:t> collection</a:t>
            </a:r>
          </a:p>
        </p:txBody>
      </p:sp>
    </p:spTree>
    <p:extLst>
      <p:ext uri="{BB962C8B-B14F-4D97-AF65-F5344CB8AC3E}">
        <p14:creationId xmlns:p14="http://schemas.microsoft.com/office/powerpoint/2010/main" val="267220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851D-AD46-4E96-BEDC-27BEFAD60456}"/>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B6B51D80-94B2-4FEA-B1EA-7F62DB79E917}"/>
              </a:ext>
            </a:extLst>
          </p:cNvPr>
          <p:cNvSpPr>
            <a:spLocks noGrp="1"/>
          </p:cNvSpPr>
          <p:nvPr>
            <p:ph idx="1"/>
          </p:nvPr>
        </p:nvSpPr>
        <p:spPr>
          <a:xfrm>
            <a:off x="1143000" y="2057400"/>
            <a:ext cx="9872871" cy="4634948"/>
          </a:xfrm>
        </p:spPr>
        <p:txBody>
          <a:bodyPr/>
          <a:lstStyle/>
          <a:p>
            <a:r>
              <a:rPr lang="en-US" dirty="0"/>
              <a:t>In MongoDB, each document contains the “_id” field by default</a:t>
            </a:r>
          </a:p>
          <a:p>
            <a:r>
              <a:rPr lang="en-US" dirty="0"/>
              <a:t>The “_id” field represents the unique identifier of each document at collection level (similar to a primary key)</a:t>
            </a:r>
          </a:p>
          <a:p>
            <a:r>
              <a:rPr lang="en-US" dirty="0"/>
              <a:t>MongoDB assigns a value for the “_id” field that is unique at collection level (if there is no value specified when the document is inserted)</a:t>
            </a:r>
          </a:p>
          <a:p>
            <a:r>
              <a:rPr lang="en-US" dirty="0"/>
              <a:t>The username will be specified as value for the “_id” field for every document inserted in the </a:t>
            </a:r>
            <a:r>
              <a:rPr lang="en-US" b="1" dirty="0"/>
              <a:t>users</a:t>
            </a:r>
            <a:r>
              <a:rPr lang="en-US" dirty="0"/>
              <a:t> collection (the username must be unique and will be used as a reference in the </a:t>
            </a:r>
            <a:r>
              <a:rPr lang="en-US" b="1" dirty="0"/>
              <a:t>posts</a:t>
            </a:r>
            <a:r>
              <a:rPr lang="en-US" dirty="0"/>
              <a:t> collection)</a:t>
            </a:r>
          </a:p>
          <a:p>
            <a:r>
              <a:rPr lang="en-US" dirty="0"/>
              <a:t>When a post or a comment is displayed, only the username of its author is required (in this case, the value stored as reference can be used directly)</a:t>
            </a:r>
          </a:p>
        </p:txBody>
      </p:sp>
    </p:spTree>
    <p:extLst>
      <p:ext uri="{BB962C8B-B14F-4D97-AF65-F5344CB8AC3E}">
        <p14:creationId xmlns:p14="http://schemas.microsoft.com/office/powerpoint/2010/main" val="63110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5CC60-E479-4F17-9990-DB9F3EF58BE9}"/>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630DA084-EF58-40B1-B4E7-F7976932DCED}"/>
              </a:ext>
            </a:extLst>
          </p:cNvPr>
          <p:cNvSpPr>
            <a:spLocks noGrp="1"/>
          </p:cNvSpPr>
          <p:nvPr>
            <p:ph idx="1"/>
          </p:nvPr>
        </p:nvSpPr>
        <p:spPr/>
        <p:txBody>
          <a:bodyPr/>
          <a:lstStyle/>
          <a:p>
            <a:r>
              <a:rPr lang="en-US" dirty="0"/>
              <a:t>A document that belongs to the </a:t>
            </a:r>
            <a:r>
              <a:rPr lang="en-US" b="1" dirty="0"/>
              <a:t>users</a:t>
            </a:r>
            <a:r>
              <a:rPr lang="en-US" dirty="0"/>
              <a:t> collection:</a:t>
            </a:r>
          </a:p>
          <a:p>
            <a:endParaRPr lang="ro-RO" dirty="0"/>
          </a:p>
          <a:p>
            <a:pPr marL="45720" indent="0">
              <a:buNone/>
            </a:pPr>
            <a:r>
              <a:rPr lang="en-US" dirty="0"/>
              <a:t>	</a:t>
            </a:r>
            <a:r>
              <a:rPr lang="en-US" dirty="0">
                <a:latin typeface="Consolas" panose="020B0609020204030204" pitchFamily="49" charset="0"/>
              </a:rPr>
              <a:t>{</a:t>
            </a:r>
          </a:p>
          <a:p>
            <a:pPr marL="45720" indent="0">
              <a:buNone/>
            </a:pPr>
            <a:r>
              <a:rPr lang="en-US" dirty="0">
                <a:latin typeface="Consolas" panose="020B0609020204030204" pitchFamily="49" charset="0"/>
              </a:rPr>
              <a:t>	"_id" : "Bob",</a:t>
            </a:r>
          </a:p>
          <a:p>
            <a:pPr marL="45720" indent="0">
              <a:buNone/>
            </a:pPr>
            <a:r>
              <a:rPr lang="en-US" dirty="0">
                <a:latin typeface="Consolas" panose="020B0609020204030204" pitchFamily="49" charset="0"/>
              </a:rPr>
              <a:t>	"password" : "233567",</a:t>
            </a:r>
          </a:p>
          <a:p>
            <a:pPr marL="45720" indent="0">
              <a:buNone/>
            </a:pPr>
            <a:r>
              <a:rPr lang="en-US" dirty="0">
                <a:latin typeface="Consolas" panose="020B0609020204030204" pitchFamily="49" charset="0"/>
              </a:rPr>
              <a:t>	"email" : "bob@gmail.com"</a:t>
            </a:r>
          </a:p>
          <a:p>
            <a:pPr marL="45720" indent="0">
              <a:buNone/>
            </a:pP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406432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E603D-861F-4CC2-8CFE-5979D8209D07}"/>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543E16ED-3C14-482B-A344-832606397B57}"/>
              </a:ext>
            </a:extLst>
          </p:cNvPr>
          <p:cNvSpPr>
            <a:spLocks noGrp="1"/>
          </p:cNvSpPr>
          <p:nvPr>
            <p:ph idx="1"/>
          </p:nvPr>
        </p:nvSpPr>
        <p:spPr>
          <a:xfrm>
            <a:off x="1143000" y="2057400"/>
            <a:ext cx="9872871" cy="4528930"/>
          </a:xfrm>
        </p:spPr>
        <p:txBody>
          <a:bodyPr>
            <a:normAutofit fontScale="85000" lnSpcReduction="20000"/>
          </a:bodyPr>
          <a:lstStyle/>
          <a:p>
            <a:r>
              <a:rPr lang="en-US" dirty="0"/>
              <a:t>A document that belongs to the </a:t>
            </a:r>
            <a:r>
              <a:rPr lang="en-US" b="1" dirty="0"/>
              <a:t>posts</a:t>
            </a:r>
            <a:r>
              <a:rPr lang="en-US" dirty="0"/>
              <a:t> collection:</a:t>
            </a:r>
          </a:p>
          <a:p>
            <a:pPr marL="45720" indent="0">
              <a:buNone/>
            </a:pPr>
            <a:r>
              <a:rPr lang="ro-RO" dirty="0"/>
              <a:t>	</a:t>
            </a:r>
            <a:r>
              <a:rPr lang="en-US" dirty="0">
                <a:latin typeface="Consolas" panose="020B0609020204030204" pitchFamily="49" charset="0"/>
              </a:rPr>
              <a:t>{"_id" : </a:t>
            </a:r>
            <a:r>
              <a:rPr lang="en-US" dirty="0" err="1">
                <a:latin typeface="Consolas" panose="020B0609020204030204" pitchFamily="49" charset="0"/>
              </a:rPr>
              <a:t>ObjectId</a:t>
            </a:r>
            <a:r>
              <a:rPr lang="en-US" dirty="0">
                <a:latin typeface="Consolas" panose="020B0609020204030204" pitchFamily="49" charset="0"/>
              </a:rPr>
              <a:t>("5a53b2c51d2f5a15e12d3109"),</a:t>
            </a:r>
          </a:p>
          <a:p>
            <a:pPr marL="45720" indent="0">
              <a:buNone/>
            </a:pPr>
            <a:r>
              <a:rPr lang="ro-RO" dirty="0">
                <a:latin typeface="Consolas" panose="020B0609020204030204" pitchFamily="49" charset="0"/>
              </a:rPr>
              <a:t>	</a:t>
            </a:r>
            <a:r>
              <a:rPr lang="en-US" dirty="0">
                <a:latin typeface="Consolas" panose="020B0609020204030204" pitchFamily="49" charset="0"/>
              </a:rPr>
              <a:t> "title"</a:t>
            </a:r>
            <a:r>
              <a:rPr lang="ro-RO" dirty="0">
                <a:latin typeface="Consolas" panose="020B0609020204030204" pitchFamily="49" charset="0"/>
              </a:rPr>
              <a:t> </a:t>
            </a:r>
            <a:r>
              <a:rPr lang="en-US" dirty="0">
                <a:latin typeface="Consolas" panose="020B0609020204030204" pitchFamily="49" charset="0"/>
              </a:rPr>
              <a:t>: "A sunny day",</a:t>
            </a:r>
          </a:p>
          <a:p>
            <a:pPr marL="45720" indent="0">
              <a:buNone/>
            </a:pPr>
            <a:r>
              <a:rPr lang="ro-RO" dirty="0">
                <a:latin typeface="Consolas" panose="020B0609020204030204" pitchFamily="49" charset="0"/>
              </a:rPr>
              <a:t>	</a:t>
            </a:r>
            <a:r>
              <a:rPr lang="en-US" dirty="0">
                <a:latin typeface="Consolas" panose="020B0609020204030204" pitchFamily="49" charset="0"/>
              </a:rPr>
              <a:t> "author" : "Bob",</a:t>
            </a:r>
          </a:p>
          <a:p>
            <a:pPr marL="45720" indent="0">
              <a:buNone/>
            </a:pPr>
            <a:r>
              <a:rPr lang="ro-RO" dirty="0">
                <a:latin typeface="Consolas" panose="020B0609020204030204" pitchFamily="49" charset="0"/>
              </a:rPr>
              <a:t>	</a:t>
            </a:r>
            <a:r>
              <a:rPr lang="en-US" dirty="0">
                <a:latin typeface="Consolas" panose="020B0609020204030204" pitchFamily="49" charset="0"/>
              </a:rPr>
              <a:t> "body" : "In a sunny day, I saw a nice flower</a:t>
            </a:r>
            <a:r>
              <a:rPr lang="ro-RO" dirty="0">
                <a:latin typeface="Consolas" panose="020B0609020204030204" pitchFamily="49" charset="0"/>
              </a:rPr>
              <a:t>…….</a:t>
            </a:r>
            <a:r>
              <a:rPr lang="en-US" dirty="0">
                <a:latin typeface="Consolas" panose="020B0609020204030204" pitchFamily="49" charset="0"/>
              </a:rPr>
              <a:t>"</a:t>
            </a:r>
            <a:r>
              <a:rPr lang="ro-RO" dirty="0">
                <a:latin typeface="Consolas" panose="020B0609020204030204" pitchFamily="49" charset="0"/>
              </a:rPr>
              <a:t>,</a:t>
            </a:r>
            <a:endParaRPr lang="en-US" dirty="0">
              <a:latin typeface="Consolas" panose="020B0609020204030204" pitchFamily="49" charset="0"/>
            </a:endParaRPr>
          </a:p>
          <a:p>
            <a:pPr marL="45720" indent="0">
              <a:buNone/>
            </a:pPr>
            <a:r>
              <a:rPr lang="ro-RO" dirty="0">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publish_date</a:t>
            </a:r>
            <a:r>
              <a:rPr lang="en-US" dirty="0">
                <a:latin typeface="Consolas" panose="020B0609020204030204" pitchFamily="49" charset="0"/>
              </a:rPr>
              <a:t>" :  </a:t>
            </a:r>
            <a:r>
              <a:rPr lang="en-US" dirty="0" err="1">
                <a:latin typeface="Consolas" panose="020B0609020204030204" pitchFamily="49" charset="0"/>
              </a:rPr>
              <a:t>ISODate</a:t>
            </a:r>
            <a:r>
              <a:rPr lang="en-US" dirty="0">
                <a:latin typeface="Consolas" panose="020B0609020204030204" pitchFamily="49" charset="0"/>
              </a:rPr>
              <a:t>("2018-01-08T18:04:00Z"),</a:t>
            </a:r>
          </a:p>
          <a:p>
            <a:pPr marL="45720" indent="0">
              <a:buNone/>
            </a:pPr>
            <a:r>
              <a:rPr lang="ro-RO" dirty="0">
                <a:latin typeface="Consolas" panose="020B0609020204030204" pitchFamily="49" charset="0"/>
              </a:rPr>
              <a:t>	</a:t>
            </a:r>
            <a:r>
              <a:rPr lang="en-US" dirty="0">
                <a:latin typeface="Consolas" panose="020B0609020204030204" pitchFamily="49" charset="0"/>
              </a:rPr>
              <a:t> "comments" : [ </a:t>
            </a:r>
          </a:p>
          <a:p>
            <a:pPr marL="4572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{"author"</a:t>
            </a:r>
            <a:r>
              <a:rPr lang="ro-RO" dirty="0">
                <a:latin typeface="Consolas" panose="020B0609020204030204" pitchFamily="49" charset="0"/>
              </a:rPr>
              <a:t> </a:t>
            </a:r>
            <a:r>
              <a:rPr lang="en-US" dirty="0">
                <a:latin typeface="Consolas" panose="020B0609020204030204" pitchFamily="49" charset="0"/>
              </a:rPr>
              <a:t>: "Tom", </a:t>
            </a:r>
          </a:p>
          <a:p>
            <a:pPr marL="4572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"body" : "Nice post ", </a:t>
            </a:r>
          </a:p>
          <a:p>
            <a:pPr marL="4572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publish_date</a:t>
            </a:r>
            <a:r>
              <a:rPr lang="en-US" dirty="0">
                <a:latin typeface="Consolas" panose="020B0609020204030204" pitchFamily="49" charset="0"/>
              </a:rPr>
              <a:t>"</a:t>
            </a:r>
            <a:r>
              <a:rPr lang="ro-RO" dirty="0">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ISODate</a:t>
            </a:r>
            <a:r>
              <a:rPr lang="en-US" dirty="0">
                <a:latin typeface="Consolas" panose="020B0609020204030204" pitchFamily="49" charset="0"/>
              </a:rPr>
              <a:t>("2018-01-08T19:04:00Z")</a:t>
            </a:r>
          </a:p>
          <a:p>
            <a:pPr marL="4572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 </a:t>
            </a:r>
          </a:p>
          <a:p>
            <a:pPr marL="45720" indent="0">
              <a:buNone/>
            </a:pPr>
            <a:r>
              <a:rPr lang="ro-RO" dirty="0">
                <a:latin typeface="Consolas" panose="020B0609020204030204" pitchFamily="49" charset="0"/>
              </a:rPr>
              <a:t>	</a:t>
            </a:r>
            <a:r>
              <a:rPr lang="en-US" dirty="0">
                <a:latin typeface="Consolas" panose="020B0609020204030204" pitchFamily="49" charset="0"/>
              </a:rPr>
              <a:t>}</a:t>
            </a:r>
          </a:p>
          <a:p>
            <a:endParaRPr lang="en-US" dirty="0"/>
          </a:p>
        </p:txBody>
      </p:sp>
    </p:spTree>
    <p:extLst>
      <p:ext uri="{BB962C8B-B14F-4D97-AF65-F5344CB8AC3E}">
        <p14:creationId xmlns:p14="http://schemas.microsoft.com/office/powerpoint/2010/main" val="276127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79B8-03B2-42A6-84EA-307D107FA794}"/>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F73D4A5A-4D6B-494B-9CDC-40621142B883}"/>
              </a:ext>
            </a:extLst>
          </p:cNvPr>
          <p:cNvSpPr>
            <a:spLocks noGrp="1"/>
          </p:cNvSpPr>
          <p:nvPr>
            <p:ph idx="1"/>
          </p:nvPr>
        </p:nvSpPr>
        <p:spPr>
          <a:xfrm>
            <a:off x="1261871" y="1828800"/>
            <a:ext cx="9510903" cy="4351337"/>
          </a:xfrm>
        </p:spPr>
        <p:txBody>
          <a:bodyPr>
            <a:normAutofit/>
          </a:bodyPr>
          <a:lstStyle/>
          <a:p>
            <a:r>
              <a:rPr lang="en-US" dirty="0"/>
              <a:t>In MongoDB there are no constraints or relationships between collections</a:t>
            </a:r>
          </a:p>
          <a:p>
            <a:r>
              <a:rPr lang="en-US" dirty="0"/>
              <a:t>Document references stored in a document that belongs to another collection are not verified at the database level</a:t>
            </a:r>
          </a:p>
          <a:p>
            <a:r>
              <a:rPr lang="en-US" dirty="0"/>
              <a:t>There is no support for JOINs, so if JOINs are required, they must be implemented at the application level, as they are not available at the database level (a variant of JOIN - $lookup exists in the Aggregation Framework but works only on collections that are stored in the same database)</a:t>
            </a:r>
          </a:p>
          <a:p>
            <a:r>
              <a:rPr lang="en-US" dirty="0"/>
              <a:t>In our application’s case, all comments that belong to a post are stored as an array of embedded documents that corresponds to the “comments” field</a:t>
            </a:r>
          </a:p>
          <a:p>
            <a:endParaRPr lang="en-US" dirty="0"/>
          </a:p>
        </p:txBody>
      </p:sp>
    </p:spTree>
    <p:extLst>
      <p:ext uri="{BB962C8B-B14F-4D97-AF65-F5344CB8AC3E}">
        <p14:creationId xmlns:p14="http://schemas.microsoft.com/office/powerpoint/2010/main" val="43130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A88C-6013-4596-A337-2CE119C46A5C}"/>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47BA1B0F-F921-48EE-9AE3-4C1A39BDFE3D}"/>
              </a:ext>
            </a:extLst>
          </p:cNvPr>
          <p:cNvSpPr>
            <a:spLocks noGrp="1"/>
          </p:cNvSpPr>
          <p:nvPr>
            <p:ph idx="1"/>
          </p:nvPr>
        </p:nvSpPr>
        <p:spPr>
          <a:xfrm>
            <a:off x="1143001" y="2057399"/>
            <a:ext cx="9874188" cy="4396409"/>
          </a:xfrm>
        </p:spPr>
        <p:txBody>
          <a:bodyPr/>
          <a:lstStyle/>
          <a:p>
            <a:r>
              <a:rPr lang="en-US" b="1" dirty="0"/>
              <a:t>How to insert a new user</a:t>
            </a:r>
            <a:r>
              <a:rPr lang="en-US" dirty="0"/>
              <a:t>:</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ro-RO" dirty="0">
                <a:latin typeface="Consolas" panose="020B0609020204030204" pitchFamily="49" charset="0"/>
              </a:rPr>
              <a:t>INSERT INTO U</a:t>
            </a:r>
            <a:r>
              <a:rPr lang="en-US" dirty="0" err="1">
                <a:latin typeface="Consolas" panose="020B0609020204030204" pitchFamily="49" charset="0"/>
              </a:rPr>
              <a:t>sers</a:t>
            </a:r>
            <a:r>
              <a:rPr lang="ro-RO" dirty="0">
                <a:latin typeface="Consolas" panose="020B0609020204030204" pitchFamily="49" charset="0"/>
              </a:rPr>
              <a:t> (</a:t>
            </a:r>
            <a:r>
              <a:rPr lang="en-US" dirty="0">
                <a:latin typeface="Consolas" panose="020B0609020204030204" pitchFamily="49" charset="0"/>
              </a:rPr>
              <a:t>username</a:t>
            </a:r>
            <a:r>
              <a:rPr lang="ro-RO" dirty="0">
                <a:latin typeface="Consolas" panose="020B0609020204030204" pitchFamily="49" charset="0"/>
              </a:rPr>
              <a:t>, pa</a:t>
            </a:r>
            <a:r>
              <a:rPr lang="en-US" dirty="0" err="1">
                <a:latin typeface="Consolas" panose="020B0609020204030204" pitchFamily="49" charset="0"/>
              </a:rPr>
              <a:t>ssword</a:t>
            </a:r>
            <a:r>
              <a:rPr lang="ro-RO" dirty="0">
                <a:latin typeface="Consolas" panose="020B0609020204030204" pitchFamily="49" charset="0"/>
              </a:rPr>
              <a:t>, email) </a:t>
            </a:r>
            <a:endParaRPr lang="en-US" dirty="0">
              <a:latin typeface="Consolas" panose="020B0609020204030204" pitchFamily="49" charset="0"/>
            </a:endParaRPr>
          </a:p>
          <a:p>
            <a:pPr marL="274320" lvl="1" indent="0">
              <a:buNone/>
            </a:pPr>
            <a:r>
              <a:rPr lang="en-US" dirty="0">
                <a:latin typeface="Consolas" panose="020B0609020204030204" pitchFamily="49" charset="0"/>
              </a:rPr>
              <a:t>	</a:t>
            </a:r>
            <a:r>
              <a:rPr lang="ro-RO" dirty="0">
                <a:latin typeface="Consolas" panose="020B0609020204030204" pitchFamily="49" charset="0"/>
              </a:rPr>
              <a:t>VALUES (</a:t>
            </a:r>
            <a:r>
              <a:rPr lang="en-US" dirty="0">
                <a:latin typeface="Consolas" panose="020B0609020204030204" pitchFamily="49" charset="0"/>
              </a:rPr>
              <a:t>'Bob', '233567', 'bob@gmail.com');</a:t>
            </a:r>
          </a:p>
          <a:p>
            <a:pPr lvl="1"/>
            <a:r>
              <a:rPr lang="en-US" b="1" dirty="0">
                <a:solidFill>
                  <a:srgbClr val="00B050"/>
                </a:solidFill>
              </a:rPr>
              <a:t>MongoDB</a:t>
            </a:r>
            <a:r>
              <a:rPr lang="en-US" dirty="0"/>
              <a:t>:</a:t>
            </a:r>
          </a:p>
          <a:p>
            <a:pPr marL="274320" lvl="1" indent="0">
              <a:buNone/>
            </a:pPr>
            <a:r>
              <a:rPr lang="en-US" dirty="0"/>
              <a:t>	</a:t>
            </a:r>
            <a:r>
              <a:rPr lang="en-US" sz="1400" dirty="0" err="1">
                <a:latin typeface="Consolas" panose="020B0609020204030204" pitchFamily="49" charset="0"/>
              </a:rPr>
              <a:t>db.users.insertOne</a:t>
            </a:r>
            <a:r>
              <a:rPr lang="en-US" sz="1400" dirty="0">
                <a:latin typeface="Consolas" panose="020B0609020204030204" pitchFamily="49" charset="0"/>
              </a:rPr>
              <a:t>({"_id" : "Bob", "password" : "233567", "email" : "bob@gmail.com"})</a:t>
            </a:r>
            <a:endParaRPr lang="en-US" dirty="0">
              <a:latin typeface="Consolas" panose="020B0609020204030204" pitchFamily="49" charset="0"/>
            </a:endParaRPr>
          </a:p>
          <a:p>
            <a:r>
              <a:rPr lang="en-US" b="1" dirty="0"/>
              <a:t>How to insert a new post</a:t>
            </a:r>
            <a:r>
              <a:rPr lang="en-US" dirty="0"/>
              <a:t>:</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ro-RO" dirty="0">
                <a:latin typeface="Consolas" panose="020B0609020204030204" pitchFamily="49" charset="0"/>
              </a:rPr>
              <a:t>INSERT INTO Pos</a:t>
            </a:r>
            <a:r>
              <a:rPr lang="en-US" dirty="0" err="1">
                <a:latin typeface="Consolas" panose="020B0609020204030204" pitchFamily="49" charset="0"/>
              </a:rPr>
              <a:t>ts</a:t>
            </a:r>
            <a:r>
              <a:rPr lang="ro-RO" dirty="0">
                <a:latin typeface="Consolas" panose="020B0609020204030204" pitchFamily="49" charset="0"/>
              </a:rPr>
              <a:t> (titl</a:t>
            </a:r>
            <a:r>
              <a:rPr lang="en-US" dirty="0">
                <a:latin typeface="Consolas" panose="020B0609020204030204" pitchFamily="49" charset="0"/>
              </a:rPr>
              <a:t>e</a:t>
            </a:r>
            <a:r>
              <a:rPr lang="ro-RO" dirty="0">
                <a:latin typeface="Consolas" panose="020B0609020204030204" pitchFamily="49" charset="0"/>
              </a:rPr>
              <a:t>, </a:t>
            </a:r>
            <a:r>
              <a:rPr lang="en-US" dirty="0">
                <a:latin typeface="Consolas" panose="020B0609020204030204" pitchFamily="49" charset="0"/>
              </a:rPr>
              <a:t>body</a:t>
            </a:r>
            <a:r>
              <a:rPr lang="ro-RO" dirty="0">
                <a:latin typeface="Consolas" panose="020B0609020204030204" pitchFamily="49" charset="0"/>
              </a:rPr>
              <a:t>, aut</a:t>
            </a:r>
            <a:r>
              <a:rPr lang="en-US" dirty="0">
                <a:latin typeface="Consolas" panose="020B0609020204030204" pitchFamily="49" charset="0"/>
              </a:rPr>
              <a:t>h</a:t>
            </a:r>
            <a:r>
              <a:rPr lang="ro-RO" dirty="0">
                <a:latin typeface="Consolas" panose="020B0609020204030204" pitchFamily="49" charset="0"/>
              </a:rPr>
              <a:t>or</a:t>
            </a:r>
            <a:r>
              <a:rPr lang="en-US" dirty="0">
                <a:latin typeface="Consolas" panose="020B0609020204030204" pitchFamily="49" charset="0"/>
              </a:rPr>
              <a:t>_id</a:t>
            </a:r>
            <a:r>
              <a:rPr lang="ro-RO" dirty="0">
                <a:latin typeface="Consolas" panose="020B0609020204030204" pitchFamily="49" charset="0"/>
              </a:rPr>
              <a:t>, </a:t>
            </a:r>
            <a:r>
              <a:rPr lang="en-US" dirty="0" err="1">
                <a:latin typeface="Consolas" panose="020B0609020204030204" pitchFamily="49" charset="0"/>
              </a:rPr>
              <a:t>publish_date</a:t>
            </a:r>
            <a:r>
              <a:rPr lang="ro-RO" dirty="0">
                <a:latin typeface="Consolas" panose="020B0609020204030204" pitchFamily="49" charset="0"/>
              </a:rPr>
              <a:t>) VALUES </a:t>
            </a:r>
            <a:endParaRPr lang="en-US" dirty="0">
              <a:latin typeface="Consolas" panose="020B0609020204030204" pitchFamily="49" charset="0"/>
            </a:endParaRPr>
          </a:p>
          <a:p>
            <a:pPr marL="274320" lvl="1" indent="0">
              <a:buNone/>
            </a:pPr>
            <a:r>
              <a:rPr lang="en-US" dirty="0">
                <a:latin typeface="Consolas" panose="020B0609020204030204" pitchFamily="49" charset="0"/>
              </a:rPr>
              <a:t>	</a:t>
            </a:r>
            <a:r>
              <a:rPr lang="ro-RO" dirty="0">
                <a:latin typeface="Consolas" panose="020B0609020204030204" pitchFamily="49" charset="0"/>
              </a:rPr>
              <a:t>(</a:t>
            </a:r>
            <a:r>
              <a:rPr lang="en-US" dirty="0">
                <a:latin typeface="Consolas" panose="020B0609020204030204" pitchFamily="49" charset="0"/>
              </a:rPr>
              <a:t>'A sunny day', 'In a sunny day, I saw a nice flower</a:t>
            </a:r>
            <a:r>
              <a:rPr lang="ro-RO" dirty="0">
                <a:latin typeface="Consolas" panose="020B0609020204030204" pitchFamily="49" charset="0"/>
              </a:rPr>
              <a:t>…….</a:t>
            </a:r>
            <a:r>
              <a:rPr lang="en-US" dirty="0">
                <a:latin typeface="Consolas" panose="020B0609020204030204" pitchFamily="49" charset="0"/>
              </a:rPr>
              <a:t>', 1, GETDATE());</a:t>
            </a:r>
          </a:p>
        </p:txBody>
      </p:sp>
    </p:spTree>
    <p:extLst>
      <p:ext uri="{BB962C8B-B14F-4D97-AF65-F5344CB8AC3E}">
        <p14:creationId xmlns:p14="http://schemas.microsoft.com/office/powerpoint/2010/main" val="1507445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E1BC-CFF3-476E-AA75-FFA7BBA92B8B}"/>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63828CCE-22FC-4A20-B190-76337DE481D1}"/>
              </a:ext>
            </a:extLst>
          </p:cNvPr>
          <p:cNvSpPr>
            <a:spLocks noGrp="1"/>
          </p:cNvSpPr>
          <p:nvPr>
            <p:ph idx="1"/>
          </p:nvPr>
        </p:nvSpPr>
        <p:spPr>
          <a:xfrm>
            <a:off x="1143000" y="2057400"/>
            <a:ext cx="9872871" cy="4515678"/>
          </a:xfrm>
        </p:spPr>
        <p:txBody>
          <a:bodyPr/>
          <a:lstStyle/>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db.posts.insertOne</a:t>
            </a:r>
            <a:r>
              <a:rPr lang="en-US" dirty="0">
                <a:latin typeface="Consolas" panose="020B0609020204030204" pitchFamily="49" charset="0"/>
              </a:rPr>
              <a:t>({"title" : "A sunny day", "author" : "Bob", "body" : "In a 	sunny day, I saw a nice flower</a:t>
            </a:r>
            <a:r>
              <a:rPr lang="ro-RO" dirty="0">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publish_date</a:t>
            </a:r>
            <a:r>
              <a:rPr lang="en-US" dirty="0">
                <a:latin typeface="Consolas" panose="020B0609020204030204" pitchFamily="49" charset="0"/>
              </a:rPr>
              <a:t>" :  new Date()} ) </a:t>
            </a:r>
          </a:p>
          <a:p>
            <a:r>
              <a:rPr lang="en-US" b="1" dirty="0"/>
              <a:t>How to insert a new comment</a:t>
            </a:r>
            <a:r>
              <a:rPr lang="en-US" dirty="0"/>
              <a:t>:</a:t>
            </a:r>
          </a:p>
          <a:p>
            <a:pPr lvl="1"/>
            <a:r>
              <a:rPr lang="en-US" b="1" dirty="0">
                <a:solidFill>
                  <a:schemeClr val="tx2">
                    <a:lumMod val="60000"/>
                    <a:lumOff val="40000"/>
                  </a:schemeClr>
                </a:solidFill>
              </a:rPr>
              <a:t>Microsoft SQL Server</a:t>
            </a:r>
            <a:r>
              <a:rPr lang="en-US" dirty="0"/>
              <a:t>:</a:t>
            </a:r>
          </a:p>
          <a:p>
            <a:pPr marL="548640" lvl="2" indent="0">
              <a:buNone/>
            </a:pPr>
            <a:r>
              <a:rPr lang="en-US" dirty="0"/>
              <a:t>	</a:t>
            </a:r>
            <a:r>
              <a:rPr lang="ro-RO" dirty="0">
                <a:latin typeface="Consolas" panose="020B0609020204030204" pitchFamily="49" charset="0"/>
              </a:rPr>
              <a:t>INSERT INTO Com</a:t>
            </a:r>
            <a:r>
              <a:rPr lang="en-US" dirty="0">
                <a:latin typeface="Consolas" panose="020B0609020204030204" pitchFamily="49" charset="0"/>
              </a:rPr>
              <a:t>m</a:t>
            </a:r>
            <a:r>
              <a:rPr lang="ro-RO" dirty="0">
                <a:latin typeface="Consolas" panose="020B0609020204030204" pitchFamily="49" charset="0"/>
              </a:rPr>
              <a:t>ent</a:t>
            </a:r>
            <a:r>
              <a:rPr lang="en-US" dirty="0">
                <a:latin typeface="Consolas" panose="020B0609020204030204" pitchFamily="49" charset="0"/>
              </a:rPr>
              <a:t>s</a:t>
            </a:r>
            <a:r>
              <a:rPr lang="ro-RO" dirty="0">
                <a:latin typeface="Consolas" panose="020B0609020204030204" pitchFamily="49" charset="0"/>
              </a:rPr>
              <a:t> (</a:t>
            </a:r>
            <a:r>
              <a:rPr lang="en-US" dirty="0">
                <a:latin typeface="Consolas" panose="020B0609020204030204" pitchFamily="49" charset="0"/>
              </a:rPr>
              <a:t>body, </a:t>
            </a:r>
            <a:r>
              <a:rPr lang="en-US" dirty="0" err="1">
                <a:latin typeface="Consolas" panose="020B0609020204030204" pitchFamily="49" charset="0"/>
              </a:rPr>
              <a:t>publish_date</a:t>
            </a:r>
            <a:r>
              <a:rPr lang="en-US" dirty="0">
                <a:latin typeface="Consolas" panose="020B0609020204030204" pitchFamily="49" charset="0"/>
              </a:rPr>
              <a:t>, </a:t>
            </a:r>
            <a:r>
              <a:rPr lang="en-US" dirty="0" err="1">
                <a:latin typeface="Consolas" panose="020B0609020204030204" pitchFamily="49" charset="0"/>
              </a:rPr>
              <a:t>author_id</a:t>
            </a:r>
            <a:r>
              <a:rPr lang="en-US" dirty="0">
                <a:latin typeface="Consolas" panose="020B0609020204030204" pitchFamily="49" charset="0"/>
              </a:rPr>
              <a:t>, </a:t>
            </a:r>
            <a:r>
              <a:rPr lang="en-US" dirty="0" err="1">
                <a:latin typeface="Consolas" panose="020B0609020204030204" pitchFamily="49" charset="0"/>
              </a:rPr>
              <a:t>post_id</a:t>
            </a:r>
            <a:r>
              <a:rPr lang="en-US" dirty="0">
                <a:latin typeface="Consolas" panose="020B0609020204030204" pitchFamily="49" charset="0"/>
              </a:rPr>
              <a:t>) </a:t>
            </a:r>
          </a:p>
          <a:p>
            <a:pPr marL="548640" lvl="2" indent="0">
              <a:buNone/>
            </a:pPr>
            <a:r>
              <a:rPr lang="en-US" dirty="0">
                <a:latin typeface="Consolas" panose="020B0609020204030204" pitchFamily="49" charset="0"/>
              </a:rPr>
              <a:t>	VALUES ('Nice post', GETDATE(), 2, 1);</a:t>
            </a:r>
          </a:p>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db.posts.updateOne</a:t>
            </a:r>
            <a:r>
              <a:rPr lang="en-US" dirty="0">
                <a:latin typeface="Consolas" panose="020B0609020204030204" pitchFamily="49" charset="0"/>
              </a:rPr>
              <a:t>({"title" : "A sunny day"}, {$push:{"comments" : {"author" : 	"Tom", "body" : "Nice post", "</a:t>
            </a:r>
            <a:r>
              <a:rPr lang="en-US" dirty="0" err="1">
                <a:latin typeface="Consolas" panose="020B0609020204030204" pitchFamily="49" charset="0"/>
              </a:rPr>
              <a:t>publish_date</a:t>
            </a:r>
            <a:r>
              <a:rPr lang="en-US" dirty="0">
                <a:latin typeface="Consolas" panose="020B0609020204030204" pitchFamily="49" charset="0"/>
              </a:rPr>
              <a:t>" : new Date()}}})</a:t>
            </a:r>
          </a:p>
          <a:p>
            <a:pPr marL="274320" lvl="1" indent="0">
              <a:buNone/>
            </a:pPr>
            <a:endParaRPr lang="en-US" dirty="0"/>
          </a:p>
          <a:p>
            <a:pPr lvl="1"/>
            <a:endParaRPr lang="en-US" dirty="0"/>
          </a:p>
        </p:txBody>
      </p:sp>
    </p:spTree>
    <p:extLst>
      <p:ext uri="{BB962C8B-B14F-4D97-AF65-F5344CB8AC3E}">
        <p14:creationId xmlns:p14="http://schemas.microsoft.com/office/powerpoint/2010/main" val="48535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5943-D4A2-4E90-97E6-3A43D82F0F52}"/>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68ADF705-EAB2-4806-9CBD-B42A1F1442C9}"/>
              </a:ext>
            </a:extLst>
          </p:cNvPr>
          <p:cNvSpPr>
            <a:spLocks noGrp="1"/>
          </p:cNvSpPr>
          <p:nvPr>
            <p:ph idx="1"/>
          </p:nvPr>
        </p:nvSpPr>
        <p:spPr>
          <a:xfrm>
            <a:off x="1143000" y="2057400"/>
            <a:ext cx="9872871" cy="4475922"/>
          </a:xfrm>
        </p:spPr>
        <p:txBody>
          <a:bodyPr/>
          <a:lstStyle/>
          <a:p>
            <a:r>
              <a:rPr lang="en-US" b="1" dirty="0"/>
              <a:t>How to return all us</a:t>
            </a:r>
            <a:r>
              <a:rPr lang="en-US" dirty="0"/>
              <a:t>ers:</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en-US" dirty="0">
                <a:latin typeface="Consolas" panose="020B0609020204030204" pitchFamily="49" charset="0"/>
              </a:rPr>
              <a:t>SELECT * FROM Users;</a:t>
            </a:r>
          </a:p>
          <a:p>
            <a:pPr lvl="1"/>
            <a:r>
              <a:rPr lang="en-US" dirty="0"/>
              <a:t>Result:</a:t>
            </a:r>
          </a:p>
          <a:p>
            <a:pPr lvl="1"/>
            <a:endParaRPr lang="en-US" dirty="0"/>
          </a:p>
          <a:p>
            <a:pPr lvl="1"/>
            <a:endParaRPr lang="en-US" dirty="0"/>
          </a:p>
          <a:p>
            <a:pPr lvl="1"/>
            <a:endParaRPr lang="en-US" dirty="0"/>
          </a:p>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db.users.find</a:t>
            </a:r>
            <a:r>
              <a:rPr lang="en-US" dirty="0">
                <a:latin typeface="Consolas" panose="020B0609020204030204" pitchFamily="49" charset="0"/>
              </a:rPr>
              <a:t>().pretty()</a:t>
            </a:r>
          </a:p>
          <a:p>
            <a:pPr lvl="1"/>
            <a:r>
              <a:rPr lang="en-US" dirty="0"/>
              <a:t>Result:</a:t>
            </a:r>
          </a:p>
          <a:p>
            <a:pPr lvl="1"/>
            <a:endParaRPr lang="en-US" dirty="0"/>
          </a:p>
        </p:txBody>
      </p:sp>
      <p:pic>
        <p:nvPicPr>
          <p:cNvPr id="4" name="Picture 3">
            <a:extLst>
              <a:ext uri="{FF2B5EF4-FFF2-40B4-BE49-F238E27FC236}">
                <a16:creationId xmlns:a16="http://schemas.microsoft.com/office/drawing/2014/main" id="{3E251AFA-57CA-4C8D-95C9-B2843A710765}"/>
              </a:ext>
            </a:extLst>
          </p:cNvPr>
          <p:cNvPicPr>
            <a:picLocks noChangeAspect="1"/>
          </p:cNvPicPr>
          <p:nvPr/>
        </p:nvPicPr>
        <p:blipFill>
          <a:blip r:embed="rId2"/>
          <a:stretch>
            <a:fillRect/>
          </a:stretch>
        </p:blipFill>
        <p:spPr>
          <a:xfrm>
            <a:off x="1643683" y="3257757"/>
            <a:ext cx="4133072" cy="823913"/>
          </a:xfrm>
          <a:prstGeom prst="rect">
            <a:avLst/>
          </a:prstGeom>
        </p:spPr>
      </p:pic>
      <p:pic>
        <p:nvPicPr>
          <p:cNvPr id="6" name="Picture 5">
            <a:extLst>
              <a:ext uri="{FF2B5EF4-FFF2-40B4-BE49-F238E27FC236}">
                <a16:creationId xmlns:a16="http://schemas.microsoft.com/office/drawing/2014/main" id="{97CD54FB-2903-4C26-81B3-9A8A928DBBB2}"/>
              </a:ext>
            </a:extLst>
          </p:cNvPr>
          <p:cNvPicPr>
            <a:picLocks noChangeAspect="1"/>
          </p:cNvPicPr>
          <p:nvPr/>
        </p:nvPicPr>
        <p:blipFill>
          <a:blip r:embed="rId3"/>
          <a:stretch>
            <a:fillRect/>
          </a:stretch>
        </p:blipFill>
        <p:spPr>
          <a:xfrm>
            <a:off x="1643683" y="5754134"/>
            <a:ext cx="7712352" cy="563975"/>
          </a:xfrm>
          <a:prstGeom prst="rect">
            <a:avLst/>
          </a:prstGeom>
        </p:spPr>
      </p:pic>
    </p:spTree>
    <p:extLst>
      <p:ext uri="{BB962C8B-B14F-4D97-AF65-F5344CB8AC3E}">
        <p14:creationId xmlns:p14="http://schemas.microsoft.com/office/powerpoint/2010/main" val="223744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A33E-9D0D-47C1-A49C-E6F906431DE2}"/>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7D7EBD2C-F647-49BF-8B68-D2D4956F4F99}"/>
              </a:ext>
            </a:extLst>
          </p:cNvPr>
          <p:cNvSpPr>
            <a:spLocks noGrp="1"/>
          </p:cNvSpPr>
          <p:nvPr>
            <p:ph idx="1"/>
          </p:nvPr>
        </p:nvSpPr>
        <p:spPr/>
        <p:txBody>
          <a:bodyPr/>
          <a:lstStyle/>
          <a:p>
            <a:r>
              <a:rPr lang="en-US" b="1" dirty="0"/>
              <a:t>How to return all posts that have the title equal to “A sunny day” together with their comments</a:t>
            </a:r>
            <a:r>
              <a:rPr lang="en-US" dirty="0"/>
              <a:t>:</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ro-RO" dirty="0">
                <a:latin typeface="Consolas" panose="020B0609020204030204" pitchFamily="49" charset="0"/>
              </a:rPr>
              <a:t>SELECT * FROM Post</a:t>
            </a:r>
            <a:r>
              <a:rPr lang="en-US" dirty="0">
                <a:latin typeface="Consolas" panose="020B0609020204030204" pitchFamily="49" charset="0"/>
              </a:rPr>
              <a:t>s INNER JOIN </a:t>
            </a:r>
          </a:p>
          <a:p>
            <a:pPr marL="274320" lvl="1" indent="0">
              <a:buNone/>
            </a:pPr>
            <a:r>
              <a:rPr lang="en-US" dirty="0">
                <a:latin typeface="Consolas" panose="020B0609020204030204" pitchFamily="49" charset="0"/>
              </a:rPr>
              <a:t>	Comments ON </a:t>
            </a:r>
            <a:r>
              <a:rPr lang="en-US" dirty="0" err="1">
                <a:latin typeface="Consolas" panose="020B0609020204030204" pitchFamily="49" charset="0"/>
              </a:rPr>
              <a:t>Posts.post_id</a:t>
            </a:r>
            <a:r>
              <a:rPr lang="en-US" dirty="0">
                <a:latin typeface="Consolas" panose="020B0609020204030204" pitchFamily="49" charset="0"/>
              </a:rPr>
              <a:t> = </a:t>
            </a:r>
            <a:r>
              <a:rPr lang="en-US" dirty="0" err="1">
                <a:latin typeface="Consolas" panose="020B0609020204030204" pitchFamily="49" charset="0"/>
              </a:rPr>
              <a:t>Comments.post_id</a:t>
            </a:r>
            <a:r>
              <a:rPr lang="ro-RO" dirty="0">
                <a:latin typeface="Consolas" panose="020B0609020204030204" pitchFamily="49" charset="0"/>
              </a:rPr>
              <a:t> </a:t>
            </a:r>
            <a:endParaRPr lang="en-US" dirty="0">
              <a:latin typeface="Consolas" panose="020B0609020204030204" pitchFamily="49" charset="0"/>
            </a:endParaRPr>
          </a:p>
          <a:p>
            <a:pPr marL="274320" lvl="1" indent="0">
              <a:buNone/>
            </a:pPr>
            <a:r>
              <a:rPr lang="en-US" dirty="0">
                <a:latin typeface="Consolas" panose="020B0609020204030204" pitchFamily="49" charset="0"/>
              </a:rPr>
              <a:t>	</a:t>
            </a:r>
            <a:r>
              <a:rPr lang="ro-RO" dirty="0">
                <a:latin typeface="Consolas" panose="020B0609020204030204" pitchFamily="49" charset="0"/>
              </a:rPr>
              <a:t>WHERE titl</a:t>
            </a:r>
            <a:r>
              <a:rPr lang="en-US" dirty="0">
                <a:latin typeface="Consolas" panose="020B0609020204030204" pitchFamily="49" charset="0"/>
              </a:rPr>
              <a:t>e </a:t>
            </a:r>
            <a:r>
              <a:rPr lang="ro-RO" dirty="0">
                <a:latin typeface="Consolas" panose="020B0609020204030204" pitchFamily="49" charset="0"/>
              </a:rPr>
              <a:t>=</a:t>
            </a:r>
            <a:r>
              <a:rPr lang="en-US" dirty="0">
                <a:latin typeface="Consolas" panose="020B0609020204030204" pitchFamily="49" charset="0"/>
              </a:rPr>
              <a:t> 'A sunny day';</a:t>
            </a:r>
          </a:p>
          <a:p>
            <a:pPr marL="274320" lvl="1" indent="0">
              <a:buNone/>
            </a:pPr>
            <a:endParaRPr lang="en-US" dirty="0"/>
          </a:p>
          <a:p>
            <a:pPr lvl="1"/>
            <a:r>
              <a:rPr lang="en-US" dirty="0"/>
              <a:t>Result:</a:t>
            </a:r>
          </a:p>
          <a:p>
            <a:pPr lvl="1"/>
            <a:endParaRPr lang="en-US" dirty="0"/>
          </a:p>
          <a:p>
            <a:endParaRPr lang="en-US" dirty="0"/>
          </a:p>
        </p:txBody>
      </p:sp>
      <p:pic>
        <p:nvPicPr>
          <p:cNvPr id="4" name="Picture 3">
            <a:extLst>
              <a:ext uri="{FF2B5EF4-FFF2-40B4-BE49-F238E27FC236}">
                <a16:creationId xmlns:a16="http://schemas.microsoft.com/office/drawing/2014/main" id="{6E27B17B-5090-4867-BD9F-D85A5F23D827}"/>
              </a:ext>
            </a:extLst>
          </p:cNvPr>
          <p:cNvPicPr>
            <a:picLocks noChangeAspect="1"/>
          </p:cNvPicPr>
          <p:nvPr/>
        </p:nvPicPr>
        <p:blipFill>
          <a:blip r:embed="rId2"/>
          <a:stretch>
            <a:fillRect/>
          </a:stretch>
        </p:blipFill>
        <p:spPr>
          <a:xfrm>
            <a:off x="1621735" y="4978881"/>
            <a:ext cx="9431030" cy="573779"/>
          </a:xfrm>
          <a:prstGeom prst="rect">
            <a:avLst/>
          </a:prstGeom>
        </p:spPr>
      </p:pic>
    </p:spTree>
    <p:extLst>
      <p:ext uri="{BB962C8B-B14F-4D97-AF65-F5344CB8AC3E}">
        <p14:creationId xmlns:p14="http://schemas.microsoft.com/office/powerpoint/2010/main" val="36210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8AED-4E0F-4862-972D-A4E404A70410}"/>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5F109A92-32B2-4F83-A272-957AE0BD0AC2}"/>
              </a:ext>
            </a:extLst>
          </p:cNvPr>
          <p:cNvSpPr>
            <a:spLocks noGrp="1"/>
          </p:cNvSpPr>
          <p:nvPr>
            <p:ph idx="1"/>
          </p:nvPr>
        </p:nvSpPr>
        <p:spPr>
          <a:xfrm>
            <a:off x="1143000" y="2057400"/>
            <a:ext cx="9872871" cy="4515678"/>
          </a:xfrm>
        </p:spPr>
        <p:txBody>
          <a:bodyPr/>
          <a:lstStyle/>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db.posts.find</a:t>
            </a:r>
            <a:r>
              <a:rPr lang="en-US" dirty="0">
                <a:latin typeface="Consolas" panose="020B0609020204030204" pitchFamily="49" charset="0"/>
              </a:rPr>
              <a:t>({"title" : "A sunny day"}).pretty()</a:t>
            </a:r>
          </a:p>
          <a:p>
            <a:pPr lvl="1"/>
            <a:r>
              <a:rPr lang="en-US" dirty="0"/>
              <a:t>Result:</a:t>
            </a:r>
          </a:p>
        </p:txBody>
      </p:sp>
      <p:pic>
        <p:nvPicPr>
          <p:cNvPr id="4" name="Picture 3">
            <a:extLst>
              <a:ext uri="{FF2B5EF4-FFF2-40B4-BE49-F238E27FC236}">
                <a16:creationId xmlns:a16="http://schemas.microsoft.com/office/drawing/2014/main" id="{ECC06E22-B721-43E2-A05D-A95D1119DF71}"/>
              </a:ext>
            </a:extLst>
          </p:cNvPr>
          <p:cNvPicPr>
            <a:picLocks noChangeAspect="1"/>
          </p:cNvPicPr>
          <p:nvPr/>
        </p:nvPicPr>
        <p:blipFill>
          <a:blip r:embed="rId2"/>
          <a:stretch>
            <a:fillRect/>
          </a:stretch>
        </p:blipFill>
        <p:spPr>
          <a:xfrm>
            <a:off x="1654244" y="3234151"/>
            <a:ext cx="8246029" cy="3014249"/>
          </a:xfrm>
          <a:prstGeom prst="rect">
            <a:avLst/>
          </a:prstGeom>
        </p:spPr>
      </p:pic>
    </p:spTree>
    <p:extLst>
      <p:ext uri="{BB962C8B-B14F-4D97-AF65-F5344CB8AC3E}">
        <p14:creationId xmlns:p14="http://schemas.microsoft.com/office/powerpoint/2010/main" val="102280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227B-5598-4859-9C60-36AAC3895291}"/>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0053612F-D7ED-456F-861C-CA64B8EA7E64}"/>
              </a:ext>
            </a:extLst>
          </p:cNvPr>
          <p:cNvSpPr>
            <a:spLocks noGrp="1"/>
          </p:cNvSpPr>
          <p:nvPr>
            <p:ph idx="1"/>
          </p:nvPr>
        </p:nvSpPr>
        <p:spPr>
          <a:xfrm>
            <a:off x="1143000" y="2057400"/>
            <a:ext cx="9872871" cy="4502426"/>
          </a:xfrm>
        </p:spPr>
        <p:txBody>
          <a:bodyPr/>
          <a:lstStyle/>
          <a:p>
            <a:r>
              <a:rPr lang="en-US" b="1" dirty="0"/>
              <a:t>How to update the email address of the user called “Bob” and set its value to “bobt@gmail.com”</a:t>
            </a:r>
            <a:r>
              <a:rPr lang="en-US" dirty="0"/>
              <a:t>:</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en-US" dirty="0">
                <a:latin typeface="Consolas" panose="020B0609020204030204" pitchFamily="49" charset="0"/>
              </a:rPr>
              <a:t>UPDATE Users SET email = 'bobt@gmail.com' WHERE username = 'Bob';</a:t>
            </a:r>
          </a:p>
          <a:p>
            <a:pPr lvl="1"/>
            <a:r>
              <a:rPr lang="en-US" dirty="0"/>
              <a:t>Result:</a:t>
            </a:r>
          </a:p>
          <a:p>
            <a:pPr lvl="1"/>
            <a:endParaRPr lang="en-US" dirty="0"/>
          </a:p>
          <a:p>
            <a:pPr lvl="1"/>
            <a:endParaRPr lang="en-US" dirty="0"/>
          </a:p>
          <a:p>
            <a:pPr lvl="1"/>
            <a:endParaRPr lang="en-US" dirty="0"/>
          </a:p>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db.users.updateOne</a:t>
            </a:r>
            <a:r>
              <a:rPr lang="en-US" dirty="0">
                <a:latin typeface="Consolas" panose="020B0609020204030204" pitchFamily="49" charset="0"/>
              </a:rPr>
              <a:t>({"_id" : "Bob"}, {$set : {"email" : "bobt@gmail.com"}})</a:t>
            </a:r>
          </a:p>
          <a:p>
            <a:pPr lvl="1"/>
            <a:r>
              <a:rPr lang="en-US" dirty="0"/>
              <a:t>Result:</a:t>
            </a:r>
          </a:p>
          <a:p>
            <a:endParaRPr lang="en-US" dirty="0"/>
          </a:p>
        </p:txBody>
      </p:sp>
      <p:pic>
        <p:nvPicPr>
          <p:cNvPr id="4" name="Picture 3">
            <a:extLst>
              <a:ext uri="{FF2B5EF4-FFF2-40B4-BE49-F238E27FC236}">
                <a16:creationId xmlns:a16="http://schemas.microsoft.com/office/drawing/2014/main" id="{00E851FB-CEC0-4449-8A9F-B0500E2E9E37}"/>
              </a:ext>
            </a:extLst>
          </p:cNvPr>
          <p:cNvPicPr>
            <a:picLocks noChangeAspect="1"/>
          </p:cNvPicPr>
          <p:nvPr/>
        </p:nvPicPr>
        <p:blipFill>
          <a:blip r:embed="rId2"/>
          <a:stretch>
            <a:fillRect/>
          </a:stretch>
        </p:blipFill>
        <p:spPr>
          <a:xfrm>
            <a:off x="1668116" y="3552649"/>
            <a:ext cx="3964057" cy="838551"/>
          </a:xfrm>
          <a:prstGeom prst="rect">
            <a:avLst/>
          </a:prstGeom>
        </p:spPr>
      </p:pic>
      <p:pic>
        <p:nvPicPr>
          <p:cNvPr id="5" name="Picture 4">
            <a:extLst>
              <a:ext uri="{FF2B5EF4-FFF2-40B4-BE49-F238E27FC236}">
                <a16:creationId xmlns:a16="http://schemas.microsoft.com/office/drawing/2014/main" id="{DF5A94C1-2BEB-4756-85A5-73E43679D436}"/>
              </a:ext>
            </a:extLst>
          </p:cNvPr>
          <p:cNvPicPr>
            <a:picLocks noChangeAspect="1"/>
          </p:cNvPicPr>
          <p:nvPr/>
        </p:nvPicPr>
        <p:blipFill>
          <a:blip r:embed="rId3"/>
          <a:stretch>
            <a:fillRect/>
          </a:stretch>
        </p:blipFill>
        <p:spPr>
          <a:xfrm>
            <a:off x="1668116" y="5449127"/>
            <a:ext cx="7793936" cy="533639"/>
          </a:xfrm>
          <a:prstGeom prst="rect">
            <a:avLst/>
          </a:prstGeom>
        </p:spPr>
      </p:pic>
    </p:spTree>
    <p:extLst>
      <p:ext uri="{BB962C8B-B14F-4D97-AF65-F5344CB8AC3E}">
        <p14:creationId xmlns:p14="http://schemas.microsoft.com/office/powerpoint/2010/main" val="93884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5604-6371-49EC-B1A2-96D67D9ED7AC}"/>
              </a:ext>
            </a:extLst>
          </p:cNvPr>
          <p:cNvSpPr>
            <a:spLocks noGrp="1"/>
          </p:cNvSpPr>
          <p:nvPr>
            <p:ph type="title"/>
          </p:nvPr>
        </p:nvSpPr>
        <p:spPr/>
        <p:txBody>
          <a:bodyPr/>
          <a:lstStyle/>
          <a:p>
            <a:r>
              <a:rPr lang="en-US" dirty="0"/>
              <a:t>NoSQL Implementations: MongoDB</a:t>
            </a:r>
          </a:p>
        </p:txBody>
      </p:sp>
      <p:sp>
        <p:nvSpPr>
          <p:cNvPr id="3" name="Content Placeholder 2">
            <a:extLst>
              <a:ext uri="{FF2B5EF4-FFF2-40B4-BE49-F238E27FC236}">
                <a16:creationId xmlns:a16="http://schemas.microsoft.com/office/drawing/2014/main" id="{4A78D35C-E2AB-4500-9EEA-60407183BD64}"/>
              </a:ext>
            </a:extLst>
          </p:cNvPr>
          <p:cNvSpPr>
            <a:spLocks noGrp="1"/>
          </p:cNvSpPr>
          <p:nvPr>
            <p:ph idx="1"/>
          </p:nvPr>
        </p:nvSpPr>
        <p:spPr>
          <a:xfrm>
            <a:off x="1143000" y="2057400"/>
            <a:ext cx="9872871" cy="4489174"/>
          </a:xfrm>
        </p:spPr>
        <p:txBody>
          <a:bodyPr>
            <a:normAutofit/>
          </a:bodyPr>
          <a:lstStyle/>
          <a:p>
            <a:r>
              <a:rPr lang="en-US" b="1" dirty="0"/>
              <a:t>How to delete the user called “Tom”</a:t>
            </a:r>
            <a:r>
              <a:rPr lang="en-US" dirty="0"/>
              <a:t>:</a:t>
            </a:r>
          </a:p>
          <a:p>
            <a:pPr lvl="1"/>
            <a:r>
              <a:rPr lang="en-US" b="1" dirty="0">
                <a:solidFill>
                  <a:schemeClr val="tx2">
                    <a:lumMod val="60000"/>
                    <a:lumOff val="40000"/>
                  </a:schemeClr>
                </a:solidFill>
              </a:rPr>
              <a:t>Microsoft SQL Server</a:t>
            </a:r>
            <a:r>
              <a:rPr lang="en-US" dirty="0"/>
              <a:t>:</a:t>
            </a:r>
          </a:p>
          <a:p>
            <a:pPr marL="274320" lvl="1" indent="0">
              <a:buNone/>
            </a:pPr>
            <a:r>
              <a:rPr lang="en-US" dirty="0"/>
              <a:t>	</a:t>
            </a:r>
            <a:r>
              <a:rPr lang="en-US" dirty="0">
                <a:latin typeface="Consolas" panose="020B0609020204030204" pitchFamily="49" charset="0"/>
              </a:rPr>
              <a:t>DELETE FROM Users WHERE username = 'Tom';</a:t>
            </a:r>
          </a:p>
          <a:p>
            <a:pPr lvl="1"/>
            <a:r>
              <a:rPr lang="en-US" b="1" dirty="0">
                <a:solidFill>
                  <a:srgbClr val="00B050"/>
                </a:solidFill>
              </a:rPr>
              <a:t>MongoDB</a:t>
            </a:r>
            <a:r>
              <a:rPr lang="en-US" dirty="0"/>
              <a:t>:</a:t>
            </a:r>
          </a:p>
          <a:p>
            <a:pPr marL="274320" lvl="1" indent="0">
              <a:buNone/>
            </a:pPr>
            <a:r>
              <a:rPr lang="en-US" dirty="0"/>
              <a:t>	</a:t>
            </a:r>
            <a:r>
              <a:rPr lang="en-US" dirty="0" err="1">
                <a:latin typeface="Consolas" panose="020B0609020204030204" pitchFamily="49" charset="0"/>
              </a:rPr>
              <a:t>db.users.deleteOne</a:t>
            </a:r>
            <a:r>
              <a:rPr lang="en-US" dirty="0">
                <a:latin typeface="Consolas" panose="020B0609020204030204" pitchFamily="49" charset="0"/>
              </a:rPr>
              <a:t>({"_id" : "Tom"})</a:t>
            </a:r>
          </a:p>
          <a:p>
            <a:r>
              <a:rPr lang="en-US" dirty="0"/>
              <a:t>In Microsoft SQL Server, the DELETE operation will fail because there is a foreign key constraint defined in the </a:t>
            </a:r>
            <a:r>
              <a:rPr lang="en-US" b="1" dirty="0"/>
              <a:t>Comments</a:t>
            </a:r>
            <a:r>
              <a:rPr lang="en-US" dirty="0"/>
              <a:t> table (the user called “Tom” has a comment)</a:t>
            </a:r>
          </a:p>
          <a:p>
            <a:r>
              <a:rPr lang="en-US" dirty="0"/>
              <a:t>In MongoDB, the document that has the “_id” field value equal to “Tom” will be deleted from the </a:t>
            </a:r>
            <a:r>
              <a:rPr lang="en-US" b="1" dirty="0"/>
              <a:t>users </a:t>
            </a:r>
            <a:r>
              <a:rPr lang="en-US" dirty="0"/>
              <a:t>collection</a:t>
            </a:r>
          </a:p>
          <a:p>
            <a:r>
              <a:rPr lang="en-US" dirty="0"/>
              <a:t>However, the comment inserted in the </a:t>
            </a:r>
            <a:r>
              <a:rPr lang="en-US" b="1" dirty="0"/>
              <a:t>posts</a:t>
            </a:r>
            <a:r>
              <a:rPr lang="en-US" dirty="0"/>
              <a:t> collection that has the “author” field value equal to “Tom” remains unchanged (there are no foreign key constraints in MongoDB)</a:t>
            </a:r>
          </a:p>
          <a:p>
            <a:pPr lvl="1"/>
            <a:endParaRPr lang="en-US" dirty="0"/>
          </a:p>
        </p:txBody>
      </p:sp>
    </p:spTree>
    <p:extLst>
      <p:ext uri="{BB962C8B-B14F-4D97-AF65-F5344CB8AC3E}">
        <p14:creationId xmlns:p14="http://schemas.microsoft.com/office/powerpoint/2010/main" val="183943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F993-453E-4E2E-9DCF-6D98C7D1832A}"/>
              </a:ext>
            </a:extLst>
          </p:cNvPr>
          <p:cNvSpPr>
            <a:spLocks noGrp="1"/>
          </p:cNvSpPr>
          <p:nvPr>
            <p:ph type="title"/>
          </p:nvPr>
        </p:nvSpPr>
        <p:spPr/>
        <p:txBody>
          <a:bodyPr/>
          <a:lstStyle/>
          <a:p>
            <a:r>
              <a:rPr lang="en-US" dirty="0"/>
              <a:t>MongoDB in a RAG (Retrieval- Augmented Generation) System</a:t>
            </a:r>
          </a:p>
        </p:txBody>
      </p:sp>
      <p:sp>
        <p:nvSpPr>
          <p:cNvPr id="3" name="Content Placeholder 2">
            <a:extLst>
              <a:ext uri="{FF2B5EF4-FFF2-40B4-BE49-F238E27FC236}">
                <a16:creationId xmlns:a16="http://schemas.microsoft.com/office/drawing/2014/main" id="{DA650069-D00B-47A8-85B8-992AB56586B4}"/>
              </a:ext>
            </a:extLst>
          </p:cNvPr>
          <p:cNvSpPr>
            <a:spLocks noGrp="1"/>
          </p:cNvSpPr>
          <p:nvPr>
            <p:ph idx="1"/>
          </p:nvPr>
        </p:nvSpPr>
        <p:spPr>
          <a:xfrm>
            <a:off x="1261872" y="1828800"/>
            <a:ext cx="9692640" cy="4351337"/>
          </a:xfrm>
        </p:spPr>
        <p:txBody>
          <a:bodyPr/>
          <a:lstStyle/>
          <a:p>
            <a:r>
              <a:rPr lang="en-US" b="1" dirty="0"/>
              <a:t>MongoDB Atlas Vector Search </a:t>
            </a:r>
            <a:r>
              <a:rPr lang="en-US" dirty="0"/>
              <a:t>is the latest addition to the MongoDB developer data platform and it enables customers to build intelligent applications powered by semantic search and generative AI over any type of data</a:t>
            </a:r>
          </a:p>
        </p:txBody>
      </p:sp>
      <p:pic>
        <p:nvPicPr>
          <p:cNvPr id="1026" name="Picture 2">
            <a:extLst>
              <a:ext uri="{FF2B5EF4-FFF2-40B4-BE49-F238E27FC236}">
                <a16:creationId xmlns:a16="http://schemas.microsoft.com/office/drawing/2014/main" id="{B66E0291-ABC4-CDA1-D19B-87FAF35B6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309" y="2932834"/>
            <a:ext cx="83248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364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03DD4-9CE1-E2C9-67F5-908B5B1E1DD6}"/>
              </a:ext>
            </a:extLst>
          </p:cNvPr>
          <p:cNvSpPr>
            <a:spLocks noGrp="1"/>
          </p:cNvSpPr>
          <p:nvPr>
            <p:ph type="title"/>
          </p:nvPr>
        </p:nvSpPr>
        <p:spPr/>
        <p:txBody>
          <a:bodyPr/>
          <a:lstStyle/>
          <a:p>
            <a:r>
              <a:rPr lang="en-US" dirty="0"/>
              <a:t>MongoDB Atlas Vector Search</a:t>
            </a:r>
            <a:endParaRPr lang="ro-RO" dirty="0"/>
          </a:p>
        </p:txBody>
      </p:sp>
      <p:sp>
        <p:nvSpPr>
          <p:cNvPr id="3" name="Content Placeholder 2">
            <a:extLst>
              <a:ext uri="{FF2B5EF4-FFF2-40B4-BE49-F238E27FC236}">
                <a16:creationId xmlns:a16="http://schemas.microsoft.com/office/drawing/2014/main" id="{5ED24057-7A97-1113-0A74-2379521564AB}"/>
              </a:ext>
            </a:extLst>
          </p:cNvPr>
          <p:cNvSpPr>
            <a:spLocks noGrp="1"/>
          </p:cNvSpPr>
          <p:nvPr>
            <p:ph idx="1"/>
          </p:nvPr>
        </p:nvSpPr>
        <p:spPr>
          <a:xfrm>
            <a:off x="1261872" y="1828800"/>
            <a:ext cx="9692640" cy="4867564"/>
          </a:xfrm>
        </p:spPr>
        <p:txBody>
          <a:bodyPr>
            <a:normAutofit lnSpcReduction="10000"/>
          </a:bodyPr>
          <a:lstStyle/>
          <a:p>
            <a:r>
              <a:rPr lang="en-US" dirty="0"/>
              <a:t>You can use </a:t>
            </a:r>
            <a:r>
              <a:rPr lang="en-US" b="1" dirty="0"/>
              <a:t>Atlas Vector Search</a:t>
            </a:r>
            <a:r>
              <a:rPr lang="en-US" dirty="0"/>
              <a:t> to perform vector search on your data stored in Atlas</a:t>
            </a:r>
          </a:p>
          <a:p>
            <a:r>
              <a:rPr lang="en-US" dirty="0"/>
              <a:t>Vector search allows you to query your data based on semantic meaning rather than just keyword matches, which helps you retrieve more relevant search results</a:t>
            </a:r>
          </a:p>
          <a:p>
            <a:r>
              <a:rPr lang="en-US" dirty="0"/>
              <a:t>It enables your AI-powered applications to support use cases such as semantic search, hybrid search and generative search, including RAG</a:t>
            </a:r>
          </a:p>
          <a:p>
            <a:r>
              <a:rPr lang="en-US" dirty="0"/>
              <a:t>By using Atlas as a vector database, you can seamlessly index vector data along with your other data in Atlas</a:t>
            </a:r>
          </a:p>
          <a:p>
            <a:r>
              <a:rPr lang="en-US" dirty="0"/>
              <a:t>This allows you to filter on fields in your collection and perform vector search queries against vector data</a:t>
            </a:r>
          </a:p>
          <a:p>
            <a:r>
              <a:rPr lang="en-US" dirty="0"/>
              <a:t>You can also combine vector search with full-text search queries to return the most relevant results for your use case</a:t>
            </a:r>
          </a:p>
          <a:p>
            <a:r>
              <a:rPr lang="en-US" dirty="0"/>
              <a:t>You can integrate Atlas Vector Search with popular AI frameworks and services to easily implement vector search in your applications</a:t>
            </a:r>
          </a:p>
          <a:p>
            <a:endParaRPr lang="ro-RO" dirty="0"/>
          </a:p>
        </p:txBody>
      </p:sp>
    </p:spTree>
    <p:extLst>
      <p:ext uri="{BB962C8B-B14F-4D97-AF65-F5344CB8AC3E}">
        <p14:creationId xmlns:p14="http://schemas.microsoft.com/office/powerpoint/2010/main" val="121633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D41BC-4E55-E71E-BD6F-FD24CA5ED9C1}"/>
              </a:ext>
            </a:extLst>
          </p:cNvPr>
          <p:cNvSpPr>
            <a:spLocks noGrp="1"/>
          </p:cNvSpPr>
          <p:nvPr>
            <p:ph type="title"/>
          </p:nvPr>
        </p:nvSpPr>
        <p:spPr/>
        <p:txBody>
          <a:bodyPr/>
          <a:lstStyle/>
          <a:p>
            <a:r>
              <a:rPr lang="en-US" dirty="0"/>
              <a:t>MongoDB Atlas Vector Search</a:t>
            </a:r>
            <a:endParaRPr lang="ro-RO" dirty="0"/>
          </a:p>
        </p:txBody>
      </p:sp>
      <p:sp>
        <p:nvSpPr>
          <p:cNvPr id="3" name="Content Placeholder 2">
            <a:extLst>
              <a:ext uri="{FF2B5EF4-FFF2-40B4-BE49-F238E27FC236}">
                <a16:creationId xmlns:a16="http://schemas.microsoft.com/office/drawing/2014/main" id="{E0D87A77-F8E9-1C80-9D35-878513B1A5C2}"/>
              </a:ext>
            </a:extLst>
          </p:cNvPr>
          <p:cNvSpPr>
            <a:spLocks noGrp="1"/>
          </p:cNvSpPr>
          <p:nvPr>
            <p:ph idx="1"/>
          </p:nvPr>
        </p:nvSpPr>
        <p:spPr>
          <a:xfrm>
            <a:off x="1261871" y="1828800"/>
            <a:ext cx="9627801" cy="4663440"/>
          </a:xfrm>
        </p:spPr>
        <p:txBody>
          <a:bodyPr/>
          <a:lstStyle/>
          <a:p>
            <a:pPr marL="228600" indent="0">
              <a:buNone/>
            </a:pPr>
            <a:r>
              <a:rPr lang="en-US" b="1" dirty="0"/>
              <a:t>Atlas Vector Search </a:t>
            </a:r>
            <a:r>
              <a:rPr lang="en-US" dirty="0"/>
              <a:t>supports the following vector search use cases:</a:t>
            </a:r>
          </a:p>
          <a:p>
            <a:r>
              <a:rPr lang="en-US" b="1" dirty="0"/>
              <a:t>Semantic Search</a:t>
            </a:r>
            <a:r>
              <a:rPr lang="en-US" dirty="0"/>
              <a:t>: query your vector embeddings based on semantic similarity by using the ANN or ENN search algorithm</a:t>
            </a:r>
          </a:p>
          <a:p>
            <a:r>
              <a:rPr lang="en-US" b="1" dirty="0"/>
              <a:t>Hybrid Search</a:t>
            </a:r>
            <a:r>
              <a:rPr lang="en-US" dirty="0"/>
              <a:t>: combine results from both semantic search and full-text search queries </a:t>
            </a:r>
          </a:p>
          <a:p>
            <a:r>
              <a:rPr lang="en-US" b="1" dirty="0"/>
              <a:t>Generative Search</a:t>
            </a:r>
            <a:r>
              <a:rPr lang="en-US" dirty="0"/>
              <a:t>: by using Atlas as a vector database, you can use Atlas Vector Search to power your natural language processing (NLP), machine learning (ML) and generative AI applications</a:t>
            </a:r>
          </a:p>
          <a:p>
            <a:endParaRPr lang="ro-RO" dirty="0"/>
          </a:p>
        </p:txBody>
      </p:sp>
    </p:spTree>
    <p:extLst>
      <p:ext uri="{BB962C8B-B14F-4D97-AF65-F5344CB8AC3E}">
        <p14:creationId xmlns:p14="http://schemas.microsoft.com/office/powerpoint/2010/main" val="123297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B34E2-4699-8733-3F5E-F190610DDB5F}"/>
              </a:ext>
            </a:extLst>
          </p:cNvPr>
          <p:cNvSpPr>
            <a:spLocks noGrp="1"/>
          </p:cNvSpPr>
          <p:nvPr>
            <p:ph type="title"/>
          </p:nvPr>
        </p:nvSpPr>
        <p:spPr/>
        <p:txBody>
          <a:bodyPr/>
          <a:lstStyle/>
          <a:p>
            <a:r>
              <a:rPr lang="en-US" dirty="0"/>
              <a:t>MongoDB Atlas Vector Search</a:t>
            </a:r>
            <a:endParaRPr lang="ro-RO" dirty="0"/>
          </a:p>
        </p:txBody>
      </p:sp>
      <p:sp>
        <p:nvSpPr>
          <p:cNvPr id="3" name="Content Placeholder 2">
            <a:extLst>
              <a:ext uri="{FF2B5EF4-FFF2-40B4-BE49-F238E27FC236}">
                <a16:creationId xmlns:a16="http://schemas.microsoft.com/office/drawing/2014/main" id="{6C710E00-F933-81F8-7429-B4B3AA18D43B}"/>
              </a:ext>
            </a:extLst>
          </p:cNvPr>
          <p:cNvSpPr>
            <a:spLocks noGrp="1"/>
          </p:cNvSpPr>
          <p:nvPr>
            <p:ph idx="1"/>
          </p:nvPr>
        </p:nvSpPr>
        <p:spPr>
          <a:xfrm>
            <a:off x="1261872" y="1828800"/>
            <a:ext cx="9600092" cy="4351337"/>
          </a:xfrm>
        </p:spPr>
        <p:txBody>
          <a:bodyPr/>
          <a:lstStyle/>
          <a:p>
            <a:pPr marL="228600" indent="0">
              <a:buNone/>
            </a:pPr>
            <a:r>
              <a:rPr lang="en-US" dirty="0"/>
              <a:t>You can implement retrieval-augmented generation (RAG) by doing the following:</a:t>
            </a:r>
          </a:p>
          <a:p>
            <a:pPr marL="742950" indent="-514350">
              <a:buFont typeface="+mj-lt"/>
              <a:buAutoNum type="arabicPeriod"/>
            </a:pPr>
            <a:r>
              <a:rPr lang="en-US" dirty="0"/>
              <a:t>Ingest data into Atlas</a:t>
            </a:r>
          </a:p>
          <a:p>
            <a:pPr marL="742950" indent="-514350">
              <a:buFont typeface="+mj-lt"/>
              <a:buAutoNum type="arabicPeriod"/>
            </a:pPr>
            <a:r>
              <a:rPr lang="en-US" dirty="0"/>
              <a:t>Retrieve relevant documents with Atlas Vector Search</a:t>
            </a:r>
          </a:p>
          <a:p>
            <a:pPr marL="742950" indent="-514350">
              <a:buFont typeface="+mj-lt"/>
              <a:buAutoNum type="arabicPeriod"/>
            </a:pPr>
            <a:r>
              <a:rPr lang="en-US" dirty="0"/>
              <a:t>Generate responses on your data by using an LLM</a:t>
            </a:r>
          </a:p>
          <a:p>
            <a:endParaRPr lang="ro-RO" dirty="0"/>
          </a:p>
        </p:txBody>
      </p:sp>
    </p:spTree>
    <p:extLst>
      <p:ext uri="{BB962C8B-B14F-4D97-AF65-F5344CB8AC3E}">
        <p14:creationId xmlns:p14="http://schemas.microsoft.com/office/powerpoint/2010/main" val="825732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168D-42AC-F468-FF71-4C63C213A85A}"/>
              </a:ext>
            </a:extLst>
          </p:cNvPr>
          <p:cNvSpPr>
            <a:spLocks noGrp="1"/>
          </p:cNvSpPr>
          <p:nvPr>
            <p:ph type="title"/>
          </p:nvPr>
        </p:nvSpPr>
        <p:spPr/>
        <p:txBody>
          <a:bodyPr/>
          <a:lstStyle/>
          <a:p>
            <a:r>
              <a:rPr lang="en-US" dirty="0"/>
              <a:t>MongoDB Atlas Vector Search</a:t>
            </a:r>
            <a:endParaRPr lang="ro-RO" dirty="0"/>
          </a:p>
        </p:txBody>
      </p:sp>
      <p:sp>
        <p:nvSpPr>
          <p:cNvPr id="3" name="Content Placeholder 2">
            <a:extLst>
              <a:ext uri="{FF2B5EF4-FFF2-40B4-BE49-F238E27FC236}">
                <a16:creationId xmlns:a16="http://schemas.microsoft.com/office/drawing/2014/main" id="{72C79265-1F82-7E80-435F-3209C15D4D02}"/>
              </a:ext>
            </a:extLst>
          </p:cNvPr>
          <p:cNvSpPr>
            <a:spLocks noGrp="1"/>
          </p:cNvSpPr>
          <p:nvPr>
            <p:ph idx="1"/>
          </p:nvPr>
        </p:nvSpPr>
        <p:spPr>
          <a:xfrm>
            <a:off x="1261871" y="1828800"/>
            <a:ext cx="9480019" cy="4663440"/>
          </a:xfrm>
        </p:spPr>
        <p:txBody>
          <a:bodyPr/>
          <a:lstStyle/>
          <a:p>
            <a:r>
              <a:rPr lang="en-US" dirty="0"/>
              <a:t>You can use Atlas Vector Search with popular embedding and chat models from AI providers such as OpenAI, AWS and Google</a:t>
            </a:r>
          </a:p>
          <a:p>
            <a:r>
              <a:rPr lang="en-US" dirty="0"/>
              <a:t>MongoDB and partners also provide specific product integrations to help you leverage Atlas Vector Search in your AI-powered applications</a:t>
            </a:r>
          </a:p>
          <a:p>
            <a:r>
              <a:rPr lang="en-US" dirty="0"/>
              <a:t>These integrations include built-in tools and libraries that enable you to implement RAG from start to finish</a:t>
            </a:r>
          </a:p>
          <a:p>
            <a:endParaRPr lang="ro-RO" dirty="0"/>
          </a:p>
        </p:txBody>
      </p:sp>
    </p:spTree>
    <p:extLst>
      <p:ext uri="{BB962C8B-B14F-4D97-AF65-F5344CB8AC3E}">
        <p14:creationId xmlns:p14="http://schemas.microsoft.com/office/powerpoint/2010/main" val="2231975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10BD3-E94C-7E6F-3758-6B56CDAD1684}"/>
              </a:ext>
            </a:extLst>
          </p:cNvPr>
          <p:cNvSpPr>
            <a:spLocks noGrp="1"/>
          </p:cNvSpPr>
          <p:nvPr>
            <p:ph type="title"/>
          </p:nvPr>
        </p:nvSpPr>
        <p:spPr>
          <a:xfrm>
            <a:off x="921328" y="489857"/>
            <a:ext cx="9692640" cy="1325562"/>
          </a:xfrm>
        </p:spPr>
        <p:txBody>
          <a:bodyPr/>
          <a:lstStyle/>
          <a:p>
            <a:r>
              <a:rPr lang="en-US" dirty="0"/>
              <a:t>Atlas Vector Search Indexes</a:t>
            </a:r>
          </a:p>
        </p:txBody>
      </p:sp>
      <p:sp>
        <p:nvSpPr>
          <p:cNvPr id="3" name="Content Placeholder 2">
            <a:extLst>
              <a:ext uri="{FF2B5EF4-FFF2-40B4-BE49-F238E27FC236}">
                <a16:creationId xmlns:a16="http://schemas.microsoft.com/office/drawing/2014/main" id="{A8BC3F86-4FB5-A6E5-767F-E0A90F81D621}"/>
              </a:ext>
            </a:extLst>
          </p:cNvPr>
          <p:cNvSpPr>
            <a:spLocks noGrp="1"/>
          </p:cNvSpPr>
          <p:nvPr>
            <p:ph idx="1"/>
          </p:nvPr>
        </p:nvSpPr>
        <p:spPr>
          <a:xfrm>
            <a:off x="838200" y="2178657"/>
            <a:ext cx="10023764" cy="4189486"/>
          </a:xfrm>
        </p:spPr>
        <p:txBody>
          <a:bodyPr>
            <a:normAutofit/>
          </a:bodyPr>
          <a:lstStyle/>
          <a:p>
            <a:r>
              <a:rPr lang="en-US" dirty="0"/>
              <a:t>To perform vector search on your data in Atlas, you must create an </a:t>
            </a:r>
            <a:r>
              <a:rPr lang="en-US" b="1" dirty="0"/>
              <a:t>Atlas Vector Search index</a:t>
            </a:r>
          </a:p>
          <a:p>
            <a:r>
              <a:rPr lang="en-US" dirty="0"/>
              <a:t>Atlas Vector Search indexes are separate from your other database indexes and are used to efficiently retrieve documents that contain </a:t>
            </a:r>
            <a:r>
              <a:rPr lang="en-US" b="1" dirty="0"/>
              <a:t>vector embeddings </a:t>
            </a:r>
            <a:r>
              <a:rPr lang="en-US" dirty="0"/>
              <a:t>at query-time</a:t>
            </a:r>
          </a:p>
          <a:p>
            <a:r>
              <a:rPr lang="en-US" dirty="0"/>
              <a:t>In your Atlas Vector Search index definition, you index the fields in your collection that contain your embeddings to enable vector search against those fields</a:t>
            </a:r>
          </a:p>
          <a:p>
            <a:r>
              <a:rPr lang="en-US" dirty="0"/>
              <a:t>Atlas Vector Search supports embeddings that are less than and equal to 8192 dimensions in length</a:t>
            </a:r>
          </a:p>
        </p:txBody>
      </p:sp>
    </p:spTree>
    <p:extLst>
      <p:ext uri="{BB962C8B-B14F-4D97-AF65-F5344CB8AC3E}">
        <p14:creationId xmlns:p14="http://schemas.microsoft.com/office/powerpoint/2010/main" val="1040031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9FAC-1AD5-7B39-E358-BCCBEF984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97D15-1067-2BD8-5E70-B6AB3039DC02}"/>
              </a:ext>
            </a:extLst>
          </p:cNvPr>
          <p:cNvSpPr>
            <a:spLocks noGrp="1"/>
          </p:cNvSpPr>
          <p:nvPr>
            <p:ph type="title"/>
          </p:nvPr>
        </p:nvSpPr>
        <p:spPr>
          <a:xfrm>
            <a:off x="949035" y="566057"/>
            <a:ext cx="9692640" cy="1325562"/>
          </a:xfrm>
        </p:spPr>
        <p:txBody>
          <a:bodyPr/>
          <a:lstStyle/>
          <a:p>
            <a:r>
              <a:rPr lang="en-US" dirty="0"/>
              <a:t>Atlas Vector Search Indexes</a:t>
            </a:r>
          </a:p>
        </p:txBody>
      </p:sp>
      <p:sp>
        <p:nvSpPr>
          <p:cNvPr id="3" name="Content Placeholder 2">
            <a:extLst>
              <a:ext uri="{FF2B5EF4-FFF2-40B4-BE49-F238E27FC236}">
                <a16:creationId xmlns:a16="http://schemas.microsoft.com/office/drawing/2014/main" id="{3D1DAE34-3BA3-481A-777A-17E0B0459641}"/>
              </a:ext>
            </a:extLst>
          </p:cNvPr>
          <p:cNvSpPr>
            <a:spLocks noGrp="1"/>
          </p:cNvSpPr>
          <p:nvPr>
            <p:ph idx="1"/>
          </p:nvPr>
        </p:nvSpPr>
        <p:spPr>
          <a:xfrm>
            <a:off x="838199" y="2178657"/>
            <a:ext cx="10116313" cy="4113286"/>
          </a:xfrm>
        </p:spPr>
        <p:txBody>
          <a:bodyPr>
            <a:normAutofit/>
          </a:bodyPr>
          <a:lstStyle/>
          <a:p>
            <a:r>
              <a:rPr lang="en-US" dirty="0"/>
              <a:t>You can also pre-filter your data by indexing additional fields in your collection that you want to run your Atlas Vector Search queries against</a:t>
            </a:r>
          </a:p>
          <a:p>
            <a:r>
              <a:rPr lang="en-US" dirty="0"/>
              <a:t>You can filter on </a:t>
            </a:r>
            <a:r>
              <a:rPr lang="en-US" dirty="0" err="1"/>
              <a:t>boolean</a:t>
            </a:r>
            <a:r>
              <a:rPr lang="en-US" dirty="0"/>
              <a:t>, date, </a:t>
            </a:r>
            <a:r>
              <a:rPr lang="en-US" dirty="0" err="1"/>
              <a:t>objectId</a:t>
            </a:r>
            <a:r>
              <a:rPr lang="en-US" dirty="0"/>
              <a:t>, numeric, string and UUID values, including arrays of these types</a:t>
            </a:r>
          </a:p>
          <a:p>
            <a:r>
              <a:rPr lang="en-US" dirty="0"/>
              <a:t>Filtering your data narrows the scope of your search and ensures that certain vector embeddings aren't considered for comparison</a:t>
            </a:r>
          </a:p>
        </p:txBody>
      </p:sp>
    </p:spTree>
    <p:extLst>
      <p:ext uri="{BB962C8B-B14F-4D97-AF65-F5344CB8AC3E}">
        <p14:creationId xmlns:p14="http://schemas.microsoft.com/office/powerpoint/2010/main" val="136498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0CD92-346A-F3E9-DFA0-10AF60DE63F1}"/>
              </a:ext>
            </a:extLst>
          </p:cNvPr>
          <p:cNvSpPr>
            <a:spLocks noGrp="1"/>
          </p:cNvSpPr>
          <p:nvPr>
            <p:ph type="title"/>
          </p:nvPr>
        </p:nvSpPr>
        <p:spPr>
          <a:xfrm>
            <a:off x="838200" y="411941"/>
            <a:ext cx="9692640" cy="1325562"/>
          </a:xfrm>
        </p:spPr>
        <p:txBody>
          <a:bodyPr/>
          <a:lstStyle/>
          <a:p>
            <a:r>
              <a:rPr lang="en-US" dirty="0"/>
              <a:t>Atlas Vector Search Queries</a:t>
            </a:r>
          </a:p>
        </p:txBody>
      </p:sp>
      <p:sp>
        <p:nvSpPr>
          <p:cNvPr id="3" name="Content Placeholder 2">
            <a:extLst>
              <a:ext uri="{FF2B5EF4-FFF2-40B4-BE49-F238E27FC236}">
                <a16:creationId xmlns:a16="http://schemas.microsoft.com/office/drawing/2014/main" id="{CA2A701A-215C-8B73-8499-704C9EBBABF4}"/>
              </a:ext>
            </a:extLst>
          </p:cNvPr>
          <p:cNvSpPr>
            <a:spLocks noGrp="1"/>
          </p:cNvSpPr>
          <p:nvPr>
            <p:ph idx="1"/>
          </p:nvPr>
        </p:nvSpPr>
        <p:spPr>
          <a:xfrm>
            <a:off x="838200" y="2178657"/>
            <a:ext cx="9996056" cy="4200372"/>
          </a:xfrm>
        </p:spPr>
        <p:txBody>
          <a:bodyPr/>
          <a:lstStyle/>
          <a:p>
            <a:r>
              <a:rPr lang="en-US" dirty="0"/>
              <a:t>Atlas Vector Search supports approximate nearest neighbor (ANN) search with the Hierarchical Navigable Small Worlds algorithm and exact nearest neighbor (ENN) search</a:t>
            </a:r>
          </a:p>
          <a:p>
            <a:r>
              <a:rPr lang="en-US" dirty="0"/>
              <a:t>To find the most similar vectors, Atlas Vector Search performs ANN search without scanning every vector embedding and ENN search exhaustively on all the indexed vector embeddings</a:t>
            </a:r>
          </a:p>
        </p:txBody>
      </p:sp>
    </p:spTree>
    <p:extLst>
      <p:ext uri="{BB962C8B-B14F-4D97-AF65-F5344CB8AC3E}">
        <p14:creationId xmlns:p14="http://schemas.microsoft.com/office/powerpoint/2010/main" val="254042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0748D-A21C-E0D9-F88E-9D7AF1CF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1F633-FCBA-62B3-ED50-BE4BE720EC45}"/>
              </a:ext>
            </a:extLst>
          </p:cNvPr>
          <p:cNvSpPr>
            <a:spLocks noGrp="1"/>
          </p:cNvSpPr>
          <p:nvPr>
            <p:ph type="title"/>
          </p:nvPr>
        </p:nvSpPr>
        <p:spPr>
          <a:xfrm>
            <a:off x="1050036" y="489857"/>
            <a:ext cx="9692640" cy="1325562"/>
          </a:xfrm>
        </p:spPr>
        <p:txBody>
          <a:bodyPr/>
          <a:lstStyle/>
          <a:p>
            <a:r>
              <a:rPr lang="en-US" dirty="0"/>
              <a:t>Atlas Vector Search Queries</a:t>
            </a:r>
          </a:p>
        </p:txBody>
      </p:sp>
      <p:sp>
        <p:nvSpPr>
          <p:cNvPr id="3" name="Content Placeholder 2">
            <a:extLst>
              <a:ext uri="{FF2B5EF4-FFF2-40B4-BE49-F238E27FC236}">
                <a16:creationId xmlns:a16="http://schemas.microsoft.com/office/drawing/2014/main" id="{E4EDBCE2-5D7C-5DDA-2D68-7AE9A2A97179}"/>
              </a:ext>
            </a:extLst>
          </p:cNvPr>
          <p:cNvSpPr>
            <a:spLocks noGrp="1"/>
          </p:cNvSpPr>
          <p:nvPr>
            <p:ph idx="1"/>
          </p:nvPr>
        </p:nvSpPr>
        <p:spPr>
          <a:xfrm>
            <a:off x="838200" y="2178657"/>
            <a:ext cx="10116312" cy="4189486"/>
          </a:xfrm>
        </p:spPr>
        <p:txBody>
          <a:bodyPr>
            <a:normAutofit/>
          </a:bodyPr>
          <a:lstStyle/>
          <a:p>
            <a:pPr marL="228600" indent="0">
              <a:buNone/>
            </a:pPr>
            <a:r>
              <a:rPr lang="en-US" b="1" dirty="0"/>
              <a:t>Atlas Vector Search queries </a:t>
            </a:r>
            <a:r>
              <a:rPr lang="en-US" dirty="0"/>
              <a:t>consist of aggregation pipeline stages where the </a:t>
            </a:r>
            <a:r>
              <a:rPr lang="en-US" b="1" dirty="0"/>
              <a:t>$</a:t>
            </a:r>
            <a:r>
              <a:rPr lang="en-US" b="1" dirty="0" err="1"/>
              <a:t>vectorSearch</a:t>
            </a:r>
            <a:r>
              <a:rPr lang="en-US" b="1" dirty="0"/>
              <a:t> </a:t>
            </a:r>
            <a:r>
              <a:rPr lang="en-US" dirty="0"/>
              <a:t>stage is the first stage in the pipeline</a:t>
            </a:r>
          </a:p>
          <a:p>
            <a:pPr marL="228600" indent="0">
              <a:buNone/>
            </a:pPr>
            <a:r>
              <a:rPr lang="en-US" dirty="0"/>
              <a:t>The process for a basic Atlas Vector Search query is as follows:</a:t>
            </a:r>
          </a:p>
          <a:p>
            <a:pPr marL="742950" indent="-514350">
              <a:buFont typeface="+mj-lt"/>
              <a:buAutoNum type="arabicPeriod"/>
            </a:pPr>
            <a:r>
              <a:rPr lang="en-US" dirty="0"/>
              <a:t>You select either ANN or ENN search and specify the query vector, which is the vector embedding that represents your search query</a:t>
            </a:r>
          </a:p>
          <a:p>
            <a:pPr marL="742950" indent="-514350">
              <a:buFont typeface="+mj-lt"/>
              <a:buAutoNum type="arabicPeriod"/>
            </a:pPr>
            <a:r>
              <a:rPr lang="en-US" dirty="0"/>
              <a:t>Atlas Vector Search finds vector embeddings in your data that are closest to the query vector</a:t>
            </a:r>
          </a:p>
          <a:p>
            <a:pPr marL="742950" indent="-514350">
              <a:buFont typeface="+mj-lt"/>
              <a:buAutoNum type="arabicPeriod"/>
            </a:pPr>
            <a:r>
              <a:rPr lang="en-US" dirty="0"/>
              <a:t>Atlas Vector Search returns the documents that contain the most similar vectors</a:t>
            </a:r>
          </a:p>
        </p:txBody>
      </p:sp>
    </p:spTree>
    <p:extLst>
      <p:ext uri="{BB962C8B-B14F-4D97-AF65-F5344CB8AC3E}">
        <p14:creationId xmlns:p14="http://schemas.microsoft.com/office/powerpoint/2010/main" val="348440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0B87-0F22-CC11-0DBC-774BD8CAB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0DACA-9A67-15F0-C877-7942B837E0DE}"/>
              </a:ext>
            </a:extLst>
          </p:cNvPr>
          <p:cNvSpPr>
            <a:spLocks noGrp="1"/>
          </p:cNvSpPr>
          <p:nvPr>
            <p:ph type="title"/>
          </p:nvPr>
        </p:nvSpPr>
        <p:spPr>
          <a:xfrm>
            <a:off x="838200" y="448887"/>
            <a:ext cx="9692640" cy="1325562"/>
          </a:xfrm>
        </p:spPr>
        <p:txBody>
          <a:bodyPr/>
          <a:lstStyle/>
          <a:p>
            <a:r>
              <a:rPr lang="en-US" dirty="0"/>
              <a:t>Atlas Vector Search Queries</a:t>
            </a:r>
          </a:p>
        </p:txBody>
      </p:sp>
      <p:sp>
        <p:nvSpPr>
          <p:cNvPr id="3" name="Content Placeholder 2">
            <a:extLst>
              <a:ext uri="{FF2B5EF4-FFF2-40B4-BE49-F238E27FC236}">
                <a16:creationId xmlns:a16="http://schemas.microsoft.com/office/drawing/2014/main" id="{B218C5EC-CADC-F66F-5ECE-A57AB4C22752}"/>
              </a:ext>
            </a:extLst>
          </p:cNvPr>
          <p:cNvSpPr>
            <a:spLocks noGrp="1"/>
          </p:cNvSpPr>
          <p:nvPr>
            <p:ph idx="1"/>
          </p:nvPr>
        </p:nvSpPr>
        <p:spPr>
          <a:xfrm>
            <a:off x="838200" y="2178656"/>
            <a:ext cx="10171545" cy="4135057"/>
          </a:xfrm>
        </p:spPr>
        <p:txBody>
          <a:bodyPr>
            <a:normAutofit/>
          </a:bodyPr>
          <a:lstStyle/>
          <a:p>
            <a:r>
              <a:rPr lang="en-US" sz="2000" dirty="0"/>
              <a:t>To customize your vector search query, you can pre-filter your data on fields that you've indexed by using an MQL match expression with supported query or aggregation operators or you can add additional aggregation stages to further process and organize your results</a:t>
            </a:r>
          </a:p>
        </p:txBody>
      </p:sp>
    </p:spTree>
    <p:extLst>
      <p:ext uri="{BB962C8B-B14F-4D97-AF65-F5344CB8AC3E}">
        <p14:creationId xmlns:p14="http://schemas.microsoft.com/office/powerpoint/2010/main" val="95322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D2572-CC1D-4AAE-98F0-6CE05421EE44}"/>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C432A770-7C98-4603-BB7E-CCAE3782CACD}"/>
              </a:ext>
            </a:extLst>
          </p:cNvPr>
          <p:cNvSpPr>
            <a:spLocks noGrp="1"/>
          </p:cNvSpPr>
          <p:nvPr>
            <p:ph idx="1"/>
          </p:nvPr>
        </p:nvSpPr>
        <p:spPr>
          <a:xfrm>
            <a:off x="1143000" y="2057400"/>
            <a:ext cx="9872871" cy="4475922"/>
          </a:xfrm>
        </p:spPr>
        <p:txBody>
          <a:bodyPr>
            <a:normAutofit/>
          </a:bodyPr>
          <a:lstStyle/>
          <a:p>
            <a:r>
              <a:rPr lang="en-US" dirty="0">
                <a:hlinkClick r:id="rId2"/>
              </a:rPr>
              <a:t>www.mongodb.com</a:t>
            </a:r>
            <a:endParaRPr lang="ro-RO" dirty="0"/>
          </a:p>
          <a:p>
            <a:r>
              <a:rPr lang="en-US" dirty="0">
                <a:hlinkClick r:id="rId3"/>
              </a:rPr>
              <a:t>https://www.json.org/</a:t>
            </a:r>
            <a:endParaRPr lang="ro-RO" dirty="0"/>
          </a:p>
          <a:p>
            <a:r>
              <a:rPr lang="ro-RO" dirty="0">
                <a:hlinkClick r:id="rId4"/>
              </a:rPr>
              <a:t>https://docs.mongodb.com/manual/tutorial/model-embedded-one-to-many-relationships-between-documents/</a:t>
            </a:r>
            <a:endParaRPr lang="en-US" dirty="0"/>
          </a:p>
          <a:p>
            <a:r>
              <a:rPr lang="ro-RO" dirty="0">
                <a:hlinkClick r:id="rId5"/>
              </a:rPr>
              <a:t>https://docs.mongodb.com/manual/tutorial/model-referenced-one-to-many-relationships-between-documents/</a:t>
            </a:r>
            <a:endParaRPr lang="en-US" dirty="0"/>
          </a:p>
          <a:p>
            <a:r>
              <a:rPr lang="ro-RO" dirty="0">
                <a:hlinkClick r:id="rId6"/>
              </a:rPr>
              <a:t>https://www.mongodb.com/mongodb-architecture</a:t>
            </a:r>
            <a:endParaRPr lang="ro-RO" dirty="0"/>
          </a:p>
          <a:p>
            <a:r>
              <a:rPr lang="ro-RO" dirty="0">
                <a:hlinkClick r:id="rId7"/>
              </a:rPr>
              <a:t>https://www.upwork.com/hiring/data/sql-vs-nosql-databases-whats-the-difference/</a:t>
            </a:r>
            <a:endParaRPr lang="ro-RO" dirty="0"/>
          </a:p>
          <a:p>
            <a:r>
              <a:rPr lang="en-US" dirty="0">
                <a:hlinkClick r:id="rId8"/>
              </a:rPr>
              <a:t>https://www.mongodb.com/cloud/atlas</a:t>
            </a:r>
            <a:endParaRPr lang="ro-RO" dirty="0"/>
          </a:p>
          <a:p>
            <a:endParaRPr lang="en-US" dirty="0"/>
          </a:p>
        </p:txBody>
      </p:sp>
    </p:spTree>
    <p:extLst>
      <p:ext uri="{BB962C8B-B14F-4D97-AF65-F5344CB8AC3E}">
        <p14:creationId xmlns:p14="http://schemas.microsoft.com/office/powerpoint/2010/main" val="287978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7771-C4BB-40CD-88D7-F6D4B73F3E99}"/>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15E629CB-C350-4822-87DE-7E8A1F156B5D}"/>
              </a:ext>
            </a:extLst>
          </p:cNvPr>
          <p:cNvSpPr>
            <a:spLocks noGrp="1"/>
          </p:cNvSpPr>
          <p:nvPr>
            <p:ph idx="1"/>
          </p:nvPr>
        </p:nvSpPr>
        <p:spPr>
          <a:xfrm>
            <a:off x="1261872" y="1828800"/>
            <a:ext cx="9692640" cy="4351337"/>
          </a:xfrm>
        </p:spPr>
        <p:txBody>
          <a:bodyPr>
            <a:normAutofit/>
          </a:bodyPr>
          <a:lstStyle/>
          <a:p>
            <a:r>
              <a:rPr lang="en-US" dirty="0">
                <a:hlinkClick r:id="rId2"/>
              </a:rPr>
              <a:t>https://docs.mongodb.com/manual/core/authentication/</a:t>
            </a:r>
            <a:endParaRPr lang="en-US" dirty="0"/>
          </a:p>
          <a:p>
            <a:r>
              <a:rPr lang="en-US" dirty="0">
                <a:hlinkClick r:id="rId3"/>
              </a:rPr>
              <a:t>https://www.mongodb.com/json-and-bson</a:t>
            </a:r>
            <a:endParaRPr lang="ro-RO" dirty="0"/>
          </a:p>
          <a:p>
            <a:r>
              <a:rPr lang="en-US" dirty="0">
                <a:hlinkClick r:id="rId4"/>
              </a:rPr>
              <a:t>https://docs.mongodb.com/mongodb-shell/</a:t>
            </a:r>
            <a:endParaRPr lang="ro-RO" dirty="0"/>
          </a:p>
          <a:p>
            <a:r>
              <a:rPr lang="en-US" dirty="0">
                <a:hlinkClick r:id="rId5"/>
              </a:rPr>
              <a:t>https://www.mongodb.com/nosql-explained/examples</a:t>
            </a:r>
            <a:endParaRPr lang="en-US" dirty="0"/>
          </a:p>
          <a:p>
            <a:r>
              <a:rPr lang="en-US" dirty="0">
                <a:hlinkClick r:id="rId6"/>
              </a:rPr>
              <a:t>https://www.mongodb.com/pricing</a:t>
            </a:r>
            <a:endParaRPr lang="en-US" dirty="0"/>
          </a:p>
          <a:p>
            <a:r>
              <a:rPr lang="en-US" dirty="0">
                <a:hlinkClick r:id="rId7"/>
              </a:rPr>
              <a:t>https://www.mongodb.com/docs/manual/core/security-oidc/</a:t>
            </a:r>
            <a:endParaRPr lang="en-US" dirty="0"/>
          </a:p>
          <a:p>
            <a:r>
              <a:rPr lang="en-US" dirty="0">
                <a:hlinkClick r:id="rId8"/>
              </a:rPr>
              <a:t>https://www.dailydoseofds.com/a-crash-course-on-building-rag-systems-part-2-with-implementations/</a:t>
            </a:r>
            <a:endParaRPr lang="en-US" dirty="0"/>
          </a:p>
          <a:p>
            <a:r>
              <a:rPr lang="en-US" dirty="0"/>
              <a:t>Pramod J. </a:t>
            </a:r>
            <a:r>
              <a:rPr lang="en-US" dirty="0" err="1"/>
              <a:t>Sadalage</a:t>
            </a:r>
            <a:r>
              <a:rPr lang="ro-RO" dirty="0"/>
              <a:t>,</a:t>
            </a:r>
            <a:r>
              <a:rPr lang="en-US" dirty="0"/>
              <a:t> Martin Fowler</a:t>
            </a:r>
            <a:r>
              <a:rPr lang="ro-RO" dirty="0"/>
              <a:t> - NoSQL Distilled</a:t>
            </a:r>
            <a:r>
              <a:rPr lang="en-US" dirty="0"/>
              <a:t>: A Brief Guide to the Emerging World of Polyglot Persistence</a:t>
            </a:r>
            <a:r>
              <a:rPr lang="ro-RO" dirty="0"/>
              <a:t> (1st Edition), </a:t>
            </a:r>
            <a:r>
              <a:rPr lang="en-US" dirty="0"/>
              <a:t>Addison-Wesley Professional</a:t>
            </a:r>
            <a:r>
              <a:rPr lang="ro-RO" dirty="0"/>
              <a:t>, 2012</a:t>
            </a:r>
            <a:endParaRPr lang="en-US" dirty="0"/>
          </a:p>
          <a:p>
            <a:endParaRPr lang="en-US" dirty="0"/>
          </a:p>
          <a:p>
            <a:endParaRPr lang="en-US" dirty="0"/>
          </a:p>
        </p:txBody>
      </p:sp>
    </p:spTree>
    <p:extLst>
      <p:ext uri="{BB962C8B-B14F-4D97-AF65-F5344CB8AC3E}">
        <p14:creationId xmlns:p14="http://schemas.microsoft.com/office/powerpoint/2010/main" val="70229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8B2D3-91D6-222F-99F2-1F4A6B172B99}"/>
              </a:ext>
            </a:extLst>
          </p:cNvPr>
          <p:cNvSpPr>
            <a:spLocks noGrp="1"/>
          </p:cNvSpPr>
          <p:nvPr>
            <p:ph type="title"/>
          </p:nvPr>
        </p:nvSpPr>
        <p:spPr/>
        <p:txBody>
          <a:bodyPr/>
          <a:lstStyle/>
          <a:p>
            <a:r>
              <a:rPr lang="en-US" dirty="0"/>
              <a:t>Bibliography</a:t>
            </a:r>
            <a:endParaRPr lang="ro-RO" dirty="0"/>
          </a:p>
        </p:txBody>
      </p:sp>
      <p:sp>
        <p:nvSpPr>
          <p:cNvPr id="3" name="Content Placeholder 2">
            <a:extLst>
              <a:ext uri="{FF2B5EF4-FFF2-40B4-BE49-F238E27FC236}">
                <a16:creationId xmlns:a16="http://schemas.microsoft.com/office/drawing/2014/main" id="{7BC8D733-1E61-63E5-3EC0-2B4942F7933D}"/>
              </a:ext>
            </a:extLst>
          </p:cNvPr>
          <p:cNvSpPr>
            <a:spLocks noGrp="1"/>
          </p:cNvSpPr>
          <p:nvPr>
            <p:ph idx="1"/>
          </p:nvPr>
        </p:nvSpPr>
        <p:spPr>
          <a:xfrm>
            <a:off x="1261872" y="1828800"/>
            <a:ext cx="9692640" cy="4351337"/>
          </a:xfrm>
        </p:spPr>
        <p:txBody>
          <a:bodyPr/>
          <a:lstStyle/>
          <a:p>
            <a:r>
              <a:rPr lang="ro-RO" dirty="0">
                <a:hlinkClick r:id="rId2"/>
              </a:rPr>
              <a:t>https://www.mongodb.com/resources/solutions/use-cases/webinar-comparing-postgre-sql-vs-mongodb-which-is-better-for-ai-workloads</a:t>
            </a:r>
            <a:r>
              <a:rPr lang="ro-RO" dirty="0"/>
              <a:t> </a:t>
            </a:r>
          </a:p>
          <a:p>
            <a:r>
              <a:rPr lang="en-US" dirty="0"/>
              <a:t>Rachelle Palmer, Ben Perlmutter, Ashwin Gangadhar, Nicholas Larew, Sigfrido Narváez, Thomas </a:t>
            </a:r>
            <a:r>
              <a:rPr lang="en-US" dirty="0" err="1"/>
              <a:t>Rueckstiess</a:t>
            </a:r>
            <a:r>
              <a:rPr lang="en-US" dirty="0"/>
              <a:t>, Henry Weller, Richmond Alake, Shubham Ranjan - Building AI Intensive Python Applications, First Edition, </a:t>
            </a:r>
            <a:r>
              <a:rPr lang="en-US" dirty="0" err="1"/>
              <a:t>Packt</a:t>
            </a:r>
            <a:r>
              <a:rPr lang="en-US" dirty="0"/>
              <a:t> Publishing, 2024​</a:t>
            </a:r>
          </a:p>
          <a:p>
            <a:r>
              <a:rPr lang="en-US" dirty="0">
                <a:hlinkClick r:id="rId3" tooltip="https://www.mongodb.com/docs/atlas/atlas-vector-search/tutorials/vector-search-quick-start/#std-label-vector-search-quickstart-sample-data"/>
              </a:rPr>
              <a:t>https://www.mongodb.com/docs/atlas/atlas-vector-search/tutorials/vector-search-quick-start/#std-label-vector-search-quickstart-sample-data</a:t>
            </a:r>
            <a:endParaRPr lang="en-US" dirty="0"/>
          </a:p>
          <a:p>
            <a:r>
              <a:rPr lang="en-US" dirty="0">
                <a:hlinkClick r:id="rId4"/>
              </a:rPr>
              <a:t>https://www.mongodb.com/docs/atlas/atlas-vector-search/vector-search-overview/</a:t>
            </a:r>
            <a:endParaRPr lang="en-US" dirty="0"/>
          </a:p>
          <a:p>
            <a:r>
              <a:rPr lang="en-US" dirty="0">
                <a:hlinkClick r:id="rId5"/>
              </a:rPr>
              <a:t>https://www.mongodb.com/docs/atlas/atlas-vector-search/create-embeddings/?tck=mongodb_ai_chatbot</a:t>
            </a:r>
            <a:endParaRPr lang="en-US" dirty="0"/>
          </a:p>
          <a:p>
            <a:endParaRPr lang="en-US" dirty="0"/>
          </a:p>
          <a:p>
            <a:endParaRPr lang="ro-RO" dirty="0"/>
          </a:p>
        </p:txBody>
      </p:sp>
    </p:spTree>
    <p:extLst>
      <p:ext uri="{BB962C8B-B14F-4D97-AF65-F5344CB8AC3E}">
        <p14:creationId xmlns:p14="http://schemas.microsoft.com/office/powerpoint/2010/main" val="139048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iew">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9B3D42278AF4ABA414AEF23D77459" ma:contentTypeVersion="10" ma:contentTypeDescription="Create a new document." ma:contentTypeScope="" ma:versionID="87968227ac7081b94486f557c3cbf810">
  <xsd:schema xmlns:xsd="http://www.w3.org/2001/XMLSchema" xmlns:xs="http://www.w3.org/2001/XMLSchema" xmlns:p="http://schemas.microsoft.com/office/2006/metadata/properties" xmlns:ns2="f0d90579-0931-47c5-9a92-0d8d3822763d" xmlns:ns3="db97ba85-579e-411b-948c-311c2e42328f" targetNamespace="http://schemas.microsoft.com/office/2006/metadata/properties" ma:root="true" ma:fieldsID="10d16ecf9f8f885a089070e00eeb9dd1" ns2:_="" ns3:_="">
    <xsd:import namespace="f0d90579-0931-47c5-9a92-0d8d3822763d"/>
    <xsd:import namespace="db97ba85-579e-411b-948c-311c2e423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d90579-0931-47c5-9a92-0d8d3822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f85decb-1301-438d-8b3f-81c7864c2a9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97ba85-579e-411b-948c-311c2e42328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7d0544f-e624-4bac-ab63-576afdfc372d}" ma:internalName="TaxCatchAll" ma:showField="CatchAllData" ma:web="db97ba85-579e-411b-948c-311c2e4232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b97ba85-579e-411b-948c-311c2e42328f" xsi:nil="true"/>
    <lcf76f155ced4ddcb4097134ff3c332f xmlns="f0d90579-0931-47c5-9a92-0d8d3822763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3947D3-0582-48AC-ACE4-A39452EC26B7}"/>
</file>

<file path=customXml/itemProps2.xml><?xml version="1.0" encoding="utf-8"?>
<ds:datastoreItem xmlns:ds="http://schemas.openxmlformats.org/officeDocument/2006/customXml" ds:itemID="{DEDD01B8-816B-49B7-8C81-03AB51D87C54}">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s>
</ds:datastoreItem>
</file>

<file path=customXml/itemProps3.xml><?xml version="1.0" encoding="utf-8"?>
<ds:datastoreItem xmlns:ds="http://schemas.openxmlformats.org/officeDocument/2006/customXml" ds:itemID="{B024FD56-CE1B-42FC-9E83-BFBF160724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View</Template>
  <TotalTime>7287</TotalTime>
  <Words>4100</Words>
  <Application>Microsoft Office PowerPoint</Application>
  <PresentationFormat>Widescreen</PresentationFormat>
  <Paragraphs>360</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Century Schoolbook</vt:lpstr>
      <vt:lpstr>Consolas</vt:lpstr>
      <vt:lpstr>Wingdings 2</vt:lpstr>
      <vt:lpstr>View</vt:lpstr>
      <vt:lpstr>NoSQL Databases and Vector Search</vt:lpstr>
      <vt:lpstr>Table of contents</vt:lpstr>
      <vt:lpstr>NoSQL Databases</vt:lpstr>
      <vt:lpstr>NoSQL Data Models</vt:lpstr>
      <vt:lpstr>NoSQL Data Models</vt:lpstr>
      <vt:lpstr>Key-value data model</vt:lpstr>
      <vt:lpstr>Wide-column store data model (column-family)</vt:lpstr>
      <vt:lpstr>Graph data model</vt:lpstr>
      <vt:lpstr>Document data model</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NoSQL Implementations: MongoDB</vt:lpstr>
      <vt:lpstr>MongoDB in a RAG (Retrieval- Augmented Generation) System</vt:lpstr>
      <vt:lpstr>MongoDB Atlas Vector Search</vt:lpstr>
      <vt:lpstr>MongoDB Atlas Vector Search</vt:lpstr>
      <vt:lpstr>MongoDB Atlas Vector Search</vt:lpstr>
      <vt:lpstr>MongoDB Atlas Vector Search</vt:lpstr>
      <vt:lpstr>Atlas Vector Search Indexes</vt:lpstr>
      <vt:lpstr>Atlas Vector Search Indexes</vt:lpstr>
      <vt:lpstr>Atlas Vector Search Queries</vt:lpstr>
      <vt:lpstr>Atlas Vector Search Queries</vt:lpstr>
      <vt:lpstr>Atlas Vector Search Queries</vt:lpstr>
      <vt:lpstr>Bibliography</vt:lpstr>
      <vt:lpstr>Bibliography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Solutions for Big Data</dc:title>
  <dc:creator>Camelia Andor</dc:creator>
  <cp:lastModifiedBy>Camelia - Florina Andor</cp:lastModifiedBy>
  <cp:revision>361</cp:revision>
  <dcterms:created xsi:type="dcterms:W3CDTF">2018-05-05T10:10:05Z</dcterms:created>
  <dcterms:modified xsi:type="dcterms:W3CDTF">2025-11-27T23:52:37Z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0x0101005DE9B3D42278AF4ABA414AEF23D77459</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