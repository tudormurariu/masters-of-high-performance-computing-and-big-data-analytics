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9" r:id="rId3"/>
    <p:sldId id="260" r:id="rId4"/>
    <p:sldId id="258" r:id="rId5"/>
    <p:sldId id="263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57C4F8-8D78-00D8-CAA5-F129747AA0B8}" v="171" dt="2026-01-16T10:29:02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841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313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391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058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203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374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1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675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093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769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325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0836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335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2331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867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2138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651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80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D1F8-4C68-8C69-8407-D08FB9ACF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ACFD5-BD6D-1C98-73C6-0747CCAD9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495300"/>
            <a:ext cx="8534400" cy="3615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chemeClr val="tx1"/>
                </a:solidFill>
                <a:ea typeface="+mn-lt"/>
                <a:cs typeface="+mn-lt"/>
              </a:rPr>
              <a:t>Real-Time and Historical Air Traffic Data Pipeline</a:t>
            </a:r>
            <a:endParaRPr lang="en-US" sz="4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536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A675F33-98AF-4B83-A3BB-0780A2314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loorplan on a table">
            <a:extLst>
              <a:ext uri="{FF2B5EF4-FFF2-40B4-BE49-F238E27FC236}">
                <a16:creationId xmlns:a16="http://schemas.microsoft.com/office/drawing/2014/main" id="{0F7DDFC7-C13F-16BA-A082-4EB95BC153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r="-2" b="20109"/>
          <a:stretch>
            <a:fillRect/>
          </a:stretch>
        </p:blipFill>
        <p:spPr>
          <a:xfrm>
            <a:off x="-3175" y="10"/>
            <a:ext cx="12192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A102EE-F6E8-1816-05BA-DC7500A266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9690" y="-1257853"/>
            <a:ext cx="8001000" cy="2971801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Project Overview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7BEDE-21E5-1D78-00F3-608640B95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212" y="2584911"/>
            <a:ext cx="6765100" cy="1947333"/>
          </a:xfrm>
        </p:spPr>
        <p:txBody>
          <a:bodyPr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Real-time and historical flight data processing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Data collected from 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OpenSky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 Network API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Batch and streaming data pipelines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REST API for data access and validation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819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512F9CB-A1A0-4043-A103-F6A4B94B6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BE6588-EE16-4389-857C-86A156D49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FD48D2-B0A7-413D-B947-AA55AC129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BE668D0-D906-4EEE-B32F-8C028624B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1DE67A3-B8F6-4CFD-A8E0-D15200F23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62362DE-7747-4D8B-99FA-8E36F0B15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186A2-57BF-9595-116A-D5F0A7ACF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711" y="109574"/>
            <a:ext cx="6368858" cy="30289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System Architecture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EAEFE-D647-EBEC-7496-901C88310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6845" y="3435259"/>
            <a:ext cx="5233180" cy="156474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Client–server architecture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Decoupled frontend and backend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Real-time and batch processing pipelines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REST API as communication layer</a:t>
            </a:r>
          </a:p>
          <a:p>
            <a:pPr>
              <a:lnSpc>
                <a:spcPct val="90000"/>
              </a:lnSpc>
            </a:pPr>
            <a:endParaRPr lang="en-US"/>
          </a:p>
        </p:txBody>
      </p:sp>
      <p:pic>
        <p:nvPicPr>
          <p:cNvPr id="7" name="Graphic 6" descr="Server">
            <a:extLst>
              <a:ext uri="{FF2B5EF4-FFF2-40B4-BE49-F238E27FC236}">
                <a16:creationId xmlns:a16="http://schemas.microsoft.com/office/drawing/2014/main" id="{6CA06F78-C65C-B33B-F5DD-2114362D80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633" y="1264416"/>
            <a:ext cx="4004489" cy="4004489"/>
          </a:xfrm>
          <a:prstGeom prst="rect">
            <a:avLst/>
          </a:prstGeom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25123E6E-F713-4254-A6BF-358CC8EC6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F690FE0-5412-4598-8AD6-769BB36E2C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4850BB6-6709-408E-BEFD-24DC5E3C2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A03B410-983E-40D8-A4EA-2BB747CB0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2B92421-6A58-4A51-AB7D-B97EA85E3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D092B0B-C6FB-4CDC-ABE8-5C817CAC69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4814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B90296-CFE0-401D-9CA3-32966EC4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C9B4EE-7611-4ED9-B356-7BDD377C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4F266A-F2F7-47CD-8BBC-E3777E982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D69C80-8919-4A32-B897-F2A21F940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27B072-CC5B-481B-9719-8CD4C5444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13BE87B-D7FD-4BF3-A7BC-511F52252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5A481B-C639-4892-B0EF-4D8373A9B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4639734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E589C21-CEDE-4D90-AC85-6E43B68D1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3449715"/>
            <a:ext cx="2981858" cy="3208867"/>
            <a:chOff x="9206969" y="2963333"/>
            <a:chExt cx="2981858" cy="32088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F4121EC-0ADD-45C0-85F0-D49F67A3ED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22F012F-0680-4AEC-9884-BA712ED2B9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A5CEDFE-9EC8-436B-AE10-F85A84778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9C70031-55D8-483B-8452-A6B809D0A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24F1E16-B0BE-4400-9A10-95BB1D52C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321204-17F5-3295-E903-A8E1A50E2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738" y="685798"/>
            <a:ext cx="6159273" cy="449580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Backend Technologies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B7183-D769-E9CA-2102-290BE222C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98171" y="685798"/>
            <a:ext cx="2502578" cy="55491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2100">
                <a:solidFill>
                  <a:srgbClr val="FFFFFF"/>
                </a:solidFill>
              </a:rPr>
              <a:t>Python as main programming language</a:t>
            </a:r>
          </a:p>
          <a:p>
            <a:pPr algn="r"/>
            <a:r>
              <a:rPr lang="en-US" sz="2100">
                <a:solidFill>
                  <a:srgbClr val="FFFFFF"/>
                </a:solidFill>
              </a:rPr>
              <a:t>Pandas for data manipulation</a:t>
            </a:r>
          </a:p>
          <a:p>
            <a:pPr algn="r"/>
            <a:r>
              <a:rPr lang="en-US" sz="2100">
                <a:solidFill>
                  <a:srgbClr val="FFFFFF"/>
                </a:solidFill>
              </a:rPr>
              <a:t>Apache Spark for batch processing</a:t>
            </a:r>
          </a:p>
          <a:p>
            <a:pPr algn="r"/>
            <a:r>
              <a:rPr lang="en-US" sz="2100">
                <a:solidFill>
                  <a:srgbClr val="FFFFFF"/>
                </a:solidFill>
              </a:rPr>
              <a:t>FastAPI for REST API services</a:t>
            </a:r>
          </a:p>
          <a:p>
            <a:pPr algn="r"/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548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512F9CB-A1A0-4043-A103-F6A4B94B6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BE6588-EE16-4389-857C-86A156D49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FD48D2-B0A7-413D-B947-AA55AC129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BE668D0-D906-4EEE-B32F-8C028624B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1DE67A3-B8F6-4CFD-A8E0-D15200F23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62362DE-7747-4D8B-99FA-8E36F0B15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41F7D0-F226-511C-3CC9-B2E8B7174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711" y="-33992"/>
            <a:ext cx="6368858" cy="30289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WHY OpenSky Network API 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20015-6A38-8990-8013-EA9DDE02B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6845" y="3435259"/>
            <a:ext cx="5233180" cy="156474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Open-source aviation data platform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Provides real-time aircraft state vectors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Includes aircraft position, callsign, velocity, altitude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Supports geographic and temporal filtering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Suitable for large-scale air traffic analysis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Graphic 6" descr="Airplane">
            <a:extLst>
              <a:ext uri="{FF2B5EF4-FFF2-40B4-BE49-F238E27FC236}">
                <a16:creationId xmlns:a16="http://schemas.microsoft.com/office/drawing/2014/main" id="{525F6531-C5FF-C71C-2D30-14C164CA8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633" y="1264416"/>
            <a:ext cx="4004489" cy="4004489"/>
          </a:xfrm>
          <a:prstGeom prst="rect">
            <a:avLst/>
          </a:prstGeom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25123E6E-F713-4254-A6BF-358CC8EC6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F690FE0-5412-4598-8AD6-769BB36E2C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4850BB6-6709-408E-BEFD-24DC5E3C2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A03B410-983E-40D8-A4EA-2BB747CB0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2B92421-6A58-4A51-AB7D-B97EA85E3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D092B0B-C6FB-4CDC-ABE8-5C817CAC69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20019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512F9CB-A1A0-4043-A103-F6A4B94B6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BE6588-EE16-4389-857C-86A156D49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FD48D2-B0A7-413D-B947-AA55AC129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BE668D0-D906-4EEE-B32F-8C028624B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1DE67A3-B8F6-4CFD-A8E0-D15200F23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62362DE-7747-4D8B-99FA-8E36F0B15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87F523-A499-8F66-0B81-633F8A7AE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5754" y="628617"/>
            <a:ext cx="6368858" cy="30289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Frontend Technology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EB1D4-4555-9D4C-EDEE-CCBB4700F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38050" y="3855073"/>
            <a:ext cx="5221975" cy="23715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 dirty="0">
                <a:solidFill>
                  <a:schemeClr val="tx1"/>
                </a:solidFill>
              </a:rPr>
              <a:t>React with TypeScript</a:t>
            </a:r>
          </a:p>
          <a:p>
            <a:r>
              <a:rPr lang="en-US" sz="1900" dirty="0">
                <a:solidFill>
                  <a:schemeClr val="tx1"/>
                </a:solidFill>
              </a:rPr>
              <a:t>Functional components and React Hooks</a:t>
            </a:r>
          </a:p>
          <a:p>
            <a:r>
              <a:rPr lang="en-US" sz="1900" dirty="0">
                <a:solidFill>
                  <a:schemeClr val="tx1"/>
                </a:solidFill>
              </a:rPr>
              <a:t>Recharts for data visualization</a:t>
            </a:r>
          </a:p>
          <a:p>
            <a:r>
              <a:rPr lang="en-US" sz="1900" dirty="0">
                <a:solidFill>
                  <a:schemeClr val="tx1"/>
                </a:solidFill>
                <a:ea typeface="+mn-lt"/>
                <a:cs typeface="+mn-lt"/>
              </a:rPr>
              <a:t>Contains a real-Time Update Mechanism (configurable refresh interval)</a:t>
            </a:r>
            <a:endParaRPr lang="en-US" dirty="0">
              <a:solidFill>
                <a:schemeClr val="tx1"/>
              </a:solidFill>
              <a:ea typeface="+mn-lt"/>
              <a:cs typeface="+mn-lt"/>
            </a:endParaRPr>
          </a:p>
          <a:p>
            <a:endParaRPr lang="en-US" sz="1900"/>
          </a:p>
        </p:txBody>
      </p:sp>
      <p:pic>
        <p:nvPicPr>
          <p:cNvPr id="7" name="Graphic 6" descr="Gears">
            <a:extLst>
              <a:ext uri="{FF2B5EF4-FFF2-40B4-BE49-F238E27FC236}">
                <a16:creationId xmlns:a16="http://schemas.microsoft.com/office/drawing/2014/main" id="{0A694E66-1D81-1057-2AFC-4210813CA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633" y="1264416"/>
            <a:ext cx="4004489" cy="4004489"/>
          </a:xfrm>
          <a:prstGeom prst="rect">
            <a:avLst/>
          </a:prstGeom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25123E6E-F713-4254-A6BF-358CC8EC6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F690FE0-5412-4598-8AD6-769BB36E2C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4850BB6-6709-408E-BEFD-24DC5E3C2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A03B410-983E-40D8-A4EA-2BB747CB0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2B92421-6A58-4A51-AB7D-B97EA85E30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D092B0B-C6FB-4CDC-ABE8-5C817CAC69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9879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7882E-E3F3-304A-C170-3C0516BEF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4908" y="2676202"/>
            <a:ext cx="8534400" cy="1507067"/>
          </a:xfrm>
        </p:spPr>
        <p:txBody>
          <a:bodyPr>
            <a:noAutofit/>
          </a:bodyPr>
          <a:lstStyle/>
          <a:p>
            <a:r>
              <a:rPr lang="en-US" sz="9600" dirty="0">
                <a:ea typeface="+mj-lt"/>
                <a:cs typeface="+mj-lt"/>
              </a:rPr>
              <a:t>DEMO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1319711368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Slice</vt:lpstr>
      <vt:lpstr>Team 11</vt:lpstr>
      <vt:lpstr>Project Overview</vt:lpstr>
      <vt:lpstr>System Architecture Overview</vt:lpstr>
      <vt:lpstr>Backend Technologies</vt:lpstr>
      <vt:lpstr>WHY OpenSky Network API ?</vt:lpstr>
      <vt:lpstr>Frontend Technology Stack</vt:lpstr>
      <vt:lpstr>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75</cp:revision>
  <dcterms:created xsi:type="dcterms:W3CDTF">2026-01-16T09:54:50Z</dcterms:created>
  <dcterms:modified xsi:type="dcterms:W3CDTF">2026-01-16T11:03:35Z</dcterms:modified>
</cp:coreProperties>
</file>