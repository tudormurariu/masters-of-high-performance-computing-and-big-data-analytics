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>
      <p:cViewPr varScale="1">
        <p:scale>
          <a:sx n="129" d="100"/>
          <a:sy n="129" d="100"/>
        </p:scale>
        <p:origin x="-113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3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93A562A5-0BAB-F516-7B6F-43F1ADC6749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5867400" cy="6858000"/>
            <a:chOff x="0" y="0"/>
            <a:chExt cx="3696" cy="4320"/>
          </a:xfrm>
        </p:grpSpPr>
        <p:sp>
          <p:nvSpPr>
            <p:cNvPr id="5123" name="Rectangle 3">
              <a:extLst>
                <a:ext uri="{FF2B5EF4-FFF2-40B4-BE49-F238E27FC236}">
                  <a16:creationId xmlns:a16="http://schemas.microsoft.com/office/drawing/2014/main" id="{00FD7E95-E945-8647-640F-5029160BF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2880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en-US" sz="2400" b="0">
                <a:latin typeface="Times New Roman" panose="02020603050405020304" pitchFamily="18" charset="0"/>
              </a:endParaRPr>
            </a:p>
          </p:txBody>
        </p:sp>
        <p:sp>
          <p:nvSpPr>
            <p:cNvPr id="5124" name="AutoShape 4">
              <a:extLst>
                <a:ext uri="{FF2B5EF4-FFF2-40B4-BE49-F238E27FC236}">
                  <a16:creationId xmlns:a16="http://schemas.microsoft.com/office/drawing/2014/main" id="{CBC34984-EE1A-F808-2CDD-232403AC8340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32" y="624"/>
              <a:ext cx="3264" cy="120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en-US" sz="2400" b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125" name="Group 5">
            <a:extLst>
              <a:ext uri="{FF2B5EF4-FFF2-40B4-BE49-F238E27FC236}">
                <a16:creationId xmlns:a16="http://schemas.microsoft.com/office/drawing/2014/main" id="{34EBBBD8-E334-3FBA-EF12-0189E90DAE6D}"/>
              </a:ext>
            </a:extLst>
          </p:cNvPr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5126" name="AutoShape 6">
              <a:extLst>
                <a:ext uri="{FF2B5EF4-FFF2-40B4-BE49-F238E27FC236}">
                  <a16:creationId xmlns:a16="http://schemas.microsoft.com/office/drawing/2014/main" id="{FD979885-51BC-0274-A70D-2328C04C41D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" name="AutoShape 7">
              <a:extLst>
                <a:ext uri="{FF2B5EF4-FFF2-40B4-BE49-F238E27FC236}">
                  <a16:creationId xmlns:a16="http://schemas.microsoft.com/office/drawing/2014/main" id="{2B8D6CFC-97F8-2840-776E-3A9248931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8" name="Rectangle 8">
            <a:extLst>
              <a:ext uri="{FF2B5EF4-FFF2-40B4-BE49-F238E27FC236}">
                <a16:creationId xmlns:a16="http://schemas.microsoft.com/office/drawing/2014/main" id="{1420DCDD-D25D-1A4C-E7ED-6D3E979E142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40132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8BFF3EF9-4D56-89D1-80E9-1203FF4DA24F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3D720CE5-48FA-8AE3-1142-9E679587506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en-US"/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671517B3-4D75-B853-6CE7-633797F9FF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76200" y="6248400"/>
            <a:ext cx="587375" cy="488950"/>
          </a:xfrm>
        </p:spPr>
        <p:txBody>
          <a:bodyPr anchorCtr="0"/>
          <a:lstStyle>
            <a:lvl1pPr>
              <a:defRPr/>
            </a:lvl1pPr>
          </a:lstStyle>
          <a:p>
            <a:fld id="{15E41E00-B36A-4A8F-99E2-E5533AC43C7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132" name="AutoShape 12">
            <a:extLst>
              <a:ext uri="{FF2B5EF4-FFF2-40B4-BE49-F238E27FC236}">
                <a16:creationId xmlns:a16="http://schemas.microsoft.com/office/drawing/2014/main" id="{ADD775D1-CC83-732D-2DBD-2425DC0E2D9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90600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8FF40-1153-F54C-778D-1D32D81C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843B6-2B99-4574-4838-8A785ED7A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B845-E31A-6E56-DDC5-110D8F273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14D71-C4DC-9F5D-E5E5-1D0E9BA2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47FB8-C5CD-B459-24F2-4524CF73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023510-0F28-4D8B-BF29-823EE25ECB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8096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063E-7BBB-72E8-4ED8-26EC56ECA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8BAED-F60B-0949-CBD2-1289A3C08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785B4-94B0-9FE4-520E-45FBC34E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649C8-00C4-1B6A-2E1B-69168992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6327A-857B-D6EC-DE7F-3EEADBDFB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A1F2FE-E815-4046-852E-EFFBB50BB5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99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F5FF8-10F7-5710-6131-C54FC0098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4F929-A254-FC54-AD1C-C180F1ADD4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6FCD0-32A8-6106-E6D9-8522C68F18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5D67A-C1A4-60B8-25FD-D8C46561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C0D7E-E9DF-5AD2-A6F5-CAF4468F5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E859D-46CE-5AB4-7060-7D6A080A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1AE4E8-3F67-49CB-AA14-081F38C4A8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28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25892-4F71-E771-99E7-4094F654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89198-F744-7716-DCE5-2C9A55892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6D50D-390C-2244-DF95-8C0199568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843B89-AE45-FBF7-0E42-02319137A9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704CC6-F909-9564-62D1-1B4BED34A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85C6F0-4852-E958-EAEF-7581E5AC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C93D0-74CF-6AD3-5471-FD8DDC6A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25E016-D4C9-33DA-A73B-B05CC0EE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7DDF6F-A77C-472A-8777-1B358B9793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516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D550B-F4E3-44D4-8B7A-8AE6686D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67A7B-4C7A-6566-4370-0D41C5490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497A9-6F8F-558D-4DA7-93256D0AE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101D6-A99B-F3AE-1050-D3D10EC3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4B0C1-54D2-47F9-BD13-6DBCFE79F3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810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35FAF7-72D0-2F2F-0952-A97FB1CB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E6764-1E20-2F27-E4D4-AF8826ACB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67566-DB3D-A8A0-892B-18B743F37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5D1642-5CC8-430F-A309-DC7FB7E225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461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D25D8-EF82-169F-D759-4A69FE2C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50B9C-70A8-3F3A-F18B-448580686B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E0D9E-789A-203D-CE51-F9F73A41B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C71A7C-64E2-5DA2-7F3D-6C35C564D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0C1BE-40EE-53EE-477F-1E248124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EB2EE-6EF2-744F-E928-E08E42DB5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5F02AD-D2AA-49BF-9453-AC2827FF5C3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47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35D0-9A4A-9CA7-7DC8-17F8FFD0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D5514F-982A-079C-2FE9-D1FFE9D0A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D6E16-4106-1C99-D29A-472BF7BBE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ABEBE9-9E6E-2C08-898C-5C490AC20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57D5D2-FF56-2E62-F344-8AEB3D87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3CA44-0760-CAB2-B9D1-7F288E40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5C0DDB-617B-44FF-9AAD-ECF49B501D1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975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73B12-2BCE-5BB4-B80B-660ADCD82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ABA2F-2FF6-12F9-F748-19623CB85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41D97-D80D-DBE8-D92C-F36F5485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25AE5-6862-E045-584F-C65055F36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D332C-7162-9A7C-1C87-94DD9BFF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992E1-73B5-44E0-BFBA-B21A719969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2699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A7599C-8419-5E58-AC1D-2208CDF93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05600" y="762000"/>
            <a:ext cx="1981200" cy="5324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80AB9-FF0C-869A-E543-3DBC2DB22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0" y="762000"/>
            <a:ext cx="5791200" cy="5324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9A840-9174-C748-7B2E-1439B613D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5EE06-944F-594B-2B60-5E977F1FA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45E86-1C56-C4C2-2D7E-E0B17987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70B46A-8461-4371-BB5F-789A75BBE62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1811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6FA5-BBFE-1D79-8A29-97275A31E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C1633E-3D3C-E5FA-A152-15997F92E03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62C901-5612-FBAA-6B7F-0D834107EF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FF58E-945B-6F1E-71C2-1192F4100E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5C2D6-942C-1971-B05B-740627379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147B8-2211-AC36-DE58-57EC40220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2628420A-E891-4C79-910C-524A51C8005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428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BB7EF14A-3C90-49F7-54DA-CCE2A11B414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7620000" cy="6858000"/>
            <a:chOff x="0" y="0"/>
            <a:chExt cx="4800" cy="4320"/>
          </a:xfrm>
        </p:grpSpPr>
        <p:grpSp>
          <p:nvGrpSpPr>
            <p:cNvPr id="4099" name="Group 3">
              <a:extLst>
                <a:ext uri="{FF2B5EF4-FFF2-40B4-BE49-F238E27FC236}">
                  <a16:creationId xmlns:a16="http://schemas.microsoft.com/office/drawing/2014/main" id="{877E4576-F260-A947-2C72-7E74BBF38BFA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0"/>
              <a:ext cx="2016" cy="4320"/>
              <a:chOff x="0" y="0"/>
              <a:chExt cx="2016" cy="4320"/>
            </a:xfrm>
          </p:grpSpPr>
          <p:sp>
            <p:nvSpPr>
              <p:cNvPr id="4100" name="Rectangle 4">
                <a:extLst>
                  <a:ext uri="{FF2B5EF4-FFF2-40B4-BE49-F238E27FC236}">
                    <a16:creationId xmlns:a16="http://schemas.microsoft.com/office/drawing/2014/main" id="{BAD7F19A-434A-A3B9-4F90-C4AC89974B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0"/>
                <a:ext cx="480" cy="43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1" name="Freeform 5">
                <a:extLst>
                  <a:ext uri="{FF2B5EF4-FFF2-40B4-BE49-F238E27FC236}">
                    <a16:creationId xmlns:a16="http://schemas.microsoft.com/office/drawing/2014/main" id="{F4755B0B-7044-A7AA-1F48-F85CCEF55D7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288" y="0"/>
                <a:ext cx="1728" cy="735"/>
              </a:xfrm>
              <a:custGeom>
                <a:avLst/>
                <a:gdLst>
                  <a:gd name="T0" fmla="*/ 1728 w 1728"/>
                  <a:gd name="T1" fmla="*/ 0 h 735"/>
                  <a:gd name="T2" fmla="*/ 1728 w 1728"/>
                  <a:gd name="T3" fmla="*/ 480 h 735"/>
                  <a:gd name="T4" fmla="*/ 380 w 1728"/>
                  <a:gd name="T5" fmla="*/ 482 h 735"/>
                  <a:gd name="T6" fmla="*/ 354 w 1728"/>
                  <a:gd name="T7" fmla="*/ 480 h 735"/>
                  <a:gd name="T8" fmla="*/ 308 w 1728"/>
                  <a:gd name="T9" fmla="*/ 489 h 735"/>
                  <a:gd name="T10" fmla="*/ 246 w 1728"/>
                  <a:gd name="T11" fmla="*/ 531 h 735"/>
                  <a:gd name="T12" fmla="*/ 206 w 1728"/>
                  <a:gd name="T13" fmla="*/ 597 h 735"/>
                  <a:gd name="T14" fmla="*/ 192 w 1728"/>
                  <a:gd name="T15" fmla="*/ 666 h 735"/>
                  <a:gd name="T16" fmla="*/ 192 w 1728"/>
                  <a:gd name="T17" fmla="*/ 735 h 735"/>
                  <a:gd name="T18" fmla="*/ 0 w 1728"/>
                  <a:gd name="T19" fmla="*/ 735 h 735"/>
                  <a:gd name="T20" fmla="*/ 0 w 1728"/>
                  <a:gd name="T21" fmla="*/ 480 h 735"/>
                  <a:gd name="T22" fmla="*/ 0 w 1728"/>
                  <a:gd name="T23" fmla="*/ 0 h 735"/>
                  <a:gd name="T24" fmla="*/ 1728 w 1728"/>
                  <a:gd name="T25" fmla="*/ 0 h 7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728" h="735">
                    <a:moveTo>
                      <a:pt x="1728" y="0"/>
                    </a:moveTo>
                    <a:lnTo>
                      <a:pt x="1728" y="480"/>
                    </a:lnTo>
                    <a:lnTo>
                      <a:pt x="380" y="482"/>
                    </a:lnTo>
                    <a:lnTo>
                      <a:pt x="354" y="480"/>
                    </a:lnTo>
                    <a:lnTo>
                      <a:pt x="308" y="489"/>
                    </a:lnTo>
                    <a:cubicBezTo>
                      <a:pt x="290" y="498"/>
                      <a:pt x="263" y="513"/>
                      <a:pt x="246" y="531"/>
                    </a:cubicBezTo>
                    <a:cubicBezTo>
                      <a:pt x="229" y="549"/>
                      <a:pt x="215" y="574"/>
                      <a:pt x="206" y="597"/>
                    </a:cubicBezTo>
                    <a:cubicBezTo>
                      <a:pt x="197" y="620"/>
                      <a:pt x="194" y="643"/>
                      <a:pt x="192" y="666"/>
                    </a:cubicBezTo>
                    <a:lnTo>
                      <a:pt x="192" y="735"/>
                    </a:lnTo>
                    <a:lnTo>
                      <a:pt x="0" y="735"/>
                    </a:lnTo>
                    <a:lnTo>
                      <a:pt x="0" y="480"/>
                    </a:lnTo>
                    <a:lnTo>
                      <a:pt x="0" y="0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miter lim="800000"/>
                    <a:headEnd type="none" w="med" len="med"/>
                    <a:tailEnd type="none" w="med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4102" name="Group 6">
              <a:extLst>
                <a:ext uri="{FF2B5EF4-FFF2-40B4-BE49-F238E27FC236}">
                  <a16:creationId xmlns:a16="http://schemas.microsoft.com/office/drawing/2014/main" id="{78D7CDE1-E7CE-B7A6-F5CA-24D01F53E7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248"/>
              <a:ext cx="4656" cy="201"/>
              <a:chOff x="144" y="1248"/>
              <a:chExt cx="4656" cy="201"/>
            </a:xfrm>
          </p:grpSpPr>
          <p:sp>
            <p:nvSpPr>
              <p:cNvPr id="4103" name="AutoShape 7">
                <a:extLst>
                  <a:ext uri="{FF2B5EF4-FFF2-40B4-BE49-F238E27FC236}">
                    <a16:creationId xmlns:a16="http://schemas.microsoft.com/office/drawing/2014/main" id="{ED9207B0-BE62-3ABF-0355-D32C446A7D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248"/>
                <a:ext cx="4416" cy="200"/>
              </a:xfrm>
              <a:prstGeom prst="roundRect">
                <a:avLst>
                  <a:gd name="adj" fmla="val 0"/>
                </a:avLst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104" name="AutoShape 8">
                <a:extLst>
                  <a:ext uri="{FF2B5EF4-FFF2-40B4-BE49-F238E27FC236}">
                    <a16:creationId xmlns:a16="http://schemas.microsoft.com/office/drawing/2014/main" id="{EE5976C6-48D1-D8CD-D9BA-747972C23C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144" y="1248"/>
                <a:ext cx="248" cy="201"/>
              </a:xfrm>
              <a:prstGeom prst="flowChartDelay">
                <a:avLst/>
              </a:pr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4105" name="AutoShape 9">
            <a:extLst>
              <a:ext uri="{FF2B5EF4-FFF2-40B4-BE49-F238E27FC236}">
                <a16:creationId xmlns:a16="http://schemas.microsoft.com/office/drawing/2014/main" id="{8E5AF0C0-E703-559A-D82F-D2CC1EFB3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762000"/>
            <a:ext cx="7924800" cy="1143000"/>
          </a:xfrm>
          <a:prstGeom prst="roundRect">
            <a:avLst>
              <a:gd name="adj" fmla="val 21667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75C83FB9-CC3C-5390-BDB6-1D44B62C3D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362200"/>
            <a:ext cx="7693025" cy="372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7F1B45CE-E0BB-0620-1622-E5A7892B3A0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438400" y="6248400"/>
            <a:ext cx="2130425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endParaRPr lang="en-US" altLang="en-US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31AE3FBE-2A42-67EA-683A-C821A346FB7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791200" y="6248400"/>
            <a:ext cx="2897188" cy="474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endParaRPr lang="en-US" altLang="en-US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4B2C1EF7-FECE-F927-380E-C3522857FE1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242050"/>
            <a:ext cx="587375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fld id="{76CCBDCE-D64D-4AA9-B20C-B7D9EF232CC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utoShape 2">
            <a:extLst>
              <a:ext uri="{FF2B5EF4-FFF2-40B4-BE49-F238E27FC236}">
                <a16:creationId xmlns:a16="http://schemas.microsoft.com/office/drawing/2014/main" id="{BC82C235-1751-45E7-3464-9F7FD4E807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DATA MINING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924EA89-828E-78CE-1654-FBFA043BEF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AutoShape 2">
            <a:extLst>
              <a:ext uri="{FF2B5EF4-FFF2-40B4-BE49-F238E27FC236}">
                <a16:creationId xmlns:a16="http://schemas.microsoft.com/office/drawing/2014/main" id="{4FAEFB24-0B2B-6919-9830-25D8FBF8B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K-nearest neighbor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AA9F544A-B7B4-5204-A032-EE5E71DDBEE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696200" cy="3724275"/>
          </a:xfrm>
        </p:spPr>
        <p:txBody>
          <a:bodyPr/>
          <a:lstStyle/>
          <a:p>
            <a:r>
              <a:rPr lang="en-US" altLang="en-US" sz="1600"/>
              <a:t>Clasificarea pentru o inregistrare noua se face comparand-o cu inregistrarile similare</a:t>
            </a:r>
          </a:p>
        </p:txBody>
      </p:sp>
      <p:pic>
        <p:nvPicPr>
          <p:cNvPr id="72709" name="Picture 5">
            <a:extLst>
              <a:ext uri="{FF2B5EF4-FFF2-40B4-BE49-F238E27FC236}">
                <a16:creationId xmlns:a16="http://schemas.microsoft.com/office/drawing/2014/main" id="{79469E5B-42AC-BDE7-F94B-E00B74F37CA9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47800" y="3048000"/>
            <a:ext cx="3770313" cy="3101975"/>
          </a:xfrm>
          <a:noFill/>
          <a:ln/>
        </p:spPr>
      </p:pic>
      <p:sp>
        <p:nvSpPr>
          <p:cNvPr id="72711" name="Text Box 7">
            <a:extLst>
              <a:ext uri="{FF2B5EF4-FFF2-40B4-BE49-F238E27FC236}">
                <a16:creationId xmlns:a16="http://schemas.microsoft.com/office/drawing/2014/main" id="{C474DD1E-DE92-108D-DC1A-04FB9F12A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096000"/>
            <a:ext cx="7391400" cy="1054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Referinta figura: </a:t>
            </a:r>
            <a:r>
              <a:rPr lang="en-US" altLang="en-US" b="0"/>
              <a:t>D. Larose, </a:t>
            </a:r>
            <a:r>
              <a:rPr lang="en-US" altLang="en-US" b="0" i="1"/>
              <a:t>Discovering Knowledge in Data. An Introduction to Data Mining</a:t>
            </a:r>
            <a:r>
              <a:rPr lang="en-US" altLang="en-US" b="0"/>
              <a:t>, John Wiley &amp; Sons, 2005.</a:t>
            </a:r>
          </a:p>
          <a:p>
            <a:pPr>
              <a:spcBef>
                <a:spcPct val="50000"/>
              </a:spcBef>
            </a:pPr>
            <a:endParaRPr lang="en-US" altLang="en-US"/>
          </a:p>
        </p:txBody>
      </p:sp>
      <p:sp>
        <p:nvSpPr>
          <p:cNvPr id="72712" name="Text Box 8">
            <a:extLst>
              <a:ext uri="{FF2B5EF4-FFF2-40B4-BE49-F238E27FC236}">
                <a16:creationId xmlns:a16="http://schemas.microsoft.com/office/drawing/2014/main" id="{8D86AC43-B9D9-2422-18F8-80B13EA0A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200400"/>
            <a:ext cx="3124200" cy="2325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sz="1400" b="0"/>
              <a:t>La adaugarea New Patient 1, este usor de determinat la care categorie de medicamente trebuie incadrat</a:t>
            </a:r>
          </a:p>
          <a:p>
            <a:endParaRPr lang="en-US" altLang="en-US" sz="1400" b="0"/>
          </a:p>
          <a:p>
            <a:r>
              <a:rPr lang="en-US" altLang="en-US" sz="1400" b="0"/>
              <a:t>La adaugarea New Patient 2 si New Patient 3, categoria de medicamente la care acestia trebuie incadrati depinde de numarul de indivizi similari cu care se face comparatia</a:t>
            </a:r>
          </a:p>
          <a:p>
            <a:pPr>
              <a:spcBef>
                <a:spcPct val="50000"/>
              </a:spcBef>
            </a:pPr>
            <a:endParaRPr lang="en-US" alt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C3109C0-3319-409B-5BB5-27FECCFF7F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15D2D667-BCFF-D76B-B7BF-E8B96B0EDF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800"/>
              <a:t>Intrebari care se pun atunci cand folosim acest algoritm:</a:t>
            </a:r>
          </a:p>
          <a:p>
            <a:pPr lvl="1"/>
            <a:endParaRPr lang="en-US" altLang="en-US" sz="1600"/>
          </a:p>
          <a:p>
            <a:pPr lvl="1"/>
            <a:r>
              <a:rPr lang="en-US" altLang="en-US" sz="1600"/>
              <a:t>Care este valoarea lui k?</a:t>
            </a:r>
          </a:p>
          <a:p>
            <a:pPr lvl="1"/>
            <a:r>
              <a:rPr lang="en-US" altLang="en-US" sz="1600"/>
              <a:t>Cum masuram similaritatea (distanta)?</a:t>
            </a:r>
          </a:p>
          <a:p>
            <a:pPr lvl="1"/>
            <a:r>
              <a:rPr lang="en-US" altLang="en-US" sz="1600"/>
              <a:t>Cum combinam informatia de la mai multe inregistrari?</a:t>
            </a:r>
          </a:p>
          <a:p>
            <a:pPr lvl="1"/>
            <a:r>
              <a:rPr lang="en-US" altLang="en-US" sz="1600"/>
              <a:t>Ar trebui ca unele inregistrari sa aiba o influenta mai mare decat altele (probabil cele care sunt mai aproape de noua inregistrare)?</a:t>
            </a:r>
          </a:p>
          <a:p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7" name="Rectangle 5">
            <a:extLst>
              <a:ext uri="{FF2B5EF4-FFF2-40B4-BE49-F238E27FC236}">
                <a16:creationId xmlns:a16="http://schemas.microsoft.com/office/drawing/2014/main" id="{079D3B31-5DD9-68FC-5F83-8DB8887EDD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9E0D45EF-D86E-F388-B61B-B7C67820310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696200" cy="3724275"/>
          </a:xfrm>
        </p:spPr>
        <p:txBody>
          <a:bodyPr/>
          <a:lstStyle/>
          <a:p>
            <a:r>
              <a:rPr lang="en-US" altLang="en-US" sz="1600" b="1"/>
              <a:t>Functia distanta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600"/>
              <a:t>	(cum definim similaritatea?)</a:t>
            </a:r>
          </a:p>
          <a:p>
            <a:r>
              <a:rPr lang="en-US" altLang="en-US" sz="1600"/>
              <a:t>Exemplu:</a:t>
            </a:r>
          </a:p>
          <a:p>
            <a:pPr lvl="1"/>
            <a:r>
              <a:rPr lang="en-US" altLang="en-US" sz="1400"/>
              <a:t>Un barbat de 50 ani este mai “aproape” de un barbat de 20 ani sau de o femeie de 50 ani?</a:t>
            </a:r>
          </a:p>
          <a:p>
            <a:r>
              <a:rPr lang="en-US" altLang="en-US" sz="1600"/>
              <a:t>Proprietatile functiei distanta:</a:t>
            </a:r>
          </a:p>
          <a:p>
            <a:pPr lvl="1"/>
            <a:r>
              <a:rPr lang="en-US" altLang="en-US" sz="1400"/>
              <a:t>d(x,y)&gt;=0, d(x,y)=0 dd x=y</a:t>
            </a:r>
          </a:p>
          <a:p>
            <a:pPr lvl="1"/>
            <a:r>
              <a:rPr lang="en-US" altLang="en-US" sz="1400"/>
              <a:t>d(x,y)=d(y,x)</a:t>
            </a:r>
          </a:p>
          <a:p>
            <a:pPr lvl="1"/>
            <a:r>
              <a:rPr lang="en-US" altLang="en-US" sz="1400"/>
              <a:t>d(x,z)&gt;=d(x,y)+d(y,z)</a:t>
            </a:r>
          </a:p>
          <a:p>
            <a:r>
              <a:rPr lang="en-US" altLang="en-US" sz="1600"/>
              <a:t>Cea mai folosita functie distanta este </a:t>
            </a:r>
            <a:r>
              <a:rPr lang="en-US" altLang="en-US" sz="1600" u="sng"/>
              <a:t>distanta euclidiana</a:t>
            </a:r>
          </a:p>
          <a:p>
            <a:endParaRPr lang="en-US" altLang="en-US" sz="1600" u="sng"/>
          </a:p>
        </p:txBody>
      </p:sp>
      <p:pic>
        <p:nvPicPr>
          <p:cNvPr id="79876" name="Picture 4">
            <a:extLst>
              <a:ext uri="{FF2B5EF4-FFF2-40B4-BE49-F238E27FC236}">
                <a16:creationId xmlns:a16="http://schemas.microsoft.com/office/drawing/2014/main" id="{0EEED744-0F1B-EE4B-8786-F52652149FA0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5181600"/>
            <a:ext cx="2667000" cy="676275"/>
          </a:xfrm>
          <a:noFill/>
          <a:ln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5" name="Rectangle 5">
            <a:extLst>
              <a:ext uri="{FF2B5EF4-FFF2-40B4-BE49-F238E27FC236}">
                <a16:creationId xmlns:a16="http://schemas.microsoft.com/office/drawing/2014/main" id="{7EC0BFC1-9042-EA39-D312-BAA542B9B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A4483905-5176-9F6E-2007-2B9E7FB2152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38200" y="2362200"/>
            <a:ext cx="7543800" cy="3724275"/>
          </a:xfrm>
        </p:spPr>
        <p:txBody>
          <a:bodyPr/>
          <a:lstStyle/>
          <a:p>
            <a:r>
              <a:rPr lang="en-US" altLang="en-US" sz="1800"/>
              <a:t>Unele atribute cu valori mari (cum ar fi venitul) pot avea o influenta mai mare decat alte atribute care sunt masurate la o scala mai mica (cum ar fi numarul de ani lucrati)</a:t>
            </a:r>
          </a:p>
          <a:p>
            <a:r>
              <a:rPr lang="en-US" altLang="en-US" sz="1800"/>
              <a:t>Pentru a evita acest lucru se vor face normalizari:</a:t>
            </a:r>
          </a:p>
          <a:p>
            <a:pPr lvl="1"/>
            <a:r>
              <a:rPr lang="en-US" altLang="en-US" sz="1800"/>
              <a:t>Normalizare min-max </a:t>
            </a:r>
          </a:p>
          <a:p>
            <a:pPr lvl="1"/>
            <a:r>
              <a:rPr lang="en-US" altLang="en-US" sz="1800"/>
              <a:t>Standardizare z-score</a:t>
            </a:r>
          </a:p>
          <a:p>
            <a:r>
              <a:rPr lang="en-US" altLang="en-US" sz="1800"/>
              <a:t>Pentru valori categoriale, distanta euclidiana nu este potrivita, putandu-se folosi in acest caz functia “diferit de”</a:t>
            </a:r>
          </a:p>
        </p:txBody>
      </p:sp>
      <p:pic>
        <p:nvPicPr>
          <p:cNvPr id="81924" name="Picture 4">
            <a:extLst>
              <a:ext uri="{FF2B5EF4-FFF2-40B4-BE49-F238E27FC236}">
                <a16:creationId xmlns:a16="http://schemas.microsoft.com/office/drawing/2014/main" id="{2276F932-55B5-A26E-1D03-83C37D20135E}"/>
              </a:ext>
            </a:extLst>
          </p:cNvPr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5600" y="5105400"/>
            <a:ext cx="2857500" cy="609600"/>
          </a:xfrm>
          <a:noFill/>
          <a:ln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AutoShape 2">
            <a:extLst>
              <a:ext uri="{FF2B5EF4-FFF2-40B4-BE49-F238E27FC236}">
                <a16:creationId xmlns:a16="http://schemas.microsoft.com/office/drawing/2014/main" id="{11791099-6DDC-986A-5FD4-B724E92E7B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/>
              <a:t>Exemplu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D775F1FF-9490-E4C2-54EF-314BD4493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800"/>
              <a:t>P</a:t>
            </a:r>
            <a:r>
              <a:rPr lang="en-US" altLang="en-US" sz="2000"/>
              <a:t>entru variabila varsta avem</a:t>
            </a:r>
          </a:p>
          <a:p>
            <a:pPr lvl="1"/>
            <a:r>
              <a:rPr lang="en-US" altLang="en-US" sz="1800"/>
              <a:t>max(x)-min(x)=50</a:t>
            </a:r>
          </a:p>
          <a:p>
            <a:pPr lvl="1"/>
            <a:r>
              <a:rPr lang="en-US" altLang="en-US" sz="1800"/>
              <a:t>min(x)=10</a:t>
            </a:r>
          </a:p>
          <a:p>
            <a:pPr lvl="1"/>
            <a:r>
              <a:rPr lang="en-US" altLang="en-US" sz="1800"/>
              <a:t>Mean=45</a:t>
            </a:r>
          </a:p>
          <a:p>
            <a:pPr lvl="1"/>
            <a:r>
              <a:rPr lang="en-US" altLang="en-US" sz="1800"/>
              <a:t>SD=15</a:t>
            </a:r>
          </a:p>
          <a:p>
            <a:r>
              <a:rPr lang="en-US" altLang="en-US" sz="2000"/>
              <a:t>Fie A=barbat in varsta de 50 ani, B=barbat in varsta de 20 ani, C=femeie in varsta de 50 ani</a:t>
            </a:r>
          </a:p>
          <a:p>
            <a:r>
              <a:rPr lang="en-US" altLang="en-US" sz="2000"/>
              <a:t>vom calcula similaritatea (distanta) dintre A si B, respectiv dintre A si C</a:t>
            </a:r>
          </a:p>
          <a:p>
            <a:endParaRPr lang="en-US" altLang="en-US" sz="2000"/>
          </a:p>
          <a:p>
            <a:pPr lvl="1"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Rectangle 5">
            <a:extLst>
              <a:ext uri="{FF2B5EF4-FFF2-40B4-BE49-F238E27FC236}">
                <a16:creationId xmlns:a16="http://schemas.microsoft.com/office/drawing/2014/main" id="{F5E30CA9-83B8-7995-B951-B270FD1BE7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84996" name="Picture 4">
            <a:extLst>
              <a:ext uri="{FF2B5EF4-FFF2-40B4-BE49-F238E27FC236}">
                <a16:creationId xmlns:a16="http://schemas.microsoft.com/office/drawing/2014/main" id="{93106E8C-C8F0-EB2B-C6C6-13145B67A45C}"/>
              </a:ext>
            </a:extLst>
          </p:cNvPr>
          <p:cNvPicPr>
            <a:picLocks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71600" y="2362200"/>
            <a:ext cx="5791200" cy="1720850"/>
          </a:xfrm>
          <a:noFill/>
          <a:ln/>
        </p:spPr>
      </p:pic>
      <p:sp>
        <p:nvSpPr>
          <p:cNvPr id="84999" name="Text Box 7">
            <a:extLst>
              <a:ext uri="{FF2B5EF4-FFF2-40B4-BE49-F238E27FC236}">
                <a16:creationId xmlns:a16="http://schemas.microsoft.com/office/drawing/2014/main" id="{21879B27-E90B-DE71-D240-15FC3757C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6096000"/>
            <a:ext cx="7391400" cy="83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/>
              <a:t>Referinta figura: </a:t>
            </a:r>
            <a:r>
              <a:rPr lang="en-US" altLang="en-US" sz="1400" b="0"/>
              <a:t>D. Larose, </a:t>
            </a:r>
            <a:r>
              <a:rPr lang="en-US" altLang="en-US" sz="1400" b="0" i="1"/>
              <a:t>Discovering Knowledge in Data. An Introduction to Data Mining</a:t>
            </a:r>
            <a:r>
              <a:rPr lang="en-US" altLang="en-US" sz="1400" b="0"/>
              <a:t>, John Wiley &amp; Sons, 2005.</a:t>
            </a:r>
          </a:p>
          <a:p>
            <a:pPr>
              <a:spcBef>
                <a:spcPct val="50000"/>
              </a:spcBef>
            </a:pPr>
            <a:endParaRPr lang="en-US" altLang="en-US" sz="1400"/>
          </a:p>
        </p:txBody>
      </p:sp>
      <p:sp>
        <p:nvSpPr>
          <p:cNvPr id="85000" name="Text Box 8">
            <a:extLst>
              <a:ext uri="{FF2B5EF4-FFF2-40B4-BE49-F238E27FC236}">
                <a16:creationId xmlns:a16="http://schemas.microsoft.com/office/drawing/2014/main" id="{87452ECE-E8AE-62F2-6AE1-3FE4ABDE0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191000"/>
            <a:ext cx="6858000" cy="1900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AutoNum type="alphaLcPeriod"/>
            </a:pPr>
            <a:r>
              <a:rPr lang="en-US" altLang="en-US" sz="1400" b="0"/>
              <a:t>Fara normalizare</a:t>
            </a:r>
          </a:p>
          <a:p>
            <a:pPr lvl="1">
              <a:spcBef>
                <a:spcPct val="50000"/>
              </a:spcBef>
            </a:pPr>
            <a:r>
              <a:rPr lang="en-US" altLang="en-US" sz="1400" b="0"/>
              <a:t>d(A,B)=30, d(A,C)=1 =&gt; C este mai aproape</a:t>
            </a:r>
          </a:p>
          <a:p>
            <a:pPr>
              <a:spcBef>
                <a:spcPct val="50000"/>
              </a:spcBef>
              <a:buFontTx/>
              <a:buAutoNum type="alphaLcPeriod"/>
            </a:pPr>
            <a:r>
              <a:rPr lang="en-US" altLang="en-US" sz="1400" b="0"/>
              <a:t>Cu normalizare min-max</a:t>
            </a:r>
          </a:p>
          <a:p>
            <a:pPr lvl="1">
              <a:spcBef>
                <a:spcPct val="50000"/>
              </a:spcBef>
            </a:pPr>
            <a:r>
              <a:rPr lang="en-US" altLang="en-US" sz="1400" b="0"/>
              <a:t>d(A,B)=0.6, d(A,C)=1 =&gt; B este mai aproape</a:t>
            </a:r>
          </a:p>
          <a:p>
            <a:pPr>
              <a:spcBef>
                <a:spcPct val="50000"/>
              </a:spcBef>
              <a:buFontTx/>
              <a:buAutoNum type="alphaLcPeriod"/>
            </a:pPr>
            <a:r>
              <a:rPr lang="en-US" altLang="en-US" sz="1400" b="0"/>
              <a:t>Cu standardizare z-score</a:t>
            </a:r>
          </a:p>
          <a:p>
            <a:pPr lvl="1">
              <a:spcBef>
                <a:spcPct val="50000"/>
              </a:spcBef>
            </a:pPr>
            <a:r>
              <a:rPr lang="en-US" altLang="en-US" sz="1400" b="0"/>
              <a:t>d(A,B)=2, d(A,C)=1 =&gt; C este mai aproape</a:t>
            </a:r>
          </a:p>
        </p:txBody>
      </p:sp>
      <p:sp>
        <p:nvSpPr>
          <p:cNvPr id="85001" name="Text Box 9">
            <a:extLst>
              <a:ext uri="{FF2B5EF4-FFF2-40B4-BE49-F238E27FC236}">
                <a16:creationId xmlns:a16="http://schemas.microsoft.com/office/drawing/2014/main" id="{02E6CC27-8C34-5700-CA50-9A917CCAE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267200"/>
            <a:ext cx="2971800" cy="13239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/>
              <a:t>Normalizarea min-max este preferata atunci cand se combina variabile categoriale cu variabile necategoriale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4ED4DF6B-8114-C6C3-3436-C1AFB82D4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2576CCD1-6897-9AE3-3FB4-27BAD2317A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1800"/>
              <a:t>Functia de combinare</a:t>
            </a:r>
          </a:p>
          <a:p>
            <a:pPr lvl="1"/>
            <a:r>
              <a:rPr lang="en-US" altLang="en-US" sz="1600"/>
              <a:t>Dupa alegerea celor k vecini, distanta nu mai conteaza – fiecare inregistrare are un vot pentru determinarea clasei careia ii va apartine variabila target</a:t>
            </a:r>
          </a:p>
          <a:p>
            <a:pPr lvl="1">
              <a:buFontTx/>
              <a:buNone/>
            </a:pPr>
            <a:r>
              <a:rPr lang="en-US" altLang="en-US" sz="1600"/>
              <a:t>	SAU</a:t>
            </a:r>
          </a:p>
          <a:p>
            <a:pPr lvl="1"/>
            <a:r>
              <a:rPr lang="en-US" altLang="en-US" sz="1600"/>
              <a:t>Vecinii care se afla la o distanta mai mica au o pondere mai mare la vot (weighted voting) -&gt; influenta unei anumite inregistrari este invers proportionala cu distanta de la acea inregistrare la cea care trebuie clasificata</a:t>
            </a:r>
          </a:p>
          <a:p>
            <a:r>
              <a:rPr lang="en-US" altLang="en-US" sz="1800"/>
              <a:t>Alegerea valorii lui k</a:t>
            </a:r>
          </a:p>
          <a:p>
            <a:pPr lvl="1"/>
            <a:r>
              <a:rPr lang="en-US" altLang="en-US" sz="1600"/>
              <a:t>Se incearca diferite valori pentru k, pentru cateva seturi de training alese aleator, si se alege acel k care minimizeaza eroarea de clasificare</a:t>
            </a:r>
          </a:p>
          <a:p>
            <a:pPr lvl="1"/>
            <a:endParaRPr lang="en-US" altLang="en-US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0" ma:contentTypeDescription="Create a new document." ma:contentTypeScope="" ma:versionID="60c24a09c42c05dcecc9f92fe84656e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F017E0B-95E1-4706-861D-EB78FE9B82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677726-9836-4AE2-B557-388EC5CF2EDD}"/>
</file>

<file path=customXml/itemProps3.xml><?xml version="1.0" encoding="utf-8"?>
<ds:datastoreItem xmlns:ds="http://schemas.openxmlformats.org/officeDocument/2006/customXml" ds:itemID="{CAB97171-1BE4-4325-BAF8-6701DE6BC0FB}"/>
</file>

<file path=docProps/app.xml><?xml version="1.0" encoding="utf-8"?>
<Properties xmlns="http://schemas.openxmlformats.org/officeDocument/2006/extended-properties" xmlns:vt="http://schemas.openxmlformats.org/officeDocument/2006/docPropsVTypes">
  <Template>Capsules</Template>
  <TotalTime>423</TotalTime>
  <Words>431</Words>
  <Application>Microsoft Office PowerPoint</Application>
  <PresentationFormat>On-screen Show (4:3)</PresentationFormat>
  <Paragraphs>49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Capsules</vt:lpstr>
      <vt:lpstr>DATA MINING</vt:lpstr>
      <vt:lpstr>K-nearest neighbor</vt:lpstr>
      <vt:lpstr>PowerPoint Presentation</vt:lpstr>
      <vt:lpstr>PowerPoint Presentation</vt:lpstr>
      <vt:lpstr>PowerPoint Presentation</vt:lpstr>
      <vt:lpstr>Exemplu</vt:lpstr>
      <vt:lpstr>PowerPoint Presentation</vt:lpstr>
      <vt:lpstr>PowerPoint Presentation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</dc:title>
  <dc:creator>.</dc:creator>
  <cp:lastModifiedBy>.</cp:lastModifiedBy>
  <cp:revision>166</cp:revision>
  <dcterms:created xsi:type="dcterms:W3CDTF">2009-10-18T09:07:44Z</dcterms:created>
  <dcterms:modified xsi:type="dcterms:W3CDTF">2025-01-22T21:54:33Z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