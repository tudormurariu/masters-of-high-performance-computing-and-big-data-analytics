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3"/>
  </p:sldMasterIdLst>
  <p:sldIdLst>
    <p:sldId id="266" r:id="rId4"/>
    <p:sldId id="267" r:id="rId5"/>
    <p:sldId id="268" r:id="rId6"/>
    <p:sldId id="269" r:id="rId7"/>
    <p:sldId id="270" r:id="rId8"/>
    <p:sldId id="271" r:id="rId9"/>
    <p:sldId id="272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9" d="100"/>
          <a:sy n="129" d="100"/>
        </p:scale>
        <p:origin x="-110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customXml" Target="../customXml/item3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0" name="Group 2">
            <a:extLst>
              <a:ext uri="{FF2B5EF4-FFF2-40B4-BE49-F238E27FC236}">
                <a16:creationId xmlns:a16="http://schemas.microsoft.com/office/drawing/2014/main" id="{EDF50C75-8965-49DD-3341-92A813E16862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5867400" cy="6858000"/>
            <a:chOff x="0" y="0"/>
            <a:chExt cx="3696" cy="4320"/>
          </a:xfrm>
        </p:grpSpPr>
        <p:sp>
          <p:nvSpPr>
            <p:cNvPr id="27651" name="Rectangle 3">
              <a:extLst>
                <a:ext uri="{FF2B5EF4-FFF2-40B4-BE49-F238E27FC236}">
                  <a16:creationId xmlns:a16="http://schemas.microsoft.com/office/drawing/2014/main" id="{6F7ECBC3-02D6-C669-2D1A-712E97236D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880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7652" name="AutoShape 4">
              <a:extLst>
                <a:ext uri="{FF2B5EF4-FFF2-40B4-BE49-F238E27FC236}">
                  <a16:creationId xmlns:a16="http://schemas.microsoft.com/office/drawing/2014/main" id="{68F72264-80B9-955B-3E5B-0AD7F3442CF9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32" y="624"/>
              <a:ext cx="3264" cy="1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7653" name="Group 5">
            <a:extLst>
              <a:ext uri="{FF2B5EF4-FFF2-40B4-BE49-F238E27FC236}">
                <a16:creationId xmlns:a16="http://schemas.microsoft.com/office/drawing/2014/main" id="{20CBA870-9006-CEA0-A01F-2892D5201051}"/>
              </a:ext>
            </a:extLst>
          </p:cNvPr>
          <p:cNvGrpSpPr>
            <a:grpSpLocks/>
          </p:cNvGrpSpPr>
          <p:nvPr/>
        </p:nvGrpSpPr>
        <p:grpSpPr bwMode="auto">
          <a:xfrm>
            <a:off x="3632200" y="4889500"/>
            <a:ext cx="4876800" cy="319088"/>
            <a:chOff x="2288" y="3080"/>
            <a:chExt cx="3072" cy="201"/>
          </a:xfrm>
        </p:grpSpPr>
        <p:sp>
          <p:nvSpPr>
            <p:cNvPr id="27654" name="AutoShape 6">
              <a:extLst>
                <a:ext uri="{FF2B5EF4-FFF2-40B4-BE49-F238E27FC236}">
                  <a16:creationId xmlns:a16="http://schemas.microsoft.com/office/drawing/2014/main" id="{AD99C448-1F94-C9E2-F523-4B33AFEF317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5" name="AutoShape 7">
              <a:extLst>
                <a:ext uri="{FF2B5EF4-FFF2-40B4-BE49-F238E27FC236}">
                  <a16:creationId xmlns:a16="http://schemas.microsoft.com/office/drawing/2014/main" id="{3A6FFC66-353A-300B-6EBE-EBE506512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656" name="Rectangle 8">
            <a:extLst>
              <a:ext uri="{FF2B5EF4-FFF2-40B4-BE49-F238E27FC236}">
                <a16:creationId xmlns:a16="http://schemas.microsoft.com/office/drawing/2014/main" id="{22D655AC-AC45-41F2-E1A3-BF010F15D8F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673600" y="2927350"/>
            <a:ext cx="4013200" cy="1822450"/>
          </a:xfrm>
        </p:spPr>
        <p:txBody>
          <a:bodyPr anchor="b"/>
          <a:lstStyle>
            <a:lvl1pPr marL="0" indent="0">
              <a:buFont typeface="Wingdings" panose="05000000000000000000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27657" name="Rectangle 9">
            <a:extLst>
              <a:ext uri="{FF2B5EF4-FFF2-40B4-BE49-F238E27FC236}">
                <a16:creationId xmlns:a16="http://schemas.microsoft.com/office/drawing/2014/main" id="{F5A42E31-F2A1-D124-59CD-0D0BDD439CCE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27658" name="Rectangle 10">
            <a:extLst>
              <a:ext uri="{FF2B5EF4-FFF2-40B4-BE49-F238E27FC236}">
                <a16:creationId xmlns:a16="http://schemas.microsoft.com/office/drawing/2014/main" id="{795A8322-F329-2E29-4AB4-9D057B1724D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altLang="en-US"/>
          </a:p>
        </p:txBody>
      </p:sp>
      <p:sp>
        <p:nvSpPr>
          <p:cNvPr id="27659" name="Rectangle 11">
            <a:extLst>
              <a:ext uri="{FF2B5EF4-FFF2-40B4-BE49-F238E27FC236}">
                <a16:creationId xmlns:a16="http://schemas.microsoft.com/office/drawing/2014/main" id="{FE2E2E64-7E95-4291-D1B0-ACD3EA0A7E7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76200" y="6248400"/>
            <a:ext cx="587375" cy="488950"/>
          </a:xfrm>
        </p:spPr>
        <p:txBody>
          <a:bodyPr anchorCtr="0"/>
          <a:lstStyle>
            <a:lvl1pPr>
              <a:defRPr/>
            </a:lvl1pPr>
          </a:lstStyle>
          <a:p>
            <a:fld id="{CB9A9193-2612-4041-8210-79CD8692DC2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7660" name="AutoShape 12">
            <a:extLst>
              <a:ext uri="{FF2B5EF4-FFF2-40B4-BE49-F238E27FC236}">
                <a16:creationId xmlns:a16="http://schemas.microsoft.com/office/drawing/2014/main" id="{708CA24D-AFEB-284E-864F-32FED2420C36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90600"/>
            <a:ext cx="8229600" cy="1905000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5BE78-2285-0CCD-7976-C585FD199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33BE9-28F3-6D84-150E-ADF685F4C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E5CDB-961C-3265-CA94-E21B962F0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A70D0-C0A0-2438-63E3-ACA16E769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946FF-879F-6CA0-4C03-E74F39C37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88A661-84B2-438D-B19B-FC40B809481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5493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C42AF-53F9-9279-C491-64E9FE496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91E2E2-C507-9481-E27A-C19155068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FAE04-B068-2F5D-C00E-1EEE85EBE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DDFF7-4128-8431-2859-5EC4F3458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4E5B0-BA55-FFF7-5BF9-3CCABC5EB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A9052B-AB7A-4E3C-956C-BB50F796783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076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C53A5-2008-A9AB-77BF-CA5D5647B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09CA9-5E0D-78A0-883C-DE27F1CB53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62200"/>
            <a:ext cx="3770313" cy="3724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935A80-1A1B-688B-7B56-B908A85C1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60913" y="2362200"/>
            <a:ext cx="3770312" cy="3724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5646C-ACD4-E7B9-7631-910CD3F8D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BCCBA-5EC3-8C96-6CAE-9B561A179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6A8B45-E122-3850-AF67-9E9E58C0E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802D0E-7D43-419D-A73C-15AAF804AD6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8072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19F39-BDBB-3AB4-2059-A1D616A70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62BA3-FEA5-F228-74CB-D4E6CF4C1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3EB509-120C-6B86-DD66-6ADBFBF28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AD5765-70B8-A986-6BC2-7C456757E8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0138B7-D0A2-623A-D3B5-548176666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F4DE30-C0C2-8107-E2D0-922D5A76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9DFFE2-F5DE-7BBC-F419-0281DD867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1E9FE0-D57F-3F27-55F4-35AD03449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D7109A-9500-4E21-9C23-73097E0EAFF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5856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4837C-F69C-EC23-C26D-A0BA49C95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2AAC10-79AA-6041-3D4A-68D4F878C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DE97E-B3E0-8396-9A8D-B68730C4F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F59761-D3F7-4133-50C5-55A71184E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85F79B-35C7-4885-A3B4-CFEE74166AC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786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D45D1E-8437-5393-5FF1-B77368C20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C16141-9A1F-2E7D-1E2D-0F709F88C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FA921A-6226-7DFC-DD4C-8A369881A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1D0CE7-1894-4882-8DBD-5A1CB224059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8093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017F0-EFE1-AA6A-5F0E-9923F67A6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F0188-E06A-5516-41CC-40A0466A4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66A501-0D7B-D31B-7912-3CAAD0820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DE61D9-021D-1D53-D2D0-8A60BE5E0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D3E2C6-5EDC-3A41-5259-BCC4940F4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C6B07-3D4E-54D8-CB8D-9CC6ACD72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6D8522-C610-49C4-96CB-5A8248CF79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9931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31E80-0E81-FF6C-1525-0B9D56D78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797D8-C176-B2D6-25D0-ABE51435CE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8F32CA-9656-E915-569F-82DC0080C0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FE65DC-3E71-F508-E68B-9A7C24847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D5951-065B-F451-CA25-E5A723BBD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380B6B-662E-233A-189D-C0E8DD341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A52CFB-EA0B-4032-998D-BF16A3B02DD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3213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69DAD-C691-5EB6-88F3-D7B87B343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7A0DF1-9962-5B55-6E15-2B6358B21E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A034A-D3FE-8674-E56C-2BD51DF7C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9715B-7E08-AAEA-33B7-014CF55C7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A0EFA-9437-59E6-9647-E9EAFEAB7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3103F8-CB0A-415D-BF4F-8FEA99BADB2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7880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EEDDC0-0D0B-7D2C-3717-2E13D4AA0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05600" y="762000"/>
            <a:ext cx="1981200" cy="53244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A05DD9-DB09-9A3F-2584-F2538F3996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762000"/>
            <a:ext cx="5791200" cy="53244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9E9D5-6DA0-E877-82E9-295BAA038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BB195-BB38-EE0A-EA1D-9580A08B2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96C86-ED99-9110-F927-31A9D15D6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636183-9651-48DF-820B-6B22150064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64198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2265C-B5E2-3EA6-0051-D4FB31FD7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7924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84070-F12B-44F6-4CF9-AEF58084FF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62200"/>
            <a:ext cx="3770313" cy="3724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37725E-47A5-B042-2300-F0FD6568C851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760913" y="2362200"/>
            <a:ext cx="3770312" cy="1785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3E403FC-E7BB-DF74-74E3-FC02EFA451F6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760913" y="4300538"/>
            <a:ext cx="3770312" cy="1785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7EF756F-4E49-8AE2-5974-DD975090C8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38400" y="6248400"/>
            <a:ext cx="2130425" cy="474663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F21A31B-9566-3898-4674-6BF216291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74C526D-8CED-1DEB-2295-B4978873D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38" y="6242050"/>
            <a:ext cx="587375" cy="488950"/>
          </a:xfrm>
        </p:spPr>
        <p:txBody>
          <a:bodyPr/>
          <a:lstStyle>
            <a:lvl1pPr>
              <a:defRPr/>
            </a:lvl1pPr>
          </a:lstStyle>
          <a:p>
            <a:fld id="{7B3F850D-DEB1-46DB-B5B2-DED90449AC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709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6" name="Group 2">
            <a:extLst>
              <a:ext uri="{FF2B5EF4-FFF2-40B4-BE49-F238E27FC236}">
                <a16:creationId xmlns:a16="http://schemas.microsoft.com/office/drawing/2014/main" id="{014B5297-D7EE-2709-0909-65F7C56648CF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620000" cy="6858000"/>
            <a:chOff x="0" y="0"/>
            <a:chExt cx="4800" cy="4320"/>
          </a:xfrm>
        </p:grpSpPr>
        <p:grpSp>
          <p:nvGrpSpPr>
            <p:cNvPr id="26627" name="Group 3">
              <a:extLst>
                <a:ext uri="{FF2B5EF4-FFF2-40B4-BE49-F238E27FC236}">
                  <a16:creationId xmlns:a16="http://schemas.microsoft.com/office/drawing/2014/main" id="{CC46890D-13FF-D54F-5CD8-FB93CDCAC64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0"/>
              <a:ext cx="2016" cy="4320"/>
              <a:chOff x="0" y="0"/>
              <a:chExt cx="2016" cy="4320"/>
            </a:xfrm>
          </p:grpSpPr>
          <p:sp>
            <p:nvSpPr>
              <p:cNvPr id="26628" name="Rectangle 4">
                <a:extLst>
                  <a:ext uri="{FF2B5EF4-FFF2-40B4-BE49-F238E27FC236}">
                    <a16:creationId xmlns:a16="http://schemas.microsoft.com/office/drawing/2014/main" id="{98585E46-DC30-459E-5526-4479B775C5D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0"/>
                <a:ext cx="480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29" name="Freeform 5">
                <a:extLst>
                  <a:ext uri="{FF2B5EF4-FFF2-40B4-BE49-F238E27FC236}">
                    <a16:creationId xmlns:a16="http://schemas.microsoft.com/office/drawing/2014/main" id="{2380D95E-C338-FD48-9A41-6B077E07A97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288" y="0"/>
                <a:ext cx="1728" cy="735"/>
              </a:xfrm>
              <a:custGeom>
                <a:avLst/>
                <a:gdLst>
                  <a:gd name="T0" fmla="*/ 1728 w 1728"/>
                  <a:gd name="T1" fmla="*/ 0 h 735"/>
                  <a:gd name="T2" fmla="*/ 1728 w 1728"/>
                  <a:gd name="T3" fmla="*/ 480 h 735"/>
                  <a:gd name="T4" fmla="*/ 380 w 1728"/>
                  <a:gd name="T5" fmla="*/ 482 h 735"/>
                  <a:gd name="T6" fmla="*/ 354 w 1728"/>
                  <a:gd name="T7" fmla="*/ 480 h 735"/>
                  <a:gd name="T8" fmla="*/ 308 w 1728"/>
                  <a:gd name="T9" fmla="*/ 489 h 735"/>
                  <a:gd name="T10" fmla="*/ 246 w 1728"/>
                  <a:gd name="T11" fmla="*/ 531 h 735"/>
                  <a:gd name="T12" fmla="*/ 206 w 1728"/>
                  <a:gd name="T13" fmla="*/ 597 h 735"/>
                  <a:gd name="T14" fmla="*/ 192 w 1728"/>
                  <a:gd name="T15" fmla="*/ 666 h 735"/>
                  <a:gd name="T16" fmla="*/ 192 w 1728"/>
                  <a:gd name="T17" fmla="*/ 735 h 735"/>
                  <a:gd name="T18" fmla="*/ 0 w 1728"/>
                  <a:gd name="T19" fmla="*/ 735 h 735"/>
                  <a:gd name="T20" fmla="*/ 0 w 1728"/>
                  <a:gd name="T21" fmla="*/ 480 h 735"/>
                  <a:gd name="T22" fmla="*/ 0 w 1728"/>
                  <a:gd name="T23" fmla="*/ 0 h 735"/>
                  <a:gd name="T24" fmla="*/ 1728 w 1728"/>
                  <a:gd name="T25" fmla="*/ 0 h 7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28" h="735">
                    <a:moveTo>
                      <a:pt x="1728" y="0"/>
                    </a:moveTo>
                    <a:lnTo>
                      <a:pt x="1728" y="480"/>
                    </a:lnTo>
                    <a:lnTo>
                      <a:pt x="380" y="482"/>
                    </a:lnTo>
                    <a:lnTo>
                      <a:pt x="354" y="480"/>
                    </a:lnTo>
                    <a:lnTo>
                      <a:pt x="308" y="489"/>
                    </a:lnTo>
                    <a:cubicBezTo>
                      <a:pt x="290" y="498"/>
                      <a:pt x="263" y="513"/>
                      <a:pt x="246" y="531"/>
                    </a:cubicBezTo>
                    <a:cubicBezTo>
                      <a:pt x="229" y="549"/>
                      <a:pt x="215" y="574"/>
                      <a:pt x="206" y="597"/>
                    </a:cubicBezTo>
                    <a:cubicBezTo>
                      <a:pt x="197" y="620"/>
                      <a:pt x="194" y="643"/>
                      <a:pt x="192" y="666"/>
                    </a:cubicBezTo>
                    <a:lnTo>
                      <a:pt x="192" y="735"/>
                    </a:lnTo>
                    <a:lnTo>
                      <a:pt x="0" y="735"/>
                    </a:lnTo>
                    <a:lnTo>
                      <a:pt x="0" y="480"/>
                    </a:lnTo>
                    <a:lnTo>
                      <a:pt x="0" y="0"/>
                    </a:lnTo>
                    <a:lnTo>
                      <a:pt x="17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26630" name="Group 6">
              <a:extLst>
                <a:ext uri="{FF2B5EF4-FFF2-40B4-BE49-F238E27FC236}">
                  <a16:creationId xmlns:a16="http://schemas.microsoft.com/office/drawing/2014/main" id="{719E3903-82D3-B095-A130-8A32F10D5F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1248"/>
              <a:ext cx="4656" cy="201"/>
              <a:chOff x="144" y="1248"/>
              <a:chExt cx="4656" cy="201"/>
            </a:xfrm>
          </p:grpSpPr>
          <p:sp>
            <p:nvSpPr>
              <p:cNvPr id="26631" name="AutoShape 7">
                <a:extLst>
                  <a:ext uri="{FF2B5EF4-FFF2-40B4-BE49-F238E27FC236}">
                    <a16:creationId xmlns:a16="http://schemas.microsoft.com/office/drawing/2014/main" id="{DABD3475-5DF1-4A3F-70D2-16FC6989C8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1248"/>
                <a:ext cx="4416" cy="200"/>
              </a:xfrm>
              <a:prstGeom prst="roundRect">
                <a:avLst>
                  <a:gd name="adj" fmla="val 0"/>
                </a:avLst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32" name="AutoShape 8">
                <a:extLst>
                  <a:ext uri="{FF2B5EF4-FFF2-40B4-BE49-F238E27FC236}">
                    <a16:creationId xmlns:a16="http://schemas.microsoft.com/office/drawing/2014/main" id="{745FCA11-F251-47FB-09BA-D553A3C746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44" y="1248"/>
                <a:ext cx="248" cy="201"/>
              </a:xfrm>
              <a:prstGeom prst="flowChartDelay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26633" name="AutoShape 9">
            <a:extLst>
              <a:ext uri="{FF2B5EF4-FFF2-40B4-BE49-F238E27FC236}">
                <a16:creationId xmlns:a16="http://schemas.microsoft.com/office/drawing/2014/main" id="{A1DCB8A1-E94E-BAD9-5182-EC80DA1FAD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762000"/>
            <a:ext cx="7924800" cy="1143000"/>
          </a:xfrm>
          <a:prstGeom prst="roundRect">
            <a:avLst>
              <a:gd name="adj" fmla="val 21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6634" name="Rectangle 10">
            <a:extLst>
              <a:ext uri="{FF2B5EF4-FFF2-40B4-BE49-F238E27FC236}">
                <a16:creationId xmlns:a16="http://schemas.microsoft.com/office/drawing/2014/main" id="{F12B5C92-9071-BAFE-A2B7-82F8CADE41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2362200"/>
            <a:ext cx="7693025" cy="372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6635" name="Rectangle 11">
            <a:extLst>
              <a:ext uri="{FF2B5EF4-FFF2-40B4-BE49-F238E27FC236}">
                <a16:creationId xmlns:a16="http://schemas.microsoft.com/office/drawing/2014/main" id="{5E902B13-3E16-2CE8-69CD-08BE9D67A88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38400" y="6248400"/>
            <a:ext cx="2130425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endParaRPr lang="en-US" altLang="en-US"/>
          </a:p>
        </p:txBody>
      </p:sp>
      <p:sp>
        <p:nvSpPr>
          <p:cNvPr id="26636" name="Rectangle 12">
            <a:extLst>
              <a:ext uri="{FF2B5EF4-FFF2-40B4-BE49-F238E27FC236}">
                <a16:creationId xmlns:a16="http://schemas.microsoft.com/office/drawing/2014/main" id="{F61120B7-C8AE-4104-A3DF-A7074549664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791200" y="6248400"/>
            <a:ext cx="2897188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26637" name="Rectangle 13">
            <a:extLst>
              <a:ext uri="{FF2B5EF4-FFF2-40B4-BE49-F238E27FC236}">
                <a16:creationId xmlns:a16="http://schemas.microsoft.com/office/drawing/2014/main" id="{5E5D1928-806B-159E-8096-43D348F56BB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138" y="6242050"/>
            <a:ext cx="5873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>
              <a:defRPr sz="2600" b="1">
                <a:solidFill>
                  <a:schemeClr val="bg1"/>
                </a:solidFill>
              </a:defRPr>
            </a:lvl1pPr>
          </a:lstStyle>
          <a:p>
            <a:fld id="{E42C9939-6976-494A-B932-5E41A5758D6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AutoShape 2">
            <a:extLst>
              <a:ext uri="{FF2B5EF4-FFF2-40B4-BE49-F238E27FC236}">
                <a16:creationId xmlns:a16="http://schemas.microsoft.com/office/drawing/2014/main" id="{BC8ECA0C-FAD0-B3CD-AF0E-4C9CECC521B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CLUSTERING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ECE4B62A-26F9-C618-433D-CFAB602066C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685D6ED5-AB79-335E-0500-FCEA8AF015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63248B0E-2C2A-E4C4-BC8D-AF830BAF7F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1800"/>
              <a:t>Clustering = gruparea inregistarilor (cazurilor) in clase de obiecte similare</a:t>
            </a:r>
          </a:p>
          <a:p>
            <a:r>
              <a:rPr lang="en-US" altLang="en-US" sz="1800"/>
              <a:t>Cluster = o colectie de obiecte care sunt similare intre ele si nesimilare cu obiecte din alte clase</a:t>
            </a:r>
          </a:p>
          <a:p>
            <a:r>
              <a:rPr lang="en-US" altLang="en-US" sz="1800"/>
              <a:t>In clustering nu exista o variabila target care trebuie clasificata (spre deosebire de clasificare)</a:t>
            </a:r>
          </a:p>
          <a:p>
            <a:r>
              <a:rPr lang="en-US" altLang="en-US" sz="1800"/>
              <a:t>Clusteringul nu cauta sa clasifice, sa estimeze sau sa faca o predictie cu privire la valoarea unei variabile target, ci cauta sa segmenteze intregul set de date in subgrupuri relativ omogene</a:t>
            </a:r>
          </a:p>
          <a:p>
            <a:r>
              <a:rPr lang="en-US" altLang="en-US" sz="1800"/>
              <a:t>similaritatea in interiorul clusterilor trebuie maximizata, in timp ce similaritatea cu obiecte din alti clusteri trebuie minimizata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B5973000-892B-9027-9EC1-17157E0604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95F3DC51-F40C-E155-3D2F-2923D24A22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1800"/>
              <a:t>Trebuie sa determinam:</a:t>
            </a:r>
          </a:p>
          <a:p>
            <a:pPr lvl="1"/>
            <a:r>
              <a:rPr lang="en-US" altLang="en-US" sz="1600"/>
              <a:t>Cum masuram similaritatea</a:t>
            </a:r>
          </a:p>
          <a:p>
            <a:pPr lvl="1"/>
            <a:r>
              <a:rPr lang="en-US" altLang="en-US" sz="1600"/>
              <a:t>Cum codificam variabilele categoriale</a:t>
            </a:r>
          </a:p>
          <a:p>
            <a:pPr lvl="1"/>
            <a:r>
              <a:rPr lang="en-US" altLang="en-US" sz="1600"/>
              <a:t>Cum normalizam sau standardizam variabilele numerice</a:t>
            </a:r>
          </a:p>
          <a:p>
            <a:endParaRPr lang="en-US" altLang="en-US" sz="1800"/>
          </a:p>
          <a:p>
            <a:r>
              <a:rPr lang="en-US" altLang="en-US" sz="1800"/>
              <a:t>Pentru a masura similaritatea intre valori numerice putem folosi distanta euclidiana, cityblock, Minkovsky</a:t>
            </a:r>
          </a:p>
          <a:p>
            <a:r>
              <a:rPr lang="en-US" altLang="en-US" sz="1800"/>
              <a:t>Pentru valori categoriale putem folosi functia “diferit de”</a:t>
            </a:r>
          </a:p>
          <a:p>
            <a:r>
              <a:rPr lang="en-US" altLang="en-US" sz="1800"/>
              <a:t>Pentru normalizare se poate folosi normalizarea min-max, standardizarea z-score</a:t>
            </a:r>
          </a:p>
          <a:p>
            <a:pPr lvl="1"/>
            <a:endParaRPr lang="en-US" altLang="en-US" sz="1600"/>
          </a:p>
          <a:p>
            <a:pPr lvl="1"/>
            <a:endParaRPr lang="en-US" altLang="en-US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AutoShape 2">
            <a:extLst>
              <a:ext uri="{FF2B5EF4-FFF2-40B4-BE49-F238E27FC236}">
                <a16:creationId xmlns:a16="http://schemas.microsoft.com/office/drawing/2014/main" id="{2268641D-EAAE-4757-A425-2B21112049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Clustering ierarhic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E0082196-9CF5-D7C1-F08D-3B37E2805C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800"/>
              <a:t>Se creeaza o structura de arbore</a:t>
            </a:r>
          </a:p>
          <a:p>
            <a:pPr lvl="1">
              <a:lnSpc>
                <a:spcPct val="90000"/>
              </a:lnSpc>
            </a:pPr>
            <a:r>
              <a:rPr lang="en-US" altLang="en-US" sz="1600"/>
              <a:t>Metode divizive: prin partitionarea recursiva</a:t>
            </a:r>
          </a:p>
          <a:p>
            <a:pPr lvl="2">
              <a:lnSpc>
                <a:spcPct val="90000"/>
              </a:lnSpc>
            </a:pPr>
            <a:r>
              <a:rPr lang="en-US" altLang="en-US" sz="1400"/>
              <a:t>La inceput, toate obictele apartin unui singur cluster</a:t>
            </a:r>
          </a:p>
          <a:p>
            <a:pPr lvl="2">
              <a:lnSpc>
                <a:spcPct val="90000"/>
              </a:lnSpc>
            </a:pPr>
            <a:r>
              <a:rPr lang="en-US" altLang="en-US" sz="1400"/>
              <a:t>Cele mai disimilare obiecte sunt separate </a:t>
            </a:r>
          </a:p>
          <a:p>
            <a:pPr lvl="1">
              <a:lnSpc>
                <a:spcPct val="90000"/>
              </a:lnSpc>
            </a:pPr>
            <a:r>
              <a:rPr lang="en-US" altLang="en-US" sz="1600"/>
              <a:t>Metode aglomerative: prin combinarea clusterilor existenti</a:t>
            </a:r>
          </a:p>
          <a:p>
            <a:pPr lvl="2">
              <a:lnSpc>
                <a:spcPct val="90000"/>
              </a:lnSpc>
            </a:pPr>
            <a:r>
              <a:rPr lang="en-US" altLang="en-US" sz="1400"/>
              <a:t>La inceput, fiecare obiect reprezinta un cluster</a:t>
            </a:r>
          </a:p>
          <a:p>
            <a:pPr lvl="2">
              <a:lnSpc>
                <a:spcPct val="90000"/>
              </a:lnSpc>
            </a:pPr>
            <a:r>
              <a:rPr lang="en-US" altLang="en-US" sz="1400"/>
              <a:t>Apoi, cei mai apropiati 2 clusteri vor fi combinati intr-un nou cluster</a:t>
            </a:r>
          </a:p>
          <a:p>
            <a:pPr>
              <a:lnSpc>
                <a:spcPct val="90000"/>
              </a:lnSpc>
            </a:pPr>
            <a:r>
              <a:rPr lang="en-US" altLang="en-US" sz="1800"/>
              <a:t>Este usor sa calculam distanta dintre doua obiecte, dar cum calculam distanta dintre doua grupuri de obiecte?</a:t>
            </a:r>
          </a:p>
          <a:p>
            <a:pPr lvl="1">
              <a:lnSpc>
                <a:spcPct val="90000"/>
              </a:lnSpc>
            </a:pPr>
            <a:r>
              <a:rPr lang="en-US" altLang="en-US" sz="1600"/>
              <a:t>Single linkage – ia in considerare distanta minima intre oricare doua obiecte din cei doi clusteri</a:t>
            </a:r>
          </a:p>
          <a:p>
            <a:pPr lvl="1">
              <a:lnSpc>
                <a:spcPct val="90000"/>
              </a:lnSpc>
            </a:pPr>
            <a:r>
              <a:rPr lang="en-US" altLang="en-US" sz="1600"/>
              <a:t>Complete linkage - ia in considerare distanta maxima intre oricare doua obiecte din cei doi clusteri</a:t>
            </a:r>
          </a:p>
          <a:p>
            <a:pPr lvl="1">
              <a:lnSpc>
                <a:spcPct val="90000"/>
              </a:lnSpc>
            </a:pPr>
            <a:r>
              <a:rPr lang="en-US" altLang="en-US" sz="1600"/>
              <a:t>Average linkage – se considera distanta medie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Rectangle 5">
            <a:extLst>
              <a:ext uri="{FF2B5EF4-FFF2-40B4-BE49-F238E27FC236}">
                <a16:creationId xmlns:a16="http://schemas.microsoft.com/office/drawing/2014/main" id="{49E89B76-AB3B-AE4A-DAA2-1B21FB8B49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36868" name="Picture 4">
            <a:extLst>
              <a:ext uri="{FF2B5EF4-FFF2-40B4-BE49-F238E27FC236}">
                <a16:creationId xmlns:a16="http://schemas.microsoft.com/office/drawing/2014/main" id="{BD6AC5BB-56B4-B201-D569-813FA7E1DBEE}"/>
              </a:ext>
            </a:extLst>
          </p:cNvPr>
          <p:cNvPicPr>
            <a:picLocks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89100" y="2481263"/>
            <a:ext cx="5991225" cy="3486150"/>
          </a:xfrm>
          <a:noFill/>
          <a:ln/>
        </p:spPr>
      </p:pic>
      <p:sp>
        <p:nvSpPr>
          <p:cNvPr id="36871" name="Text Box 7">
            <a:extLst>
              <a:ext uri="{FF2B5EF4-FFF2-40B4-BE49-F238E27FC236}">
                <a16:creationId xmlns:a16="http://schemas.microsoft.com/office/drawing/2014/main" id="{11FAD6C5-DFF4-A0DB-ACC3-B08F37FB97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6096000"/>
            <a:ext cx="7391400" cy="836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400" b="1"/>
              <a:t>Referinta figura: </a:t>
            </a:r>
            <a:r>
              <a:rPr lang="en-US" altLang="en-US" sz="1400"/>
              <a:t>D. Larose, </a:t>
            </a:r>
            <a:r>
              <a:rPr lang="en-US" altLang="en-US" sz="1400" i="1"/>
              <a:t>Discovering Knowledge in Data. An Introduction to Data Mining</a:t>
            </a:r>
            <a:r>
              <a:rPr lang="en-US" altLang="en-US" sz="1400"/>
              <a:t>, John Wiley &amp; Sons, 2005.</a:t>
            </a:r>
          </a:p>
          <a:p>
            <a:pPr>
              <a:spcBef>
                <a:spcPct val="50000"/>
              </a:spcBef>
            </a:pPr>
            <a:endParaRPr lang="en-US" altLang="en-US" sz="14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AutoShape 2">
            <a:extLst>
              <a:ext uri="{FF2B5EF4-FFF2-40B4-BE49-F238E27FC236}">
                <a16:creationId xmlns:a16="http://schemas.microsoft.com/office/drawing/2014/main" id="{E910831F-9087-DA65-7645-D9C198DBF1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K-means clustering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B0D44E84-4914-B796-8FB9-78DDF92C64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1800"/>
              <a:t>Se stabileste valoarea lui k – numarul dorit de clusteri</a:t>
            </a: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1800"/>
              <a:t>Se aleg aleator k obiecte care sa reprezinte centrul initial al fiecaruia dintre cei k clusteri</a:t>
            </a: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1800"/>
              <a:t>Pentru fiecare obiect, se cauta cel mai apropiat centru si se adauga la clusterul respectiv</a:t>
            </a: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1800"/>
              <a:t>Pentru fiecare din cei k clusteri obtinuti se recalculeaza centrul</a:t>
            </a: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1800"/>
              <a:t>Se repeta pasii 3-5 pana la convergenta sau pana la indeplinirea unui criteriu de terminare</a:t>
            </a: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endParaRPr lang="en-US" altLang="en-US" sz="1800"/>
          </a:p>
          <a:p>
            <a:pPr marL="533400" indent="-533400">
              <a:lnSpc>
                <a:spcPct val="90000"/>
              </a:lnSpc>
              <a:buFontTx/>
              <a:buChar char="-"/>
            </a:pPr>
            <a:r>
              <a:rPr lang="en-US" altLang="en-US" sz="1800"/>
              <a:t>Alogoritmul se poate termina</a:t>
            </a:r>
          </a:p>
          <a:p>
            <a:pPr marL="914400" lvl="1" indent="-457200">
              <a:lnSpc>
                <a:spcPct val="90000"/>
              </a:lnSpc>
              <a:buFontTx/>
              <a:buChar char="-"/>
            </a:pPr>
            <a:r>
              <a:rPr lang="en-US" altLang="en-US" sz="1600"/>
              <a:t>cand centrii clusterilor nu se mai modifica</a:t>
            </a:r>
          </a:p>
          <a:p>
            <a:pPr marL="914400" lvl="1" indent="-457200">
              <a:lnSpc>
                <a:spcPct val="90000"/>
              </a:lnSpc>
              <a:buFontTx/>
              <a:buChar char="-"/>
            </a:pPr>
            <a:r>
              <a:rPr lang="en-US" altLang="en-US" sz="1600"/>
              <a:t>Cand este indeplinit un anumit criteriu de convergenta</a:t>
            </a:r>
          </a:p>
          <a:p>
            <a:pPr marL="914400" lvl="1" indent="-457200">
              <a:lnSpc>
                <a:spcPct val="90000"/>
              </a:lnSpc>
              <a:buFontTx/>
              <a:buChar char="-"/>
            </a:pPr>
            <a:r>
              <a:rPr lang="en-US" altLang="en-US" sz="1600"/>
              <a:t>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7" name="Rectangle 11">
            <a:extLst>
              <a:ext uri="{FF2B5EF4-FFF2-40B4-BE49-F238E27FC236}">
                <a16:creationId xmlns:a16="http://schemas.microsoft.com/office/drawing/2014/main" id="{D7AF8747-EA6B-2645-A303-3B818E7D58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39940" name="Picture 4">
            <a:extLst>
              <a:ext uri="{FF2B5EF4-FFF2-40B4-BE49-F238E27FC236}">
                <a16:creationId xmlns:a16="http://schemas.microsoft.com/office/drawing/2014/main" id="{23C6B089-262E-0E80-331C-FBFA9D5895F0}"/>
              </a:ext>
            </a:extLst>
          </p:cNvPr>
          <p:cNvPicPr>
            <a:picLocks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9013" y="3048000"/>
            <a:ext cx="3467100" cy="2352675"/>
          </a:xfrm>
          <a:noFill/>
          <a:ln/>
        </p:spPr>
      </p:pic>
      <p:pic>
        <p:nvPicPr>
          <p:cNvPr id="39943" name="Picture 7">
            <a:extLst>
              <a:ext uri="{FF2B5EF4-FFF2-40B4-BE49-F238E27FC236}">
                <a16:creationId xmlns:a16="http://schemas.microsoft.com/office/drawing/2014/main" id="{FC48B577-F1D8-4BBD-7237-0C2FD2089B7B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59400" y="2362200"/>
            <a:ext cx="2571750" cy="1785938"/>
          </a:xfrm>
          <a:noFill/>
          <a:ln/>
        </p:spPr>
      </p:pic>
      <p:pic>
        <p:nvPicPr>
          <p:cNvPr id="39946" name="Picture 10">
            <a:extLst>
              <a:ext uri="{FF2B5EF4-FFF2-40B4-BE49-F238E27FC236}">
                <a16:creationId xmlns:a16="http://schemas.microsoft.com/office/drawing/2014/main" id="{D082318F-444A-91AA-5107-EA083D791D54}"/>
              </a:ext>
            </a:extLst>
          </p:cNvPr>
          <p:cNvPicPr>
            <a:picLocks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84788" y="4300538"/>
            <a:ext cx="2720975" cy="1785937"/>
          </a:xfrm>
          <a:noFill/>
          <a:ln/>
        </p:spPr>
      </p:pic>
      <p:sp>
        <p:nvSpPr>
          <p:cNvPr id="39949" name="Text Box 13">
            <a:extLst>
              <a:ext uri="{FF2B5EF4-FFF2-40B4-BE49-F238E27FC236}">
                <a16:creationId xmlns:a16="http://schemas.microsoft.com/office/drawing/2014/main" id="{CFE744A9-B333-EF8A-6CED-A20CB0B041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6096000"/>
            <a:ext cx="7391400" cy="836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400" b="1"/>
              <a:t>Referinta figuri: </a:t>
            </a:r>
            <a:r>
              <a:rPr lang="en-US" altLang="en-US" sz="1400"/>
              <a:t>D. Larose, </a:t>
            </a:r>
            <a:r>
              <a:rPr lang="en-US" altLang="en-US" sz="1400" i="1"/>
              <a:t>Discovering Knowledge in Data. An Introduction to Data Mining</a:t>
            </a:r>
            <a:r>
              <a:rPr lang="en-US" altLang="en-US" sz="1400"/>
              <a:t>, John Wiley &amp; Sons, 2005.</a:t>
            </a:r>
          </a:p>
          <a:p>
            <a:pPr>
              <a:spcBef>
                <a:spcPct val="50000"/>
              </a:spcBef>
            </a:pPr>
            <a:endParaRPr lang="en-US" altLang="en-US" sz="14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psules">
  <a:themeElements>
    <a:clrScheme name="Capsules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99CC99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Capsules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Capsules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04CC3ACF4D0747AA1FE12D19DCF021" ma:contentTypeVersion="0" ma:contentTypeDescription="Create a new document." ma:contentTypeScope="" ma:versionID="60c24a09c42c05dcecc9f92fe84656e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077B0FD-C96D-44AC-9BA2-6077B1E7433A}"/>
</file>

<file path=customXml/itemProps2.xml><?xml version="1.0" encoding="utf-8"?>
<ds:datastoreItem xmlns:ds="http://schemas.openxmlformats.org/officeDocument/2006/customXml" ds:itemID="{31F9B4E8-639F-4A46-9194-BF491864197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7ADBCB4-FDAD-4B79-B428-CDD172C65613}"/>
</file>

<file path=docProps/app.xml><?xml version="1.0" encoding="utf-8"?>
<Properties xmlns="http://schemas.openxmlformats.org/officeDocument/2006/extended-properties" xmlns:vt="http://schemas.openxmlformats.org/officeDocument/2006/docPropsVTypes">
  <Template>Capsules</Template>
  <TotalTime>104</TotalTime>
  <Words>360</Words>
  <Application>Microsoft Office PowerPoint</Application>
  <PresentationFormat>On-screen Show (4:3)</PresentationFormat>
  <Paragraphs>39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Capsules</vt:lpstr>
      <vt:lpstr>CLUSTERING</vt:lpstr>
      <vt:lpstr>PowerPoint Presentation</vt:lpstr>
      <vt:lpstr>PowerPoint Presentation</vt:lpstr>
      <vt:lpstr>Clustering ierarhic</vt:lpstr>
      <vt:lpstr>PowerPoint Presentation</vt:lpstr>
      <vt:lpstr>K-means clustering</vt:lpstr>
      <vt:lpstr>PowerPoint Presentation</vt:lpstr>
    </vt:vector>
  </TitlesOfParts>
  <Company>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TREES</dc:title>
  <dc:creator>.</dc:creator>
  <cp:lastModifiedBy>.</cp:lastModifiedBy>
  <cp:revision>40</cp:revision>
  <dcterms:created xsi:type="dcterms:W3CDTF">2009-11-17T15:11:19Z</dcterms:created>
  <dcterms:modified xsi:type="dcterms:W3CDTF">2025-01-22T10:46:23Z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0x0101008904CC3ACF4D0747AA1FE12D19DCF021</vt:lpwstr>
  </property>
</Properties>
</file>