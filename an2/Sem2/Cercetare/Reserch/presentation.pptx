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88952" cy="210312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The Evolution of Automated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D700"/>
                </a:solidFill>
              </a:rPr>
              <a:t>Fake News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33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FFFFFF"/>
                </a:solidFill>
              </a:rPr>
              <a:t>From TF-IDF Baselines to Bidirectional LSTMs and BERT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1605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DFF"/>
                </a:solidFill>
              </a:rPr>
              <a:t>Author:  Tudor [Surname]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6177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DFF"/>
                </a:solidFill>
              </a:rPr>
              <a:t>Coordinator:  Lect. Dr. Alina-Delia Călin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0749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ABBDD"/>
                </a:solidFill>
              </a:rPr>
              <a:t>Master's Programme — High Performance Computing and Big Data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AACC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Why Does This Matter?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CCEE"/>
                </a:solidFill>
              </a:rPr>
              <a:t>The fake news problem at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394960" cy="5120640"/>
          </a:xfrm>
          <a:prstGeom prst="rect">
            <a:avLst/>
          </a:prstGeom>
          <a:solidFill>
            <a:srgbClr val="F2F4F7"/>
          </a:solidFill>
          <a:ln w="1270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09360" y="1417320"/>
            <a:ext cx="5486400" cy="5120640"/>
          </a:xfrm>
          <a:prstGeom prst="rect">
            <a:avLst/>
          </a:prstGeom>
          <a:solidFill>
            <a:srgbClr val="F2F4F7"/>
          </a:solidFill>
          <a:ln w="12700">
            <a:solidFill>
              <a:srgbClr val="E87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76FBF"/>
                </a:solidFill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5120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2E"/>
                </a:solidFill>
              </a:rPr>
              <a:t>▸  Misinformation spreads 6× faster than true news on social media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62072"/>
            <a:ext cx="5120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2E"/>
                </a:solidFill>
              </a:rPr>
              <a:t>▸  2016 US election: fake stories outpaced real news in Facebook engagement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66744"/>
            <a:ext cx="5120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2E"/>
                </a:solidFill>
              </a:rPr>
              <a:t>▸  Public health crises amplified by vaccine and pandemic misinformation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71416"/>
            <a:ext cx="5120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2E"/>
                </a:solidFill>
              </a:rPr>
              <a:t>▸  Manual fact-checking cannot scale to millions of posts per 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276088"/>
            <a:ext cx="5120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2E"/>
                </a:solidFill>
              </a:rPr>
              <a:t>▸  Automated detection is no longer optional — it is essential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7C1E"/>
                </a:solidFill>
              </a:rPr>
              <a:t>Our Approach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05740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2E"/>
                </a:solidFill>
              </a:rPr>
              <a:t>▸  Systematically compare three generations of NLP methods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953512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2E"/>
                </a:solidFill>
              </a:rPr>
              <a:t>▸  Shared benchmark: ISOT Fake News Dataset (~45 000 articles)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849624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2E"/>
                </a:solidFill>
              </a:rPr>
              <a:t>▸  Fair evaluation under identical preprocessing conditions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745736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2E"/>
                </a:solidFill>
              </a:rPr>
              <a:t>▸  Document the accuracy vs. complexity trade-off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5212080"/>
            <a:ext cx="5486400" cy="1143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534924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Classical ML  →  Deep RNN / LSTM  →  BERT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Dataset: ISOT Fake News Corpus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CCEE"/>
                </a:solidFill>
              </a:rPr>
              <a:t>University of Victoria — publicly available on Kaggle</a:t>
            </a:r>
          </a:p>
        </p:txBody>
      </p:sp>
      <p:pic>
        <p:nvPicPr>
          <p:cNvPr id="6" name="Picture 5" descr="fig_class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71600"/>
            <a:ext cx="4389120" cy="347874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0" y="1417320"/>
            <a:ext cx="6858000" cy="2286000"/>
          </a:xfrm>
          <a:prstGeom prst="rect">
            <a:avLst/>
          </a:prstGeom>
          <a:solidFill>
            <a:srgbClr val="F2F4F7"/>
          </a:solidFill>
          <a:ln w="1270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508760"/>
            <a:ext cx="6492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76FBF"/>
                </a:solidFill>
              </a:rPr>
              <a:t>Dataset at a Glance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2011680"/>
            <a:ext cx="6492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2E"/>
                </a:solidFill>
              </a:rPr>
              <a:t>▸  44 898 labelled news articles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441448"/>
            <a:ext cx="6492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2E"/>
                </a:solidFill>
              </a:rPr>
              <a:t>▸  21 417 real articles  (Reuters, 2015–2018)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2871216"/>
            <a:ext cx="6492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2E"/>
                </a:solidFill>
              </a:rPr>
              <a:t>▸  23 481 fake articles  (Politifact-flagged sources)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3300984"/>
            <a:ext cx="6492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2E"/>
                </a:solidFill>
              </a:rPr>
              <a:t>▸  Fields: title, text, subject, 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3730752"/>
            <a:ext cx="6492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2E"/>
                </a:solidFill>
              </a:rPr>
              <a:t>▸  Near-balanced classes → no imbalance bias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3840480"/>
            <a:ext cx="6858000" cy="2651760"/>
          </a:xfrm>
          <a:prstGeom prst="rect">
            <a:avLst/>
          </a:prstGeom>
          <a:solidFill>
            <a:srgbClr val="F2F4F7"/>
          </a:solidFill>
          <a:ln w="12700">
            <a:solidFill>
              <a:srgbClr val="E87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3931920"/>
            <a:ext cx="6492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7C1E"/>
                </a:solidFill>
              </a:rPr>
              <a:t>Preprocessing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4370832"/>
            <a:ext cx="6492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2E"/>
                </a:solidFill>
              </a:rPr>
              <a:t>▸  Lowercase  →  Remove URLs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4800600"/>
            <a:ext cx="6492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2E"/>
                </a:solidFill>
              </a:rPr>
              <a:t>▸  Strip non-alphabetic characters  →  Collapse whitespace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5230368"/>
            <a:ext cx="6492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2E"/>
                </a:solidFill>
              </a:rPr>
              <a:t>▸  NLTK stopword removal (classical ML only)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5660136"/>
            <a:ext cx="6492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2E"/>
                </a:solidFill>
              </a:rPr>
              <a:t>▸  Vocabulary capped at 15 000 tokens (deep models)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6089904"/>
            <a:ext cx="6492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2E"/>
                </a:solidFill>
              </a:rPr>
              <a:t>▸  Sequences truncated / padded to 150 tokens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Three Generations of Detection Methods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71600"/>
            <a:ext cx="3749039" cy="5166360"/>
          </a:xfrm>
          <a:prstGeom prst="rect">
            <a:avLst/>
          </a:prstGeom>
          <a:solidFill>
            <a:srgbClr val="F2F4F7"/>
          </a:solidFill>
          <a:ln w="2540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3749039" cy="68580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41732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Generation 1
Classical 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2E"/>
                </a:solidFill>
              </a:rPr>
              <a:t>▸  TF-IDF bag-of-words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62656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2E"/>
                </a:solidFill>
              </a:rPr>
              <a:t>▸  Naive Bayes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30752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2E"/>
                </a:solidFill>
              </a:rPr>
              <a:t>▸  Logistic Regression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9884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2E"/>
                </a:solidFill>
              </a:rPr>
              <a:t>▸  Random Forest (100 trees)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266944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2E"/>
                </a:solidFill>
              </a:rPr>
              <a:t>▸  Full 36k training set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371600"/>
            <a:ext cx="3749039" cy="5166360"/>
          </a:xfrm>
          <a:prstGeom prst="rect">
            <a:avLst/>
          </a:prstGeom>
          <a:solidFill>
            <a:srgbClr val="F2F4F7"/>
          </a:solidFill>
          <a:ln w="25400">
            <a:solidFill>
              <a:srgbClr val="E87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371600"/>
            <a:ext cx="3749039" cy="685800"/>
          </a:xfrm>
          <a:prstGeom prst="rect">
            <a:avLst/>
          </a:prstGeom>
          <a:solidFill>
            <a:srgbClr val="E87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41732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Generation 2
Deep Recurrent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19456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2E"/>
                </a:solidFill>
              </a:rPr>
              <a:t>▸  Learned word embeddings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962656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2E"/>
                </a:solidFill>
              </a:rPr>
              <a:t>▸  Vanilla RNN (vanishing ∇)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730752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2E"/>
                </a:solidFill>
              </a:rPr>
              <a:t>▸  Bidirectional LSTM (gates)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49884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2E"/>
                </a:solidFill>
              </a:rPr>
              <a:t>▸  500-sample quick-mode run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5266944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2E"/>
                </a:solidFill>
              </a:rPr>
              <a:t>▸  PyTorch from scratch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66760" y="1371600"/>
            <a:ext cx="3749039" cy="5166360"/>
          </a:xfrm>
          <a:prstGeom prst="rect">
            <a:avLst/>
          </a:prstGeom>
          <a:solidFill>
            <a:srgbClr val="F2F4F7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66760" y="1371600"/>
            <a:ext cx="3749039" cy="6858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8200" y="141732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Generation 3
BERT Transformer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219456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2E"/>
                </a:solidFill>
              </a:rPr>
              <a:t>▸  Pre-trained on 3.3B words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2962656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2E"/>
                </a:solidFill>
              </a:rPr>
              <a:t>▸  Self-attention (full context)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3730752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2E"/>
                </a:solidFill>
              </a:rPr>
              <a:t>▸  WordPiece tokenisation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449884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2E"/>
                </a:solidFill>
              </a:rPr>
              <a:t>▸  110M parameters fine-tuned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5266944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2E"/>
                </a:solidFill>
              </a:rPr>
              <a:t>▸  Test Accuracy: 99.87% 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67788"/>
                </a:solidFill>
              </a:rPr>
              <a:t>All models evaluated on the same 4 489-sample stratified test 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Classical ML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CCEE"/>
                </a:solidFill>
              </a:rPr>
              <a:t>TF-IDF + Sklearn, 8 980-sample test set</a:t>
            </a:r>
          </a:p>
        </p:txBody>
      </p:sp>
      <p:pic>
        <p:nvPicPr>
          <p:cNvPr id="6" name="Picture 5" descr="fig_classica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71600"/>
            <a:ext cx="6949440" cy="379738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498079" y="1417320"/>
            <a:ext cx="4389120" cy="5120640"/>
          </a:xfrm>
          <a:prstGeom prst="rect">
            <a:avLst/>
          </a:prstGeom>
          <a:solidFill>
            <a:srgbClr val="F2F4F7"/>
          </a:solidFill>
          <a:ln w="1270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76FBF"/>
                </a:solidFill>
              </a:rPr>
              <a:t>Key Numbers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35240" y="2011680"/>
            <a:ext cx="1920240" cy="1005840"/>
          </a:xfrm>
          <a:prstGeom prst="rect">
            <a:avLst/>
          </a:prstGeom>
          <a:solidFill>
            <a:srgbClr val="F2F4F7"/>
          </a:solidFill>
          <a:ln w="1270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6679" y="206654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1E2E"/>
                </a:solidFill>
              </a:rPr>
              <a:t>Naive Bayes Acc.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239572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0392B"/>
                </a:solidFill>
              </a:rPr>
              <a:t>94.0 %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92640" y="2011680"/>
            <a:ext cx="1920240" cy="1005840"/>
          </a:xfrm>
          <a:prstGeom prst="rect">
            <a:avLst/>
          </a:prstGeom>
          <a:solidFill>
            <a:srgbClr val="F2F4F7"/>
          </a:solidFill>
          <a:ln w="1270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0" y="206654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1E2E"/>
                </a:solidFill>
              </a:rPr>
              <a:t>Log. Regression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239572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7AE60"/>
                </a:solidFill>
              </a:rPr>
              <a:t>99.1 %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35240" y="3200400"/>
            <a:ext cx="1920240" cy="1005840"/>
          </a:xfrm>
          <a:prstGeom prst="rect">
            <a:avLst/>
          </a:prstGeom>
          <a:solidFill>
            <a:srgbClr val="F2F4F7"/>
          </a:solidFill>
          <a:ln w="1270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325526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1E2E"/>
                </a:solidFill>
              </a:rPr>
              <a:t>Random Forest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58444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7AE60"/>
                </a:solidFill>
              </a:rPr>
              <a:t>99.8 %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92640" y="3200400"/>
            <a:ext cx="1920240" cy="1005840"/>
          </a:xfrm>
          <a:prstGeom prst="rect">
            <a:avLst/>
          </a:prstGeom>
          <a:solidFill>
            <a:srgbClr val="F2F4F7"/>
          </a:solidFill>
          <a:ln w="1270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0" y="325526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1E2E"/>
                </a:solidFill>
              </a:rPr>
              <a:t>RF mis-classified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358444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76FBF"/>
                </a:solidFill>
              </a:rPr>
              <a:t>15 / 8 980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79" y="4343400"/>
            <a:ext cx="4389120" cy="2103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0" y="4407408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7C1E"/>
                </a:solidFill>
              </a:rPr>
              <a:t>Takeaway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4800600"/>
            <a:ext cx="4023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Strong stylistic signals in the ISOT corpus let even a bag-of-words model exceed 94 %. Random Forest is near-perfect at 99.8 % — but has zero understanding of language semantics.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Vanilla RNN — Architecture &amp;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CCEE"/>
                </a:solidFill>
              </a:rPr>
              <a:t>2 000 training samples · 5 epochs · CPU quick mode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5760720" cy="2331720"/>
          </a:xfrm>
          <a:prstGeom prst="rect">
            <a:avLst/>
          </a:prstGeom>
          <a:solidFill>
            <a:srgbClr val="F2F4F7"/>
          </a:solidFill>
          <a:ln w="1270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76FBF"/>
                </a:solidFill>
              </a:rPr>
              <a:t>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93392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3A5C"/>
                </a:solidFill>
              </a:rPr>
              <a:t>hₜ  =  tanh( Wₕₕ · hₜ₋₁  +  Wₓₕ · xₜ  +  b 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334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2E"/>
                </a:solidFill>
              </a:rPr>
              <a:t>▸  Processes tokens one at a time, left → right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03580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2E"/>
                </a:solidFill>
              </a:rPr>
              <a:t>▸  Hidden state carries memory of the whole prefix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43814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2E"/>
                </a:solidFill>
              </a:rPr>
              <a:t>▸  Vanishing gradients  →  forgets early tokens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840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2E"/>
                </a:solidFill>
              </a:rPr>
              <a:t>▸  Pipeline: Embedding → RNN → Dropout → Linear</a:t>
            </a:r>
          </a:p>
        </p:txBody>
      </p:sp>
      <p:pic>
        <p:nvPicPr>
          <p:cNvPr id="13" name="Picture 12" descr="fig_rnn_tra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840480"/>
            <a:ext cx="7772400" cy="282014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8321040" y="1417320"/>
            <a:ext cx="3566160" cy="5120640"/>
          </a:xfrm>
          <a:prstGeom prst="rect">
            <a:avLst/>
          </a:prstGeom>
          <a:solidFill>
            <a:srgbClr val="F2F4F7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50876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</a:rPr>
              <a:t>Test Results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2011680"/>
            <a:ext cx="3200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19" y="2066544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1E2E"/>
                </a:solidFill>
              </a:rPr>
              <a:t>Accuracy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19" y="239572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0392B"/>
                </a:solidFill>
              </a:rPr>
              <a:t>70.3 %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3154680"/>
            <a:ext cx="3200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19" y="3209544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1E2E"/>
                </a:solidFill>
              </a:rPr>
              <a:t>F1 Macro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9" y="353872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0392B"/>
                </a:solidFill>
              </a:rPr>
              <a:t>0.702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297680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</a:rPr>
              <a:t>Low accuracy expected:
• Only 2 000 training samples
• Vanishing gradients on ~150-token sequences
• Fluctuating loss curve confirms instability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Bidirectional LSTM — Architecture &amp;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CCEE"/>
                </a:solidFill>
              </a:rPr>
              <a:t>2 000 training samples · 5 epochs · CPU quick mode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5760720" cy="2834640"/>
          </a:xfrm>
          <a:prstGeom prst="rect">
            <a:avLst/>
          </a:prstGeom>
          <a:solidFill>
            <a:srgbClr val="F2F4F7"/>
          </a:solidFill>
          <a:ln w="1270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6FBF"/>
                </a:solidFill>
              </a:rPr>
              <a:t>LSTM Gates  (solving vanishing gradients)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011680"/>
            <a:ext cx="1005840" cy="45720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2066544"/>
            <a:ext cx="9692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Forget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06654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fₜ = σ(Wf · [hₜ₋₁, xₜ])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06654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E1E2E"/>
                </a:solidFill>
              </a:rPr>
              <a:t>What to erase from memory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624328"/>
            <a:ext cx="1005840" cy="45720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2679192"/>
            <a:ext cx="9692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67919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iₜ = σ(Wᵢ · [hₜ₋₁, xₜ])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67919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E1E2E"/>
                </a:solidFill>
              </a:rPr>
              <a:t>What new info to write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236976"/>
            <a:ext cx="1005840" cy="45720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" y="3291840"/>
            <a:ext cx="9692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2918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oₜ = σ(Wₒ · [hₜ₋₁, xₜ])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29184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E1E2E"/>
                </a:solidFill>
              </a:rPr>
              <a:t>What to expose as hₜ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840480"/>
            <a:ext cx="5760720" cy="8229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93192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Bidirectional:  h = [ forward_hT  ;  backward_h₁ ]  →  full context</a:t>
            </a:r>
          </a:p>
        </p:txBody>
      </p:sp>
      <p:pic>
        <p:nvPicPr>
          <p:cNvPr id="22" name="Picture 21" descr="fig_bilstm_tra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754880"/>
            <a:ext cx="7772400" cy="2820145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8321040" y="1417320"/>
            <a:ext cx="3566160" cy="5120640"/>
          </a:xfrm>
          <a:prstGeom prst="rect">
            <a:avLst/>
          </a:prstGeom>
          <a:solidFill>
            <a:srgbClr val="F2F4F7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150876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7AE60"/>
                </a:solidFill>
              </a:rPr>
              <a:t>Test Results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12480" y="2011680"/>
            <a:ext cx="3200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19" y="2066544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1E2E"/>
                </a:solidFill>
              </a:rPr>
              <a:t>Accuracy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19" y="239572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7AE60"/>
                </a:solidFill>
              </a:rPr>
              <a:t>99.04 %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0" y="3154680"/>
            <a:ext cx="3200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19" y="3209544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1E2E"/>
                </a:solidFill>
              </a:rPr>
              <a:t>F1 Macro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19" y="353872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7AE60"/>
                </a:solidFill>
              </a:rPr>
              <a:t>0.9904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12480" y="4297680"/>
            <a:ext cx="3200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19" y="4352544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1E2E"/>
                </a:solidFill>
              </a:rPr>
              <a:t>Misclassified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19" y="468172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76FBF"/>
                </a:solidFill>
              </a:rPr>
              <a:t>43 / 4 489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534924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</a:rPr>
              <a:t>Trained on just 2 000 samples — same
accuracy as Random Forest (36k samples).
Gate mechanism eliminates vanishing
gradients; steady convergence over 5 epochs.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BERT — Transformer Fine-tuning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CCEE"/>
                </a:solidFill>
              </a:rPr>
              <a:t>bert-base-uncased · 2 000 training samples · 2 epochs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5943600" cy="5120640"/>
          </a:xfrm>
          <a:prstGeom prst="rect">
            <a:avLst/>
          </a:prstGeom>
          <a:solidFill>
            <a:srgbClr val="F2F4F7"/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E44AD"/>
                </a:solidFill>
              </a:rPr>
              <a:t>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2E"/>
                </a:solidFill>
              </a:rPr>
              <a:t>▸  12 Transformer layers, 768 hidden dims, 12 attention heads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33472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2E"/>
                </a:solidFill>
              </a:rPr>
              <a:t>▸  Pre-trained on BookCorpus + Wikipedia (3.3B words)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55264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2E"/>
                </a:solidFill>
              </a:rPr>
              <a:t>▸  Self-attention: every token attends to every other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877056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2E"/>
                </a:solidFill>
              </a:rPr>
              <a:t>▸  Fine-tuned end-to-end with AdamW  (lr = 2×10⁻⁵)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498848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2E"/>
                </a:solidFill>
              </a:rPr>
              <a:t>▸  Classification head on [CLS] token  →  Linear(768, 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12064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2E"/>
                </a:solidFill>
              </a:rPr>
              <a:t>▸  Max 128 tokens · WordPiece tokeniser · no OOV words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742432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2E"/>
                </a:solidFill>
              </a:rPr>
              <a:t>▸  Linear warm-up + decay over 2 epochs</a:t>
            </a:r>
          </a:p>
        </p:txBody>
      </p:sp>
      <p:pic>
        <p:nvPicPr>
          <p:cNvPr id="15" name="Picture 14" descr="fig_bert_tra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754880"/>
            <a:ext cx="5943600" cy="2175617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537960" y="1417320"/>
            <a:ext cx="5349240" cy="5120640"/>
          </a:xfrm>
          <a:prstGeom prst="rect">
            <a:avLst/>
          </a:prstGeom>
          <a:solidFill>
            <a:srgbClr val="2C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150876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</a:rPr>
              <a:t>Test Results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29400" y="2011680"/>
            <a:ext cx="2377440" cy="1005840"/>
          </a:xfrm>
          <a:prstGeom prst="rect">
            <a:avLst/>
          </a:prstGeom>
          <a:solidFill>
            <a:srgbClr val="3A255C"/>
          </a:solidFill>
          <a:ln w="1270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206654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1E2E"/>
                </a:solidFill>
              </a:rPr>
              <a:t>Accuracy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39572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D700"/>
                </a:solidFill>
              </a:rPr>
              <a:t>99.87 %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2011680"/>
            <a:ext cx="2377440" cy="1005840"/>
          </a:xfrm>
          <a:prstGeom prst="rect">
            <a:avLst/>
          </a:prstGeom>
          <a:solidFill>
            <a:srgbClr val="3A255C"/>
          </a:solidFill>
          <a:ln w="1270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206654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1E2E"/>
                </a:solidFill>
              </a:rPr>
              <a:t>F1 Macro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39572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D700"/>
                </a:solidFill>
              </a:rPr>
              <a:t>0.9987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29400" y="3200400"/>
            <a:ext cx="2377440" cy="1005840"/>
          </a:xfrm>
          <a:prstGeom prst="rect">
            <a:avLst/>
          </a:prstGeom>
          <a:solidFill>
            <a:srgbClr val="3A255C"/>
          </a:solidFill>
          <a:ln w="1270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325526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1E2E"/>
                </a:solidFill>
              </a:rPr>
              <a:t>Misclassified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358444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6 / 4 489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0" y="3200400"/>
            <a:ext cx="2377440" cy="1005840"/>
          </a:xfrm>
          <a:prstGeom prst="rect">
            <a:avLst/>
          </a:prstGeom>
          <a:solidFill>
            <a:srgbClr val="3A255C"/>
          </a:solidFill>
          <a:ln w="1270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40" y="325526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1E2E"/>
                </a:solidFill>
              </a:rPr>
              <a:t>Epochs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358444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434340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After just 1 epoch: val acc = 99.91%
After 2 epochs: train loss → 0.0017
BERT's pre-trained representations
need minimal fine-tuning — the
[CLS] token learns near-perfect
linear separation in 2 epochs.
Best result across all 6 models.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Model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CCEE"/>
                </a:solidFill>
              </a:rPr>
              <a:t>All results on the ISOT test set</a:t>
            </a:r>
          </a:p>
        </p:txBody>
      </p:sp>
      <p:pic>
        <p:nvPicPr>
          <p:cNvPr id="6" name="Picture 5" descr="fig_all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71600"/>
            <a:ext cx="7315200" cy="358913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909560" y="1417320"/>
            <a:ext cx="3977639" cy="5120640"/>
          </a:xfrm>
          <a:prstGeom prst="rect">
            <a:avLst/>
          </a:prstGeom>
          <a:solidFill>
            <a:srgbClr val="F2F4F7"/>
          </a:solidFill>
          <a:ln w="1270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150876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76FBF"/>
                </a:solidFill>
              </a:rPr>
              <a:t>Summary 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19933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6FBF"/>
                </a:solidFill>
              </a:rP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0" y="199339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6FBF"/>
                </a:solidFill>
              </a:rPr>
              <a:t>Accuracy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2377440"/>
            <a:ext cx="3840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245059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</a:rPr>
              <a:t>Naive Bayes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0" y="245059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E2E"/>
                </a:solidFill>
              </a:rPr>
              <a:t>94.0 %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2971800"/>
            <a:ext cx="3840480" cy="5029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04495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</a:rPr>
              <a:t>Logistic Regression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304495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99.1 %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3566160"/>
            <a:ext cx="3840480" cy="5029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63931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</a:rPr>
              <a:t>Random Forest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0" y="363931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99.8 %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79" y="4160520"/>
            <a:ext cx="3840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23367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</a:rPr>
              <a:t>RNN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40" y="423367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</a:rPr>
              <a:t>70.3 %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79" y="4754880"/>
            <a:ext cx="3840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482803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</a:rPr>
              <a:t>Bi-LSTM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482803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E2E"/>
                </a:solidFill>
              </a:rPr>
              <a:t>99.0 %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5349240"/>
            <a:ext cx="3840480" cy="5029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2440" y="542239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</a:rPr>
              <a:t>BERT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542239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99.87 %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Conclusions &amp;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417320"/>
            <a:ext cx="7315200" cy="5120640"/>
          </a:xfrm>
          <a:prstGeom prst="rect">
            <a:avLst/>
          </a:prstGeom>
          <a:solidFill>
            <a:srgbClr val="F2F4F7"/>
          </a:solidFill>
          <a:ln w="1270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6949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76FBF"/>
                </a:solidFill>
              </a:rPr>
              <a:t>Key 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29968"/>
            <a:ext cx="6949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2E"/>
                </a:solidFill>
              </a:rPr>
              <a:t>▸  ISOT corpus has strong stylistic signals — even Naive Bayes hits 94 %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79776"/>
            <a:ext cx="6949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2E"/>
                </a:solidFill>
              </a:rPr>
              <a:t>▸  Random Forest (TF-IDF) achieves 99.8 % — best classical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529584"/>
            <a:ext cx="6949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2E"/>
                </a:solidFill>
              </a:rPr>
              <a:t>▸  Vanilla RNN struggles: vanishing gradients on 150-token sequences → 70.3 %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279392"/>
            <a:ext cx="6949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2E"/>
                </a:solidFill>
              </a:rPr>
              <a:t>▸  Bi-LSTM solves this via gates: 99.04 % accuracy from only 2 000 samples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029200"/>
            <a:ext cx="6949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2E"/>
                </a:solidFill>
              </a:rPr>
              <a:t>▸  BERT achieves 99.87 % — the best result — in just 2 epochs of fine-tuning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779008"/>
            <a:ext cx="6949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2E"/>
                </a:solidFill>
              </a:rPr>
              <a:t>▸  Architecture quality &gt; dataset size when the signal-to-noise ratio is high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417320"/>
            <a:ext cx="3931920" cy="51206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50876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7C1E"/>
                </a:solidFill>
              </a:rPr>
              <a:t>Future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029968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Test on noisier / cross-domain datasets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779776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Multilingual fake news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529584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Multimodal models (text + images + metadata)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279392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Model explainability (LIME / SHAP / BertViz)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5029200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Graph-based propagation modelling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5779008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Lightweight distillation for real-time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