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280160"/>
            <a:ext cx="3840480" cy="384048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1D4ED8">
              <a:alpha val="4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078992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Bots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Age of Generative AI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13232" y="2578608"/>
            <a:ext cx="594360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7066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Dissertation Defense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31089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Murariu Tudor Cristian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Babeș-Bolyai University  ·  Faculty of Mathematics and Computer Science  ·  2025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Bots Matter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1000"/>
              </a:spcAft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of Twitter/X accounts are estimated to be automated bots (Varol et al., 2017)</a:t>
            </a:r>
            <a:endParaRPr lang="en-US" sz="1600" dirty="0"/>
          </a:p>
          <a:p>
            <a:pPr algn="l">
              <a:spcAft>
                <a:spcPts val="1000"/>
              </a:spcAft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networks amplify disinformation, manipulate trending topics, and influence elections</a:t>
            </a:r>
            <a:endParaRPr lang="en-US" sz="1600" dirty="0"/>
          </a:p>
          <a:p>
            <a:pPr algn="l">
              <a:spcAft>
                <a:spcPts val="1000"/>
              </a:spcAft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Research Agency ran 3,000+ bot accounts during the 2016 US election (Mueller, 2019)</a:t>
            </a:r>
            <a:endParaRPr lang="en-US" sz="1600" dirty="0"/>
          </a:p>
          <a:p>
            <a:pPr algn="l">
              <a:spcAft>
                <a:spcPts val="1000"/>
              </a:spcAft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has dramatically lowered the cost of creating convincing fake identities</a:t>
            </a:r>
            <a:endParaRPr lang="en-US" sz="1600" dirty="0"/>
          </a:p>
          <a:p>
            <a:pPr algn="l">
              <a:spcAft>
                <a:spcPts val="1000"/>
              </a:spcAft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arms race between bot creation and bot detection is accelerating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Experiments, One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3931920" cy="33832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39319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78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— Detection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detect bots from metadata + post content?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Cresci-2017 (13,240 labeled Twitter accounts)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Multimodal BiLSTM + Self-Attention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3931920" cy="338328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005840"/>
            <a:ext cx="3931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78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 — Generation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convincing can AI-powered bots become?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 bot farm simulator using open-source generative models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the detector against the generated bots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80" y="45537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the attacker. Build the defender. Test them against each other.”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Cresci-2017 — The Benchmark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6126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9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13,240 labeled Twitter accounts — human-verified genuine users + 5 bot categories</a:t>
            </a:r>
            <a:endParaRPr lang="en-US" sz="1450" dirty="0"/>
          </a:p>
          <a:p>
            <a:pPr algn="l">
              <a:spcAft>
                <a:spcPts val="9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categories: Social spambots (×3), Traditional spambots, Fake followers</a:t>
            </a:r>
            <a:endParaRPr lang="en-US" sz="1450" dirty="0"/>
          </a:p>
          <a:p>
            <a:pPr algn="l">
              <a:spcAft>
                <a:spcPts val="9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2.8 bots per 1 human account → handled with weighted random sampling</a:t>
            </a:r>
            <a:endParaRPr lang="en-US" sz="1450" dirty="0"/>
          </a:p>
          <a:p>
            <a:pPr algn="l">
              <a:spcAft>
                <a:spcPts val="9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account: 16 metadata fields (followers, posting rate, profile flags…) + up to 50 tweets</a:t>
            </a:r>
            <a:endParaRPr lang="en-US" sz="1450" dirty="0"/>
          </a:p>
          <a:p>
            <a:pPr algn="l">
              <a:spcAft>
                <a:spcPts val="9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limitation: temporal sampling bias — bots and humans collected at different times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903720" y="1051560"/>
            <a:ext cx="192024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03720" y="110642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13,240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903720" y="1764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accounts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03720" y="2331720"/>
            <a:ext cx="192024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238658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903720" y="3044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bots than humans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03720" y="3611880"/>
            <a:ext cx="192024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366674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903720" y="43251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with tweets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BiLSTM + Self-Attention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2743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Branch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703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features grouped into 4 thematic sequences: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scale / activity / flags / ratios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Bidirectional LSTM (hidden 128)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layer → 256-d representation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274320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005840"/>
            <a:ext cx="393192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Branch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481328"/>
            <a:ext cx="3703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tweets per account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(transformer, frozen)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Mean-pooled across tweets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 → projected to 128-d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45920" y="3904488"/>
            <a:ext cx="5852160" cy="960120"/>
          </a:xfrm>
          <a:prstGeom prst="rect">
            <a:avLst/>
          </a:prstGeom>
          <a:solidFill>
            <a:srgbClr val="0D221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3968496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 →  Concatenate [256-d + 128-d]  →  2-layer MLP  →  Sigmoid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43159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639,682 trainable parameters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99.2% Accuracy on Cresci-2017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24128"/>
            <a:ext cx="26060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69848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7465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024128"/>
            <a:ext cx="26060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069848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46120" y="17465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Score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024128"/>
            <a:ext cx="26060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069848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80760" y="17465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40864"/>
          <a:ext cx="841248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834640"/>
                <a:gridCol w="1463040"/>
                <a:gridCol w="1508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Botometer (Varol et al., 2017)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(1,200+ features)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+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LSTM, text + metadata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BiLSTM+Att (metadata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Bi-LSTM +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BiLSTM+Att — 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+ tweet embeddings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0D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tweet embeddings raises F1 by 0.7 points over the metadata-only baseline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Convincing Bot — The AI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24912" cy="3886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724912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CHAT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3776" y="1371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93776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Ollama (local)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" y="2176272"/>
            <a:ext cx="237744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2249424"/>
            <a:ext cx="2468880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generation (username, bio, stats)</a:t>
            </a:r>
            <a:endParaRPr lang="en-US" sz="12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writing (280-char tweets)</a:t>
            </a:r>
            <a:endParaRPr lang="en-US" sz="12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DM conversations with memory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724912" cy="388620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005840"/>
            <a:ext cx="2724912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19856" y="1371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Dreamshaper-8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419856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1.5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19856" y="2176272"/>
            <a:ext cx="237744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9856" y="2249424"/>
            <a:ext cx="2468880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 portraits</a:t>
            </a:r>
            <a:endParaRPr lang="en-US" sz="12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Persona-specific prompts</a:t>
            </a:r>
            <a:endParaRPr lang="en-US" sz="12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sec on RTX 4060</a:t>
            </a:r>
            <a:endParaRPr lang="en-US" sz="12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Defeats GAN-face detectors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724912" cy="38862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005840"/>
            <a:ext cx="272491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POSTS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45936" y="1371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LTX-Video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45936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Lightricks, 2024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45936" y="2176272"/>
            <a:ext cx="237744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249424"/>
            <a:ext cx="2468880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Text-to-video, 49 frames @ 16fps</a:t>
            </a:r>
            <a:endParaRPr lang="en-US" sz="12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Persona-specific scene prompts</a:t>
            </a:r>
            <a:endParaRPr lang="en-US" sz="12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consumer GPU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BotFarm Simulator — Feature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8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persona types: General, Political, Sports, News, Influencer, Conspiracy</a:t>
            </a:r>
            <a:endParaRPr lang="en-US" sz="1450" dirty="0"/>
          </a:p>
          <a:p>
            <a:pPr algn="l">
              <a:spcAft>
                <a:spcPts val="8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persona has a system prompt that shapes all generated content</a:t>
            </a:r>
            <a:endParaRPr lang="en-US" sz="1450" dirty="0"/>
          </a:p>
          <a:p>
            <a:pPr algn="l">
              <a:spcAft>
                <a:spcPts val="8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profile picture per bot (Dreamshaper-8, ∼5–10 s on GPU)</a:t>
            </a:r>
            <a:endParaRPr lang="en-US" sz="1450" dirty="0"/>
          </a:p>
          <a:p>
            <a:pPr algn="l">
              <a:spcAft>
                <a:spcPts val="8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post scheduling — from 5 seconds to hours between posts</a:t>
            </a:r>
            <a:endParaRPr lang="en-US" sz="1450" dirty="0"/>
          </a:p>
          <a:p>
            <a:pPr algn="l">
              <a:spcAft>
                <a:spcPts val="8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post generation (LTX-Video) with graceful text-only fallback</a:t>
            </a:r>
            <a:endParaRPr lang="en-US" sz="1450" dirty="0"/>
          </a:p>
          <a:p>
            <a:pPr algn="l">
              <a:spcAft>
                <a:spcPts val="8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DM chat — Llama maintains persona across entire conversation</a:t>
            </a:r>
            <a:endParaRPr lang="en-US" sz="1450" dirty="0"/>
          </a:p>
          <a:p>
            <a:pPr algn="l">
              <a:spcAft>
                <a:spcPts val="8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 interface: Feed, Profile, Admin dashboard, Bot Detector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0" y="1051560"/>
            <a:ext cx="1261872" cy="621792"/>
          </a:xfrm>
          <a:prstGeom prst="rect">
            <a:avLst/>
          </a:prstGeom>
          <a:solidFill>
            <a:srgbClr val="6366F1">
              <a:alpha val="3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105156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90688" y="1051560"/>
            <a:ext cx="1261872" cy="621792"/>
          </a:xfrm>
          <a:prstGeom prst="rect">
            <a:avLst/>
          </a:prstGeom>
          <a:solidFill>
            <a:srgbClr val="EF4444">
              <a:alpha val="3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90688" y="105156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874520"/>
            <a:ext cx="1261872" cy="621792"/>
          </a:xfrm>
          <a:prstGeom prst="rect">
            <a:avLst/>
          </a:prstGeom>
          <a:solidFill>
            <a:srgbClr val="22C55E">
              <a:alpha val="3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7452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90688" y="1874520"/>
            <a:ext cx="1261872" cy="621792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0688" y="187452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697480"/>
            <a:ext cx="1261872" cy="621792"/>
          </a:xfrm>
          <a:prstGeom prst="rect">
            <a:avLst/>
          </a:prstGeom>
          <a:solidFill>
            <a:srgbClr val="EC4899">
              <a:alpha val="3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69748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90688" y="2697480"/>
            <a:ext cx="1261872" cy="621792"/>
          </a:xfrm>
          <a:prstGeom prst="rect">
            <a:avLst/>
          </a:prstGeom>
          <a:solidFill>
            <a:srgbClr val="8B5CF6">
              <a:alpha val="3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269748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Conspiracy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Gap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024128"/>
            <a:ext cx="512064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0424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51560" y="142646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Diffusion-generated faces carry no GAN artefacts. Classifiers trained on GAN images drop to near-random performance on diffusion outputs (Corvi et al., 2023; Ojha et al., 2023).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212848"/>
            <a:ext cx="512064" cy="5120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2311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Quality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51560" y="26151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produces grammatically correct, topically coherent posts. Keyword filters and simple language models find nothing anomalous.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401568"/>
            <a:ext cx="512064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419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Depth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51560" y="380390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sustains coherent multi-turn conversations, recalls prior context, and never breaks persona — indistinguishable from a human in a DM exchange.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626864"/>
            <a:ext cx="8321040" cy="338328"/>
          </a:xfrm>
          <a:prstGeom prst="rect">
            <a:avLst/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626864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remaining signals are statistical and behavioural, not perceptual.”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Detectable Are Our Own Bots?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321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BiLSTM detector is integrated directly into the simulator</a:t>
            </a:r>
            <a:endParaRPr lang="en-US" sz="1450" dirty="0"/>
          </a:p>
          <a:p>
            <a:pPr algn="l">
              <a:spcAft>
                <a:spcPts val="7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bot accumulates posts, its metadata + post history is passed to the classifier</a:t>
            </a:r>
            <a:endParaRPr lang="en-US" sz="1450" dirty="0"/>
          </a:p>
          <a:p>
            <a:pPr algn="l">
              <a:spcAft>
                <a:spcPts val="7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most generated bots are flagged with &gt;90% bot confidence</a:t>
            </a:r>
            <a:endParaRPr lang="en-US" sz="1450" dirty="0"/>
          </a:p>
          <a:p>
            <a:pPr algn="l">
              <a:spcAft>
                <a:spcPts val="7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Metadata ratios do not match the Cresci-2017 training distribution</a:t>
            </a:r>
            <a:endParaRPr lang="en-US" sz="1450" dirty="0"/>
          </a:p>
          <a:p>
            <a:pPr algn="l">
              <a:spcAft>
                <a:spcPts val="7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was trained on 2017-era bots — different statistical fingerprint than AI-generated content</a:t>
            </a:r>
            <a:endParaRPr lang="en-US" sz="1450" dirty="0"/>
          </a:p>
          <a:p>
            <a:pPr algn="l">
              <a:spcAft>
                <a:spcPts val="700"/>
              </a:spcAft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degrades over time — this is expected and honest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11480" y="4315968"/>
            <a:ext cx="8321040" cy="640080"/>
          </a:xfrm>
          <a:prstGeom prst="rect">
            <a:avLst/>
          </a:prstGeom>
          <a:solidFill>
            <a:srgbClr val="0D152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classifier and the generator are in an adversarial co-evolutionary loop.  </a:t>
            </a:r>
            <a:pPr algn="ctr" indent="0" marL="0">
              <a:buNone/>
            </a:pPr>
            <a:r>
              <a:rPr lang="en-US" sz="13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the generator is moving faster.”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showed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BiLSTM + sentence-embedding model exceeds published baselines on Cresci-2017 (99.2% accuracy)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generative models produce all layers of a fake identity — text, image, video, conversation — on consumer hardware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detection of AI-generated bots is increasingly unreliable; statistical and behavioural signals remain informative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05840"/>
            <a:ext cx="4114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481328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Cresci-2017 has temporal sampling bias — cross-dataset evaluation is the natural next step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 predates modern AI-generated bots — retraining on synthetic data would likely improve detection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quality and generation speed will improve rapidly (Sora, Runway Gen-3, Kling AI)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1E3A5F">
              <a:alpha val="4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3200400" cy="3200400"/>
          </a:xfrm>
          <a:prstGeom prst="ellipse">
            <a:avLst/>
          </a:prstGeom>
          <a:solidFill>
            <a:srgbClr val="1D4ED8">
              <a:alpha val="3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0" y="2542032"/>
            <a:ext cx="365760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974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Dissertation:  </a:t>
            </a:r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Bots in the Age of Generative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815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 </a:t>
            </a:r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 ·  Dreamshaper-8  ·  LTX-Video  ·  all-MiniLM-L6-v2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Murariu Tudor Cristian  ·  Babeș-Bolyai University  ·  2025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731520"/>
            <a:ext cx="6400800" cy="2926080"/>
          </a:xfrm>
          <a:prstGeom prst="ellipse">
            <a:avLst/>
          </a:prstGeom>
          <a:solidFill>
            <a:srgbClr val="1D4ED8">
              <a:alpha val="18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005840"/>
            <a:ext cx="9144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spc="2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BotFarm Simulator — live demonstration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Bots in the Age of Generative AI</dc:title>
  <dc:subject>PptxGenJS Presentation</dc:subject>
  <dc:creator>Murariu Tudor Cristian</dc:creator>
  <cp:lastModifiedBy>Murariu Tudor Cristian</cp:lastModifiedBy>
  <cp:revision>1</cp:revision>
  <dcterms:created xsi:type="dcterms:W3CDTF">2026-06-16T11:48:43Z</dcterms:created>
  <dcterms:modified xsi:type="dcterms:W3CDTF">2026-06-16T11:48:43Z</dcterms:modified>
</cp:coreProperties>
</file>