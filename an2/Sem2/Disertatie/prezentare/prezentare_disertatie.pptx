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udor\Desktop\Masters of High Performance Computing and Big Data Analytics\an2\Sem2\Disertatie\prezentare\CSTheme_EN\img\CS_whi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371600" cy="1371600"/>
          </a:xfrm>
          <a:prstGeom prst="rect">
            <a:avLst/>
          </a:prstGeom>
        </p:spPr>
      </p:pic>
      <p:pic>
        <p:nvPicPr>
          <p:cNvPr id="3" name="Image 1" descr="C:\Users\Tudor\Desktop\Masters of High Performance Computing and Big Data Analytics\an2\Sem2\Disertatie\prezentare\CSTheme_EN\img\Sigla_UBB_claudiopolitana_a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4320"/>
            <a:ext cx="1371600" cy="1371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0" y="1828800"/>
            <a:ext cx="5852160" cy="36576"/>
          </a:xfrm>
          <a:prstGeom prst="rect">
            <a:avLst/>
          </a:prstGeom>
          <a:solidFill>
            <a:srgbClr val="F5E1BE"/>
          </a:solidFill>
          <a:ln w="12700">
            <a:solidFill>
              <a:srgbClr val="F5E1B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Bots</a:t>
            </a:r>
            <a:endParaRPr lang="en-US" sz="36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Age of Generative AI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E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Simulation, and Electoral Influence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1645920" y="3566160"/>
            <a:ext cx="5852160" cy="36576"/>
          </a:xfrm>
          <a:prstGeom prst="rect">
            <a:avLst/>
          </a:prstGeom>
          <a:solidFill>
            <a:srgbClr val="F5E1BE"/>
          </a:solidFill>
          <a:ln w="12700">
            <a:solidFill>
              <a:srgbClr val="F5E1B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37033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Murariu Tudor Cristian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48640" y="411480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E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Facultatea de Matematică și Informatică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44348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Universitatea Babeș-Bolyai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și motivație</a:t>
            </a:r>
            <a:endParaRPr lang="en-US" sz="2000" dirty="0"/>
          </a:p>
        </p:txBody>
      </p:sp>
      <p:pic>
        <p:nvPicPr>
          <p:cNvPr id="4" name="Image 0" descr="C:\Users\Tudor\Desktop\Masters of High Performance Computing and Big Data Analytics\an2\Sem2\Disertatie\prezentare\CSTheme_EN\img\CS_whi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5778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Contextul: un caz fără precedent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F5E1BE"/>
          </a:solidFill>
          <a:ln w="12700">
            <a:solidFill>
              <a:srgbClr val="F5E1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noiembrie 2024 – alegerile prezidențiale din România sunt anulate de Curtea Constituțională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Operațiune coordonată prin TikTok și Telegram, cu amplificare artificială masivă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~25.000 de conturi coordonate identificate de serviciile de informare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Creștere de peste 200% a numărului de urmăritori într-o singură săptămână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anulare electorală din istoria UE motivată explicit prin influență coordonată online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416052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4197096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ce contează pentru cercetare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4471416"/>
            <a:ext cx="8193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Cazul României demonstrează că bot-ii de social media nu mai sunt un fenomen academic —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pot altera rezultate electorale la scară națională.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Întrebările de cercetare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F5E1BE"/>
          </a:solidFill>
          <a:ln w="12700">
            <a:solidFill>
              <a:srgbClr val="F5E1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4 — Cum sunt construiți bot-ii de social media? Taxonomie și evoluție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5 — Cum îi detectează Machine Learning? Metode clasice și moderne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2 &amp; 7 — Cum schimbă AI-ul generativ ambele părți ale conflictului?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3429000"/>
            <a:ext cx="8412480" cy="1280160"/>
          </a:xfrm>
          <a:prstGeom prst="roundRect">
            <a:avLst>
              <a:gd name="adj" fmla="val 4286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3465576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Contribuții experimentale originale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3739896"/>
            <a:ext cx="8193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Experimentul 1 (Cap. 6): Detector multimodal BiLSTM antrenat pe Cresci-2017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Experimentul 2 (Cap. 7): Generator de bot-i AI pentru red-teaming defensiv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 generații de bot-i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F5E1BE"/>
          </a:solidFill>
          <a:ln w="12700">
            <a:solidFill>
              <a:srgbClr val="F5E1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05156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Generația 1  ·  pre-2014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24231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Scripturi simple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Postare automată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adaptare la context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4408" y="100584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5156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Generația 2  ·  2014–2019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55848" y="1325880"/>
            <a:ext cx="24231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spambots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realist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 coordonat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Evitare detecție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63056" y="100584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6208" y="105156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Generația 3  ·  2020–prezent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54496" y="1325880"/>
            <a:ext cx="24231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Persoane LLM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Deepfake-uri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Identități sintetice complete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3511296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Schimbarea fundamentală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785616"/>
            <a:ext cx="8193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Conținutul generat de AI nu mai este un discriminator de încredere.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Detecția trebuie să se deplaseze spre semnale comportamentale și de rețea.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Scara fenomenului: de ce e o problemă de Big Data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F5E1BE"/>
          </a:solidFill>
          <a:ln w="12700">
            <a:solidFill>
              <a:srgbClr val="F5E1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3291840"/>
          </a:xfrm>
          <a:prstGeom prst="roundRect">
            <a:avLst>
              <a:gd name="adj" fmla="val 1667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05156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Operațiuni documentate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93192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SIMCARTEL (Europol, oct. 2025)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49 milioane conturi false, 80+ țări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TwiBot-22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926.949 conturi, 139M tweet-uri, structură de graf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Cresci-2017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13.240 conturi, 6,6M tweet-uri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3291840"/>
          </a:xfrm>
          <a:prstGeom prst="roundRect">
            <a:avLst>
              <a:gd name="adj" fmla="val 1667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36592" y="105156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Implicații tehnice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393192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Detecția la scară reală necesită: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Procesare distribuită pentru grafuri sociale masive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Streaming în timp real (Apache Kafka, Spark)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Modele care nu se degradează la milioane de noduri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Experimentul 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Detectarea bot-ilor cu un BiLSTM multimodal</a:t>
            </a:r>
            <a:endParaRPr lang="en-US" sz="2000" dirty="0"/>
          </a:p>
        </p:txBody>
      </p:sp>
      <p:pic>
        <p:nvPicPr>
          <p:cNvPr id="4" name="Image 0" descr="C:\Users\Tudor\Desktop\Masters of High Performance Computing and Big Data Analytics\an2\Sem2\Disertatie\prezentare\CSTheme_EN\img\CS_whi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5778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Obiectiv și date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F5E1BE"/>
          </a:solidFill>
          <a:ln w="12700">
            <a:solidFill>
              <a:srgbClr val="F5E1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Obiectiv: detector multimodal BiLSTM bidirecțional cu self-attention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Combină metadata cont (features numerice) + embedding-uri tweet-uri (semantică)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Cresci-2017 — 13.240 conturi, 6,6M tweet-uri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TwiBot-22 exclus: cost computațional prohibitiv pentru hardware disponibil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3886200"/>
            <a:ext cx="8412480" cy="1325880"/>
          </a:xfrm>
          <a:prstGeom prst="roundRect">
            <a:avLst>
              <a:gd name="adj" fmla="val 4138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3922776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metodologică centrală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4197096"/>
            <a:ext cx="8193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Conturile bot și umane din Cresci-2017 au fost colectate în perioade diferite.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Există risc de artefacte de eșantionare temporală — modelul poate învăța distribuția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temporală, nu comportamentul real.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Arhitectura modelului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F5E1BE"/>
          </a:solidFill>
          <a:ln w="12700">
            <a:solidFill>
              <a:srgbClr val="F5E1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2651760"/>
          </a:xfrm>
          <a:prstGeom prst="roundRect">
            <a:avLst>
              <a:gd name="adj" fmla="val 2069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05156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Ramura Metadata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931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grupuri tematice de features: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rețea, activitate, profil, rapoarte derivate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Bi-LSTM (hidden 128, 2 straturi)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Self-attention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 256-d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2651760"/>
          </a:xfrm>
          <a:prstGeom prst="roundRect">
            <a:avLst>
              <a:gd name="adj" fmla="val 2069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36592" y="105156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Ramura 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3931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Sentence-embedding 384-d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(all-MiniLM-L6-v2)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Proiecție la 128-d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LayerNorm + ReLU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 128-d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822192"/>
            <a:ext cx="8412480" cy="1051560"/>
          </a:xfrm>
          <a:prstGeom prst="roundRect">
            <a:avLst>
              <a:gd name="adj" fmla="val 5217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" y="3858768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Fuziune și clasificare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4133088"/>
            <a:ext cx="8193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Concatenare (256+128) → MLP cu sigmoid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639.682 parametri total  ·  Antrenat pe RTX 4060 8GB VRAM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Rezultate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F5E1BE"/>
          </a:solidFill>
          <a:ln w="12700">
            <a:solidFill>
              <a:srgbClr val="F5E1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99,21%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7739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Acuratețe test 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0789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98,98%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46120" y="17739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005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0789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98,64%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80760" y="17739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Doar metadata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Comparabil sau superior față de Botometer, BotRGCN și alte sisteme publicate pe seturi similare.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" y="3282696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Limitare recunoscută explicit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3557016"/>
            <a:ext cx="8193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evaluare cross-dataset. Un scor de 99% pe Cresci-2017 nu dovedește generalizare —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modelul poate fi supraajustat pe caracteristicile acestui dataset din 2017.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Experimentul 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Simularea bot-ilor generați de AI</a:t>
            </a:r>
            <a:endParaRPr lang="en-US" sz="2000" dirty="0"/>
          </a:p>
        </p:txBody>
      </p:sp>
      <p:pic>
        <p:nvPicPr>
          <p:cNvPr id="4" name="Image 0" descr="C:\Users\Tudor\Desktop\Masters of High Performance Computing and Big Data Analytics\an2\Sem2\Disertatie\prezentare\CSTheme_EN\img\CS_whi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5778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Conceptul: o fermă de bot-i simulată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F5E1BE"/>
          </a:solidFill>
          <a:ln w="12700">
            <a:solidFill>
              <a:srgbClr val="F5E1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Scop: înțelegere și red-teaming defensiv, NU deployment real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Patru straturi generative independente: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224028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Generare conținut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39319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conversații → Llama 3.1 8B (local, Ollama)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Fotografii profil → Stable Diffusion Dreamshaper 8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scurt → LTX-Video (generat local)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219456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36592" y="224028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514600"/>
            <a:ext cx="39319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Detecție → BiLSTM-ul din Experimentul 1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Cadru închis: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generare → test → analiză eșec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187952"/>
            <a:ext cx="8412480" cy="822960"/>
          </a:xfrm>
          <a:prstGeom prst="roundRect">
            <a:avLst>
              <a:gd name="adj" fmla="val 6667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4224528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Cadru de red-teaming defensiv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4498848"/>
            <a:ext cx="8193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Sistemul este proiectat pentru înțelegerea vulnerabilităților, nu pentru exploatare.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produce sistemul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F5E1BE"/>
          </a:solidFill>
          <a:ln w="12700">
            <a:solidFill>
              <a:srgbClr val="F5E1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JSON generat în secunde (biografie, interese, stil)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Postări 280 caractere fără fine-tuning explicit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Conversații DM cu memorie pe 20 de schimburi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Fotografii 512×512, fără artefacte GAN clasice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3 secunde generat complet local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77840" y="960120"/>
            <a:ext cx="3200400" cy="3200400"/>
          </a:xfrm>
          <a:prstGeom prst="roundRect">
            <a:avLst>
              <a:gd name="adj" fmla="val 1714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50992" y="100584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marginal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0" y="1280160"/>
            <a:ext cx="30175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Fracțiuni de cent per postare generată.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identitate sintetică completă poate fi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produsă în sub un minut pe hardware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(RTX 4060).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Bucla de detecție: constatarea centrală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F5E1BE"/>
          </a:solidFill>
          <a:ln w="12700">
            <a:solidFill>
              <a:srgbClr val="F5E1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Conturile generate au fost trecute prin detectorul din Experimentul 1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Majoritatea marcate 'bot' cu probabilitate mare (&gt;0,90)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Detectorul îi recunoaște ca bot-i înainte să posteze ceva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3108960"/>
            <a:ext cx="8412480" cy="1645920"/>
          </a:xfrm>
          <a:prstGeom prst="roundRect">
            <a:avLst>
              <a:gd name="adj" fmla="val 3333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3145536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ce? Motiv tehnic, nu conceptual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3419856"/>
            <a:ext cx="8193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generată sintetic nu se aliniază cu distribuțiile din Cresci-2017 (dataset din 2017).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Detectorul nu îi 'vede' — îi respinge pe baza distribuției statistice a features-urilor.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Concluzie: cursa co-evolutivă clasificator–generator necesită date actuale și re-antrenare continuă.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Concluzii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Și demonstrație live</a:t>
            </a:r>
            <a:endParaRPr lang="en-US" sz="2000" dirty="0"/>
          </a:p>
        </p:txBody>
      </p:sp>
      <p:pic>
        <p:nvPicPr>
          <p:cNvPr id="4" name="Image 0" descr="C:\Users\Tudor\Desktop\Masters of High Performance Computing and Big Data Analytics\an2\Sem2\Disertatie\prezentare\CSTheme_EN\img\CS_whi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5778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Concluzii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F5E1BE"/>
          </a:solidFill>
          <a:ln w="12700">
            <a:solidFill>
              <a:srgbClr val="F5E1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Costul producerii unei identități false s-a prăbușit (fracțiuni de cent)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Costul detectării NU a scăzut în același ritm — asimetrie fundamentală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Cazul României arată că această asimetrie are consecințe electorale reale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3337560"/>
            <a:ext cx="8412480" cy="1417320"/>
          </a:xfrm>
          <a:prstGeom prst="roundRect">
            <a:avLst>
              <a:gd name="adj" fmla="val 3871"/>
            </a:avLst>
          </a:prstGeom>
          <a:solidFill>
            <a:srgbClr val="004174"/>
          </a:solidFill>
          <a:ln w="12700">
            <a:solidFill>
              <a:srgbClr val="00417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3374136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Direcții viitoare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3648456"/>
            <a:ext cx="8193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Evaluare cross-dataset ca standard minim obligatoriu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actualizate (post-2020) pentru a reflecta bot-ii de Generația 3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Semnale comportamentale și relaționale (grafuri de interacțiune) în locul metadatei statice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simulatorul din Experimentul 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1546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Crearea unui bot, generarea conținutului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și scanarea cu detectorul BiLSTM</a:t>
            </a:r>
            <a:endParaRPr lang="en-US" sz="1600" dirty="0"/>
          </a:p>
        </p:txBody>
      </p:sp>
      <p:pic>
        <p:nvPicPr>
          <p:cNvPr id="4" name="Image 0" descr="C:\Users\Tudor\Desktop\Masters of High Performance Computing and Big Data Analytics\an2\Sem2\Disertatie\prezentare\CSTheme_EN\img\CS_whi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50292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udor\Desktop\Masters of High Performance Computing and Big Data Analytics\an2\Sem2\Disertatie\prezentare\CSTheme_EN\img\CS_whi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1828800" cy="1828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0" y="1463040"/>
            <a:ext cx="3657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017520" y="15087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FACULTATEA DE MATEMATICĂ ȘI INFORMATICĂ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017520" y="1920240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UNIVERSITATEA BABEȘ-BOLYAI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017520" y="242316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Mihail Kogălniceanu Street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Cluj-Napoca, Cluj, România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017520" y="3246120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E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www.cs.ubbcluj.ro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6217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Murariu Tudor Cristian  ·  tudor.cristian.murariu.w@gmail.com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Bots in the Age of Generative AI</dc:title>
  <dc:subject>Disertatie – HPCBDA, UBB 2026</dc:subject>
  <dc:creator>Murariu Tudor Cristian</dc:creator>
  <cp:lastModifiedBy>Murariu Tudor Cristian</cp:lastModifiedBy>
  <cp:revision>1</cp:revision>
  <dcterms:created xsi:type="dcterms:W3CDTF">2026-06-29T14:19:11Z</dcterms:created>
  <dcterms:modified xsi:type="dcterms:W3CDTF">2026-06-29T14:19:11Z</dcterms:modified>
</cp:coreProperties>
</file>